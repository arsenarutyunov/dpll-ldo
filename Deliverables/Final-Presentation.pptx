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9" r:id="rId3"/>
    <p:sldId id="270" r:id="rId4"/>
    <p:sldId id="294" r:id="rId5"/>
    <p:sldId id="295" r:id="rId6"/>
    <p:sldId id="296" r:id="rId7"/>
    <p:sldId id="297" r:id="rId8"/>
    <p:sldId id="285" r:id="rId9"/>
    <p:sldId id="260" r:id="rId10"/>
    <p:sldId id="298" r:id="rId11"/>
    <p:sldId id="299" r:id="rId12"/>
    <p:sldId id="268" r:id="rId13"/>
    <p:sldId id="277" r:id="rId14"/>
    <p:sldId id="300" r:id="rId15"/>
    <p:sldId id="321" r:id="rId16"/>
    <p:sldId id="301" r:id="rId17"/>
    <p:sldId id="302" r:id="rId18"/>
    <p:sldId id="304" r:id="rId19"/>
    <p:sldId id="305" r:id="rId20"/>
    <p:sldId id="306" r:id="rId21"/>
    <p:sldId id="309" r:id="rId22"/>
    <p:sldId id="307" r:id="rId23"/>
    <p:sldId id="311" r:id="rId24"/>
    <p:sldId id="310" r:id="rId25"/>
    <p:sldId id="319" r:id="rId26"/>
    <p:sldId id="269" r:id="rId27"/>
    <p:sldId id="312" r:id="rId28"/>
    <p:sldId id="313" r:id="rId29"/>
    <p:sldId id="314" r:id="rId30"/>
    <p:sldId id="315" r:id="rId31"/>
    <p:sldId id="317" r:id="rId32"/>
    <p:sldId id="316" r:id="rId33"/>
    <p:sldId id="318" r:id="rId34"/>
    <p:sldId id="288" r:id="rId35"/>
    <p:sldId id="289" r:id="rId36"/>
    <p:sldId id="290" r:id="rId37"/>
    <p:sldId id="291" r:id="rId38"/>
    <p:sldId id="292" r:id="rId39"/>
    <p:sldId id="279" r:id="rId40"/>
    <p:sldId id="281" r:id="rId41"/>
    <p:sldId id="282" r:id="rId42"/>
    <p:sldId id="293" r:id="rId43"/>
    <p:sldId id="320" r:id="rId44"/>
    <p:sldId id="28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B2B2B2"/>
    <a:srgbClr val="6699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7218" autoAdjust="0"/>
  </p:normalViewPr>
  <p:slideViewPr>
    <p:cSldViewPr snapToGrid="0">
      <p:cViewPr varScale="1">
        <p:scale>
          <a:sx n="83" d="100"/>
          <a:sy n="83" d="100"/>
        </p:scale>
        <p:origin x="1674" y="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7663B-01EE-4D27-B6B8-967932AFFB1A}" type="datetimeFigureOut">
              <a:rPr lang="en-US" smtClean="0"/>
              <a:t>7/28/2025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A04E83-3A76-47C2-B23E-88D5C2E17E9A}" type="slidenum">
              <a:rPr lang="en-US" smtClean="0"/>
              <a:t>‹#›</a:t>
            </a:fld>
            <a:endParaRPr lang="en-US"/>
          </a:p>
        </p:txBody>
      </p:sp>
    </p:spTree>
    <p:extLst>
      <p:ext uri="{BB962C8B-B14F-4D97-AF65-F5344CB8AC3E}">
        <p14:creationId xmlns:p14="http://schemas.microsoft.com/office/powerpoint/2010/main" val="286694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endParaRPr lang="en-IL" dirty="0"/>
          </a:p>
        </p:txBody>
      </p:sp>
      <p:sp>
        <p:nvSpPr>
          <p:cNvPr id="4" name="מציין מיקום של מספר שקופית 3"/>
          <p:cNvSpPr>
            <a:spLocks noGrp="1"/>
          </p:cNvSpPr>
          <p:nvPr>
            <p:ph type="sldNum" sz="quarter" idx="5"/>
          </p:nvPr>
        </p:nvSpPr>
        <p:spPr/>
        <p:txBody>
          <a:bodyPr/>
          <a:lstStyle/>
          <a:p>
            <a:fld id="{ADA04E83-3A76-47C2-B23E-88D5C2E17E9A}" type="slidenum">
              <a:rPr lang="en-US" smtClean="0"/>
              <a:t>2</a:t>
            </a:fld>
            <a:endParaRPr lang="en-US"/>
          </a:p>
        </p:txBody>
      </p:sp>
    </p:spTree>
    <p:extLst>
      <p:ext uri="{BB962C8B-B14F-4D97-AF65-F5344CB8AC3E}">
        <p14:creationId xmlns:p14="http://schemas.microsoft.com/office/powerpoint/2010/main" val="389522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IL" dirty="0"/>
          </a:p>
        </p:txBody>
      </p:sp>
      <p:sp>
        <p:nvSpPr>
          <p:cNvPr id="4" name="מציין מיקום של מספר שקופית 3"/>
          <p:cNvSpPr>
            <a:spLocks noGrp="1"/>
          </p:cNvSpPr>
          <p:nvPr>
            <p:ph type="sldNum" sz="quarter" idx="5"/>
          </p:nvPr>
        </p:nvSpPr>
        <p:spPr/>
        <p:txBody>
          <a:bodyPr/>
          <a:lstStyle/>
          <a:p>
            <a:fld id="{ADA04E83-3A76-47C2-B23E-88D5C2E17E9A}" type="slidenum">
              <a:rPr lang="en-US" smtClean="0"/>
              <a:t>3</a:t>
            </a:fld>
            <a:endParaRPr lang="en-US"/>
          </a:p>
        </p:txBody>
      </p:sp>
    </p:spTree>
    <p:extLst>
      <p:ext uri="{BB962C8B-B14F-4D97-AF65-F5344CB8AC3E}">
        <p14:creationId xmlns:p14="http://schemas.microsoft.com/office/powerpoint/2010/main" val="2841531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65F13-CAB6-6641-EDAE-2768E1EE19F2}"/>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873FC38C-CD49-2A5C-6F6C-F19580E52FF9}"/>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18F05840-5BD2-41C0-8198-5AEA468D4F05}"/>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2AC46D12-58DB-63B2-0B92-4D4D5580F184}"/>
              </a:ext>
            </a:extLst>
          </p:cNvPr>
          <p:cNvSpPr>
            <a:spLocks noGrp="1"/>
          </p:cNvSpPr>
          <p:nvPr>
            <p:ph type="sldNum" sz="quarter" idx="5"/>
          </p:nvPr>
        </p:nvSpPr>
        <p:spPr/>
        <p:txBody>
          <a:bodyPr/>
          <a:lstStyle/>
          <a:p>
            <a:fld id="{ADA04E83-3A76-47C2-B23E-88D5C2E17E9A}" type="slidenum">
              <a:rPr lang="en-US" smtClean="0"/>
              <a:t>4</a:t>
            </a:fld>
            <a:endParaRPr lang="en-US"/>
          </a:p>
        </p:txBody>
      </p:sp>
    </p:spTree>
    <p:extLst>
      <p:ext uri="{BB962C8B-B14F-4D97-AF65-F5344CB8AC3E}">
        <p14:creationId xmlns:p14="http://schemas.microsoft.com/office/powerpoint/2010/main" val="2765952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EDDE9-41F1-7C9E-E778-240224341DB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F25853B-2E2E-16ED-A3C0-476F61863872}"/>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C6FABAC-761F-A84A-F576-A3711C256FED}"/>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1DF82737-B6E1-5F9F-A3E5-03B673C97693}"/>
              </a:ext>
            </a:extLst>
          </p:cNvPr>
          <p:cNvSpPr>
            <a:spLocks noGrp="1"/>
          </p:cNvSpPr>
          <p:nvPr>
            <p:ph type="sldNum" sz="quarter" idx="5"/>
          </p:nvPr>
        </p:nvSpPr>
        <p:spPr/>
        <p:txBody>
          <a:bodyPr/>
          <a:lstStyle/>
          <a:p>
            <a:fld id="{ADA04E83-3A76-47C2-B23E-88D5C2E17E9A}" type="slidenum">
              <a:rPr lang="en-US" smtClean="0"/>
              <a:t>5</a:t>
            </a:fld>
            <a:endParaRPr lang="en-US"/>
          </a:p>
        </p:txBody>
      </p:sp>
    </p:spTree>
    <p:extLst>
      <p:ext uri="{BB962C8B-B14F-4D97-AF65-F5344CB8AC3E}">
        <p14:creationId xmlns:p14="http://schemas.microsoft.com/office/powerpoint/2010/main" val="2864569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E64B4-1C66-D71D-BB46-205718FAB3E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D347D59E-0848-1158-50AF-2DC6F5EB9B4A}"/>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439BB7F8-49E6-844A-796E-4915116C46B9}"/>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DF1D0916-AE16-813C-353C-77D8BDDE51C0}"/>
              </a:ext>
            </a:extLst>
          </p:cNvPr>
          <p:cNvSpPr>
            <a:spLocks noGrp="1"/>
          </p:cNvSpPr>
          <p:nvPr>
            <p:ph type="sldNum" sz="quarter" idx="5"/>
          </p:nvPr>
        </p:nvSpPr>
        <p:spPr/>
        <p:txBody>
          <a:bodyPr/>
          <a:lstStyle/>
          <a:p>
            <a:fld id="{ADA04E83-3A76-47C2-B23E-88D5C2E17E9A}" type="slidenum">
              <a:rPr lang="en-US" smtClean="0"/>
              <a:t>6</a:t>
            </a:fld>
            <a:endParaRPr lang="en-US"/>
          </a:p>
        </p:txBody>
      </p:sp>
    </p:spTree>
    <p:extLst>
      <p:ext uri="{BB962C8B-B14F-4D97-AF65-F5344CB8AC3E}">
        <p14:creationId xmlns:p14="http://schemas.microsoft.com/office/powerpoint/2010/main" val="2725708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E0D03-0981-3AF4-24FE-00B5068570C9}"/>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90FCAAE-D2BF-0656-B582-888A9C21FBC9}"/>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3F0C431-8675-25F8-3CEC-7834F672002A}"/>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369EE1EC-DA51-413C-C55A-2CD3CA674409}"/>
              </a:ext>
            </a:extLst>
          </p:cNvPr>
          <p:cNvSpPr>
            <a:spLocks noGrp="1"/>
          </p:cNvSpPr>
          <p:nvPr>
            <p:ph type="sldNum" sz="quarter" idx="5"/>
          </p:nvPr>
        </p:nvSpPr>
        <p:spPr/>
        <p:txBody>
          <a:bodyPr/>
          <a:lstStyle/>
          <a:p>
            <a:fld id="{ADA04E83-3A76-47C2-B23E-88D5C2E17E9A}" type="slidenum">
              <a:rPr lang="en-US" smtClean="0"/>
              <a:t>7</a:t>
            </a:fld>
            <a:endParaRPr lang="en-US"/>
          </a:p>
        </p:txBody>
      </p:sp>
    </p:spTree>
    <p:extLst>
      <p:ext uri="{BB962C8B-B14F-4D97-AF65-F5344CB8AC3E}">
        <p14:creationId xmlns:p14="http://schemas.microsoft.com/office/powerpoint/2010/main" val="1803696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8</a:t>
            </a:fld>
            <a:endParaRPr lang="en-US"/>
          </a:p>
        </p:txBody>
      </p:sp>
    </p:spTree>
    <p:extLst>
      <p:ext uri="{BB962C8B-B14F-4D97-AF65-F5344CB8AC3E}">
        <p14:creationId xmlns:p14="http://schemas.microsoft.com/office/powerpoint/2010/main" val="335719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9</a:t>
            </a:fld>
            <a:endParaRPr lang="en-US"/>
          </a:p>
        </p:txBody>
      </p:sp>
    </p:spTree>
    <p:extLst>
      <p:ext uri="{BB962C8B-B14F-4D97-AF65-F5344CB8AC3E}">
        <p14:creationId xmlns:p14="http://schemas.microsoft.com/office/powerpoint/2010/main" val="3768787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E696-02FF-15BD-D15D-D33BB2E6491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345BEFF1-03E4-8344-9105-A68C2687ABF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06BD6A4-9436-AFE7-2117-FC0258B841FC}"/>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EBD726C9-B3DD-4757-457F-C77BBE4749BD}"/>
              </a:ext>
            </a:extLst>
          </p:cNvPr>
          <p:cNvSpPr>
            <a:spLocks noGrp="1"/>
          </p:cNvSpPr>
          <p:nvPr>
            <p:ph type="sldNum" sz="quarter" idx="5"/>
          </p:nvPr>
        </p:nvSpPr>
        <p:spPr/>
        <p:txBody>
          <a:bodyPr/>
          <a:lstStyle/>
          <a:p>
            <a:fld id="{ADA04E83-3A76-47C2-B23E-88D5C2E17E9A}" type="slidenum">
              <a:rPr lang="en-US" smtClean="0"/>
              <a:t>10</a:t>
            </a:fld>
            <a:endParaRPr lang="en-US"/>
          </a:p>
        </p:txBody>
      </p:sp>
    </p:spTree>
    <p:extLst>
      <p:ext uri="{BB962C8B-B14F-4D97-AF65-F5344CB8AC3E}">
        <p14:creationId xmlns:p14="http://schemas.microsoft.com/office/powerpoint/2010/main" val="1780157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145D8-5F71-7017-E820-9ABDE3A22C0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E7309A5-8968-58EE-37E4-03D159F673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D19CAD9E-8C76-4417-0F82-F8E5CA818679}"/>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2A7EA9B2-7C4E-5C86-4F13-42F2BE7290EE}"/>
              </a:ext>
            </a:extLst>
          </p:cNvPr>
          <p:cNvSpPr>
            <a:spLocks noGrp="1"/>
          </p:cNvSpPr>
          <p:nvPr>
            <p:ph type="sldNum" sz="quarter" idx="5"/>
          </p:nvPr>
        </p:nvSpPr>
        <p:spPr/>
        <p:txBody>
          <a:bodyPr/>
          <a:lstStyle/>
          <a:p>
            <a:fld id="{ADA04E83-3A76-47C2-B23E-88D5C2E17E9A}" type="slidenum">
              <a:rPr lang="en-US" smtClean="0"/>
              <a:t>11</a:t>
            </a:fld>
            <a:endParaRPr lang="en-US"/>
          </a:p>
        </p:txBody>
      </p:sp>
    </p:spTree>
    <p:extLst>
      <p:ext uri="{BB962C8B-B14F-4D97-AF65-F5344CB8AC3E}">
        <p14:creationId xmlns:p14="http://schemas.microsoft.com/office/powerpoint/2010/main" val="1465180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IL" dirty="0"/>
          </a:p>
        </p:txBody>
      </p:sp>
      <p:sp>
        <p:nvSpPr>
          <p:cNvPr id="4" name="מציין מיקום של מספר שקופית 3"/>
          <p:cNvSpPr>
            <a:spLocks noGrp="1"/>
          </p:cNvSpPr>
          <p:nvPr>
            <p:ph type="sldNum" sz="quarter" idx="5"/>
          </p:nvPr>
        </p:nvSpPr>
        <p:spPr/>
        <p:txBody>
          <a:bodyPr/>
          <a:lstStyle/>
          <a:p>
            <a:fld id="{ADA04E83-3A76-47C2-B23E-88D5C2E17E9A}" type="slidenum">
              <a:rPr lang="en-US" smtClean="0"/>
              <a:t>12</a:t>
            </a:fld>
            <a:endParaRPr lang="en-US"/>
          </a:p>
        </p:txBody>
      </p:sp>
    </p:spTree>
    <p:extLst>
      <p:ext uri="{BB962C8B-B14F-4D97-AF65-F5344CB8AC3E}">
        <p14:creationId xmlns:p14="http://schemas.microsoft.com/office/powerpoint/2010/main" val="692300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rtl="1"/>
            <a:endParaRPr lang="en-IL" dirty="0"/>
          </a:p>
        </p:txBody>
      </p:sp>
      <p:sp>
        <p:nvSpPr>
          <p:cNvPr id="4" name="מציין מיקום של מספר שקופית 3"/>
          <p:cNvSpPr>
            <a:spLocks noGrp="1"/>
          </p:cNvSpPr>
          <p:nvPr>
            <p:ph type="sldNum" sz="quarter" idx="5"/>
          </p:nvPr>
        </p:nvSpPr>
        <p:spPr/>
        <p:txBody>
          <a:bodyPr/>
          <a:lstStyle/>
          <a:p>
            <a:fld id="{ADA04E83-3A76-47C2-B23E-88D5C2E17E9A}" type="slidenum">
              <a:rPr lang="en-US" smtClean="0"/>
              <a:t>13</a:t>
            </a:fld>
            <a:endParaRPr lang="en-US"/>
          </a:p>
        </p:txBody>
      </p:sp>
    </p:spTree>
    <p:extLst>
      <p:ext uri="{BB962C8B-B14F-4D97-AF65-F5344CB8AC3E}">
        <p14:creationId xmlns:p14="http://schemas.microsoft.com/office/powerpoint/2010/main" val="1720978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AA4BA-1830-0438-B552-207C8F4DCB02}"/>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7AA8A5-3D0A-022F-625F-CCBD00015BB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6B1F9ACD-5649-8FCC-41AC-B54105CF1FE1}"/>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A29101E6-EB54-8676-6326-BBE56602F124}"/>
              </a:ext>
            </a:extLst>
          </p:cNvPr>
          <p:cNvSpPr>
            <a:spLocks noGrp="1"/>
          </p:cNvSpPr>
          <p:nvPr>
            <p:ph type="sldNum" sz="quarter" idx="5"/>
          </p:nvPr>
        </p:nvSpPr>
        <p:spPr/>
        <p:txBody>
          <a:bodyPr/>
          <a:lstStyle/>
          <a:p>
            <a:fld id="{ADA04E83-3A76-47C2-B23E-88D5C2E17E9A}" type="slidenum">
              <a:rPr lang="en-US" smtClean="0"/>
              <a:t>14</a:t>
            </a:fld>
            <a:endParaRPr lang="en-US"/>
          </a:p>
        </p:txBody>
      </p:sp>
    </p:spTree>
    <p:extLst>
      <p:ext uri="{BB962C8B-B14F-4D97-AF65-F5344CB8AC3E}">
        <p14:creationId xmlns:p14="http://schemas.microsoft.com/office/powerpoint/2010/main" val="3106976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15</a:t>
            </a:fld>
            <a:endParaRPr lang="en-US"/>
          </a:p>
        </p:txBody>
      </p:sp>
    </p:spTree>
    <p:extLst>
      <p:ext uri="{BB962C8B-B14F-4D97-AF65-F5344CB8AC3E}">
        <p14:creationId xmlns:p14="http://schemas.microsoft.com/office/powerpoint/2010/main" val="2750766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9A13-55E3-D7F6-53E8-FE845FCDE13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833AC24-AC19-D4CF-6E02-7757E28B34EF}"/>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4B00FC04-954D-07F8-B5D5-BC662DAA1520}"/>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B236F1F2-C0E5-91A1-A9C9-52B75E1160D8}"/>
              </a:ext>
            </a:extLst>
          </p:cNvPr>
          <p:cNvSpPr>
            <a:spLocks noGrp="1"/>
          </p:cNvSpPr>
          <p:nvPr>
            <p:ph type="sldNum" sz="quarter" idx="5"/>
          </p:nvPr>
        </p:nvSpPr>
        <p:spPr/>
        <p:txBody>
          <a:bodyPr/>
          <a:lstStyle/>
          <a:p>
            <a:fld id="{ADA04E83-3A76-47C2-B23E-88D5C2E17E9A}" type="slidenum">
              <a:rPr lang="en-US" smtClean="0"/>
              <a:t>16</a:t>
            </a:fld>
            <a:endParaRPr lang="en-US"/>
          </a:p>
        </p:txBody>
      </p:sp>
    </p:spTree>
    <p:extLst>
      <p:ext uri="{BB962C8B-B14F-4D97-AF65-F5344CB8AC3E}">
        <p14:creationId xmlns:p14="http://schemas.microsoft.com/office/powerpoint/2010/main" val="1322817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E500A-1A15-E5AB-8E2C-DE63FBB64102}"/>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46B8382-6938-BBF9-969E-6D287A40B4B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63031D99-128B-BBC7-5564-EBEC091B8875}"/>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22224984-3F9A-7AB9-84DE-DF7A65329E73}"/>
              </a:ext>
            </a:extLst>
          </p:cNvPr>
          <p:cNvSpPr>
            <a:spLocks noGrp="1"/>
          </p:cNvSpPr>
          <p:nvPr>
            <p:ph type="sldNum" sz="quarter" idx="5"/>
          </p:nvPr>
        </p:nvSpPr>
        <p:spPr/>
        <p:txBody>
          <a:bodyPr/>
          <a:lstStyle/>
          <a:p>
            <a:fld id="{ADA04E83-3A76-47C2-B23E-88D5C2E17E9A}" type="slidenum">
              <a:rPr lang="en-US" smtClean="0"/>
              <a:t>17</a:t>
            </a:fld>
            <a:endParaRPr lang="en-US"/>
          </a:p>
        </p:txBody>
      </p:sp>
    </p:spTree>
    <p:extLst>
      <p:ext uri="{BB962C8B-B14F-4D97-AF65-F5344CB8AC3E}">
        <p14:creationId xmlns:p14="http://schemas.microsoft.com/office/powerpoint/2010/main" val="3168107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8D32-AB16-7B92-D0CC-0C91A44A66F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FFB9A08A-EF25-F8DC-0F96-85DF177631F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6ED97F67-ED4D-E07C-DE50-5A4F92435DD2}"/>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6F580F3E-C04C-ADE0-CF34-386AD06853F8}"/>
              </a:ext>
            </a:extLst>
          </p:cNvPr>
          <p:cNvSpPr>
            <a:spLocks noGrp="1"/>
          </p:cNvSpPr>
          <p:nvPr>
            <p:ph type="sldNum" sz="quarter" idx="5"/>
          </p:nvPr>
        </p:nvSpPr>
        <p:spPr/>
        <p:txBody>
          <a:bodyPr/>
          <a:lstStyle/>
          <a:p>
            <a:fld id="{ADA04E83-3A76-47C2-B23E-88D5C2E17E9A}" type="slidenum">
              <a:rPr lang="en-US" smtClean="0"/>
              <a:t>18</a:t>
            </a:fld>
            <a:endParaRPr lang="en-US"/>
          </a:p>
        </p:txBody>
      </p:sp>
    </p:spTree>
    <p:extLst>
      <p:ext uri="{BB962C8B-B14F-4D97-AF65-F5344CB8AC3E}">
        <p14:creationId xmlns:p14="http://schemas.microsoft.com/office/powerpoint/2010/main" val="4024754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F39D3-D5C3-AD24-1FEE-2F0754657FCE}"/>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A6D2CD1-AB12-A2B0-9F52-A1ABBFB51274}"/>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DA814DAD-EA7F-587B-4145-B278E07587C9}"/>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E4B6EA07-56D8-DFC7-431D-102E3202D6E6}"/>
              </a:ext>
            </a:extLst>
          </p:cNvPr>
          <p:cNvSpPr>
            <a:spLocks noGrp="1"/>
          </p:cNvSpPr>
          <p:nvPr>
            <p:ph type="sldNum" sz="quarter" idx="5"/>
          </p:nvPr>
        </p:nvSpPr>
        <p:spPr/>
        <p:txBody>
          <a:bodyPr/>
          <a:lstStyle/>
          <a:p>
            <a:fld id="{ADA04E83-3A76-47C2-B23E-88D5C2E17E9A}" type="slidenum">
              <a:rPr lang="en-US" smtClean="0"/>
              <a:t>19</a:t>
            </a:fld>
            <a:endParaRPr lang="en-US"/>
          </a:p>
        </p:txBody>
      </p:sp>
    </p:spTree>
    <p:extLst>
      <p:ext uri="{BB962C8B-B14F-4D97-AF65-F5344CB8AC3E}">
        <p14:creationId xmlns:p14="http://schemas.microsoft.com/office/powerpoint/2010/main" val="4286053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F7C37-D858-D83C-6618-29F690C1E26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21551D91-F7BC-90F5-B7A5-7F87F4FA6EE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F22016C-B17B-268E-F390-2127ECA55A1C}"/>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BEEA91FA-79B7-9DFE-35F8-DB50479AF903}"/>
              </a:ext>
            </a:extLst>
          </p:cNvPr>
          <p:cNvSpPr>
            <a:spLocks noGrp="1"/>
          </p:cNvSpPr>
          <p:nvPr>
            <p:ph type="sldNum" sz="quarter" idx="5"/>
          </p:nvPr>
        </p:nvSpPr>
        <p:spPr/>
        <p:txBody>
          <a:bodyPr/>
          <a:lstStyle/>
          <a:p>
            <a:fld id="{ADA04E83-3A76-47C2-B23E-88D5C2E17E9A}" type="slidenum">
              <a:rPr lang="en-US" smtClean="0"/>
              <a:t>20</a:t>
            </a:fld>
            <a:endParaRPr lang="en-US"/>
          </a:p>
        </p:txBody>
      </p:sp>
    </p:spTree>
    <p:extLst>
      <p:ext uri="{BB962C8B-B14F-4D97-AF65-F5344CB8AC3E}">
        <p14:creationId xmlns:p14="http://schemas.microsoft.com/office/powerpoint/2010/main" val="1582192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C9610-1B6E-5444-A8F7-A1DE0405817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8D845493-B31E-E5BB-3E40-BA4AED11F499}"/>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6D665092-5928-8844-BBE8-6CCDB5EE2E8F}"/>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30E2EB7F-A728-B23D-016E-BEF0F5660370}"/>
              </a:ext>
            </a:extLst>
          </p:cNvPr>
          <p:cNvSpPr>
            <a:spLocks noGrp="1"/>
          </p:cNvSpPr>
          <p:nvPr>
            <p:ph type="sldNum" sz="quarter" idx="5"/>
          </p:nvPr>
        </p:nvSpPr>
        <p:spPr/>
        <p:txBody>
          <a:bodyPr/>
          <a:lstStyle/>
          <a:p>
            <a:fld id="{ADA04E83-3A76-47C2-B23E-88D5C2E17E9A}" type="slidenum">
              <a:rPr lang="en-US" smtClean="0"/>
              <a:t>21</a:t>
            </a:fld>
            <a:endParaRPr lang="en-US"/>
          </a:p>
        </p:txBody>
      </p:sp>
    </p:spTree>
    <p:extLst>
      <p:ext uri="{BB962C8B-B14F-4D97-AF65-F5344CB8AC3E}">
        <p14:creationId xmlns:p14="http://schemas.microsoft.com/office/powerpoint/2010/main" val="703759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26A7D-FA71-3457-8FA0-4897B4BC225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55C6C81-C037-C95F-4916-8D1E8CBC244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3DAE8DE-0257-B804-384B-7AF5898803C8}"/>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31B35155-B2B7-6473-7457-15AE031D95AB}"/>
              </a:ext>
            </a:extLst>
          </p:cNvPr>
          <p:cNvSpPr>
            <a:spLocks noGrp="1"/>
          </p:cNvSpPr>
          <p:nvPr>
            <p:ph type="sldNum" sz="quarter" idx="5"/>
          </p:nvPr>
        </p:nvSpPr>
        <p:spPr/>
        <p:txBody>
          <a:bodyPr/>
          <a:lstStyle/>
          <a:p>
            <a:fld id="{ADA04E83-3A76-47C2-B23E-88D5C2E17E9A}" type="slidenum">
              <a:rPr lang="en-US" smtClean="0"/>
              <a:t>22</a:t>
            </a:fld>
            <a:endParaRPr lang="en-US"/>
          </a:p>
        </p:txBody>
      </p:sp>
    </p:spTree>
    <p:extLst>
      <p:ext uri="{BB962C8B-B14F-4D97-AF65-F5344CB8AC3E}">
        <p14:creationId xmlns:p14="http://schemas.microsoft.com/office/powerpoint/2010/main" val="27525255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BC89B-33CC-3859-502A-4B8D9BECB6B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BBAC0B5-57FB-9A33-5D01-89193AC6971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D0B7A5BF-5746-F16D-69F7-117C6C414FB1}"/>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736DC5F3-9153-0892-DDA5-D577307F62A4}"/>
              </a:ext>
            </a:extLst>
          </p:cNvPr>
          <p:cNvSpPr>
            <a:spLocks noGrp="1"/>
          </p:cNvSpPr>
          <p:nvPr>
            <p:ph type="sldNum" sz="quarter" idx="5"/>
          </p:nvPr>
        </p:nvSpPr>
        <p:spPr/>
        <p:txBody>
          <a:bodyPr/>
          <a:lstStyle/>
          <a:p>
            <a:fld id="{ADA04E83-3A76-47C2-B23E-88D5C2E17E9A}" type="slidenum">
              <a:rPr lang="en-US" smtClean="0"/>
              <a:t>23</a:t>
            </a:fld>
            <a:endParaRPr lang="en-US"/>
          </a:p>
        </p:txBody>
      </p:sp>
    </p:spTree>
    <p:extLst>
      <p:ext uri="{BB962C8B-B14F-4D97-AF65-F5344CB8AC3E}">
        <p14:creationId xmlns:p14="http://schemas.microsoft.com/office/powerpoint/2010/main" val="2112698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E896A-D26B-F917-3602-7DD48853136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6E6A7DA-02C0-C37C-4526-BE7857D4C96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DE46224-3861-48DE-65DC-29445DF607A0}"/>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54AD397D-9611-D0D3-5D50-FB45CFEC4B4E}"/>
              </a:ext>
            </a:extLst>
          </p:cNvPr>
          <p:cNvSpPr>
            <a:spLocks noGrp="1"/>
          </p:cNvSpPr>
          <p:nvPr>
            <p:ph type="sldNum" sz="quarter" idx="5"/>
          </p:nvPr>
        </p:nvSpPr>
        <p:spPr/>
        <p:txBody>
          <a:bodyPr/>
          <a:lstStyle/>
          <a:p>
            <a:fld id="{ADA04E83-3A76-47C2-B23E-88D5C2E17E9A}" type="slidenum">
              <a:rPr lang="en-US" smtClean="0"/>
              <a:t>24</a:t>
            </a:fld>
            <a:endParaRPr lang="en-US"/>
          </a:p>
        </p:txBody>
      </p:sp>
    </p:spTree>
    <p:extLst>
      <p:ext uri="{BB962C8B-B14F-4D97-AF65-F5344CB8AC3E}">
        <p14:creationId xmlns:p14="http://schemas.microsoft.com/office/powerpoint/2010/main" val="41429545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10F59-9BBE-A261-522F-D1336880C904}"/>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82CCC7C-00EF-B23F-2A85-997838246E9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344B5A8-FB2D-267E-93B9-827F038A201C}"/>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3FA7C2D7-3EEA-2C54-05CE-9AC9118F9F8F}"/>
              </a:ext>
            </a:extLst>
          </p:cNvPr>
          <p:cNvSpPr>
            <a:spLocks noGrp="1"/>
          </p:cNvSpPr>
          <p:nvPr>
            <p:ph type="sldNum" sz="quarter" idx="5"/>
          </p:nvPr>
        </p:nvSpPr>
        <p:spPr/>
        <p:txBody>
          <a:bodyPr/>
          <a:lstStyle/>
          <a:p>
            <a:fld id="{ADA04E83-3A76-47C2-B23E-88D5C2E17E9A}" type="slidenum">
              <a:rPr lang="en-US" smtClean="0"/>
              <a:t>25</a:t>
            </a:fld>
            <a:endParaRPr lang="en-US"/>
          </a:p>
        </p:txBody>
      </p:sp>
    </p:spTree>
    <p:extLst>
      <p:ext uri="{BB962C8B-B14F-4D97-AF65-F5344CB8AC3E}">
        <p14:creationId xmlns:p14="http://schemas.microsoft.com/office/powerpoint/2010/main" val="3638147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E9756-0200-21A6-2716-A63D2933145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8B2D5A8-AAF5-96C0-C1DE-CBBA9B79C14A}"/>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E81E3C6-C2E9-61AE-8A69-42151536CD28}"/>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1B13081A-ED83-2EE4-1511-9BC01F2B84DF}"/>
              </a:ext>
            </a:extLst>
          </p:cNvPr>
          <p:cNvSpPr>
            <a:spLocks noGrp="1"/>
          </p:cNvSpPr>
          <p:nvPr>
            <p:ph type="sldNum" sz="quarter" idx="5"/>
          </p:nvPr>
        </p:nvSpPr>
        <p:spPr/>
        <p:txBody>
          <a:bodyPr/>
          <a:lstStyle/>
          <a:p>
            <a:fld id="{ADA04E83-3A76-47C2-B23E-88D5C2E17E9A}" type="slidenum">
              <a:rPr lang="en-US" smtClean="0"/>
              <a:t>27</a:t>
            </a:fld>
            <a:endParaRPr lang="en-US"/>
          </a:p>
        </p:txBody>
      </p:sp>
    </p:spTree>
    <p:extLst>
      <p:ext uri="{BB962C8B-B14F-4D97-AF65-F5344CB8AC3E}">
        <p14:creationId xmlns:p14="http://schemas.microsoft.com/office/powerpoint/2010/main" val="34005425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53057-88B3-8BF5-F8BA-002E6FE25C99}"/>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8E8109A-6C60-89E3-4319-7CC02D5CA26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6E2348D-7FDC-AC34-FB02-662705697392}"/>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31FAEFCC-A84C-B4C6-C518-19F342EE2064}"/>
              </a:ext>
            </a:extLst>
          </p:cNvPr>
          <p:cNvSpPr>
            <a:spLocks noGrp="1"/>
          </p:cNvSpPr>
          <p:nvPr>
            <p:ph type="sldNum" sz="quarter" idx="5"/>
          </p:nvPr>
        </p:nvSpPr>
        <p:spPr/>
        <p:txBody>
          <a:bodyPr/>
          <a:lstStyle/>
          <a:p>
            <a:fld id="{ADA04E83-3A76-47C2-B23E-88D5C2E17E9A}" type="slidenum">
              <a:rPr lang="en-US" smtClean="0"/>
              <a:t>28</a:t>
            </a:fld>
            <a:endParaRPr lang="en-US"/>
          </a:p>
        </p:txBody>
      </p:sp>
    </p:spTree>
    <p:extLst>
      <p:ext uri="{BB962C8B-B14F-4D97-AF65-F5344CB8AC3E}">
        <p14:creationId xmlns:p14="http://schemas.microsoft.com/office/powerpoint/2010/main" val="29270484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36CD2-0C96-A625-3F9B-B8214AFDF2F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1662144-C593-E2A7-E6D3-48510B53436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B522404-16AC-0269-93B6-020917A6A361}"/>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8EB3010B-3B61-37F2-638D-994A2EFFB8D1}"/>
              </a:ext>
            </a:extLst>
          </p:cNvPr>
          <p:cNvSpPr>
            <a:spLocks noGrp="1"/>
          </p:cNvSpPr>
          <p:nvPr>
            <p:ph type="sldNum" sz="quarter" idx="5"/>
          </p:nvPr>
        </p:nvSpPr>
        <p:spPr/>
        <p:txBody>
          <a:bodyPr/>
          <a:lstStyle/>
          <a:p>
            <a:fld id="{ADA04E83-3A76-47C2-B23E-88D5C2E17E9A}" type="slidenum">
              <a:rPr lang="en-US" smtClean="0"/>
              <a:t>29</a:t>
            </a:fld>
            <a:endParaRPr lang="en-US"/>
          </a:p>
        </p:txBody>
      </p:sp>
    </p:spTree>
    <p:extLst>
      <p:ext uri="{BB962C8B-B14F-4D97-AF65-F5344CB8AC3E}">
        <p14:creationId xmlns:p14="http://schemas.microsoft.com/office/powerpoint/2010/main" val="30661149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A5F83-9217-5047-EED5-1FA5F0CABD1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73A7250-9D0F-E4F9-34AB-27A94AF563C7}"/>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71B20C0-EDA9-1F49-2FF3-71A117D5D36D}"/>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CD571D8F-22DD-2D6B-0121-476FDFD1FD4F}"/>
              </a:ext>
            </a:extLst>
          </p:cNvPr>
          <p:cNvSpPr>
            <a:spLocks noGrp="1"/>
          </p:cNvSpPr>
          <p:nvPr>
            <p:ph type="sldNum" sz="quarter" idx="5"/>
          </p:nvPr>
        </p:nvSpPr>
        <p:spPr/>
        <p:txBody>
          <a:bodyPr/>
          <a:lstStyle/>
          <a:p>
            <a:fld id="{ADA04E83-3A76-47C2-B23E-88D5C2E17E9A}" type="slidenum">
              <a:rPr lang="en-US" smtClean="0"/>
              <a:t>30</a:t>
            </a:fld>
            <a:endParaRPr lang="en-US"/>
          </a:p>
        </p:txBody>
      </p:sp>
    </p:spTree>
    <p:extLst>
      <p:ext uri="{BB962C8B-B14F-4D97-AF65-F5344CB8AC3E}">
        <p14:creationId xmlns:p14="http://schemas.microsoft.com/office/powerpoint/2010/main" val="11378255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B3766-26DF-436D-49C8-B445C629BC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B019835-30C4-5C54-4AD1-2DDEA3A3A849}"/>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7970E6C-733E-C2C7-B841-2A0EA9851F91}"/>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8428F3C1-4986-EB2A-3F6D-6B45AC4FDE72}"/>
              </a:ext>
            </a:extLst>
          </p:cNvPr>
          <p:cNvSpPr>
            <a:spLocks noGrp="1"/>
          </p:cNvSpPr>
          <p:nvPr>
            <p:ph type="sldNum" sz="quarter" idx="5"/>
          </p:nvPr>
        </p:nvSpPr>
        <p:spPr/>
        <p:txBody>
          <a:bodyPr/>
          <a:lstStyle/>
          <a:p>
            <a:fld id="{ADA04E83-3A76-47C2-B23E-88D5C2E17E9A}" type="slidenum">
              <a:rPr lang="en-US" smtClean="0"/>
              <a:t>31</a:t>
            </a:fld>
            <a:endParaRPr lang="en-US"/>
          </a:p>
        </p:txBody>
      </p:sp>
    </p:spTree>
    <p:extLst>
      <p:ext uri="{BB962C8B-B14F-4D97-AF65-F5344CB8AC3E}">
        <p14:creationId xmlns:p14="http://schemas.microsoft.com/office/powerpoint/2010/main" val="24187916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3798-2824-5D45-C18F-DE5D57F15DD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D0342B6-A96A-A99F-D449-8ACA30C1C60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1AEB838A-4AD2-38ED-41D1-5B22F25FB6EE}"/>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32481023-A2FD-2B64-19C9-84692B45A6F9}"/>
              </a:ext>
            </a:extLst>
          </p:cNvPr>
          <p:cNvSpPr>
            <a:spLocks noGrp="1"/>
          </p:cNvSpPr>
          <p:nvPr>
            <p:ph type="sldNum" sz="quarter" idx="5"/>
          </p:nvPr>
        </p:nvSpPr>
        <p:spPr/>
        <p:txBody>
          <a:bodyPr/>
          <a:lstStyle/>
          <a:p>
            <a:fld id="{ADA04E83-3A76-47C2-B23E-88D5C2E17E9A}" type="slidenum">
              <a:rPr lang="en-US" smtClean="0"/>
              <a:t>32</a:t>
            </a:fld>
            <a:endParaRPr lang="en-US"/>
          </a:p>
        </p:txBody>
      </p:sp>
    </p:spTree>
    <p:extLst>
      <p:ext uri="{BB962C8B-B14F-4D97-AF65-F5344CB8AC3E}">
        <p14:creationId xmlns:p14="http://schemas.microsoft.com/office/powerpoint/2010/main" val="39763464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80D7-A5A5-02BD-EF64-241817944302}"/>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2488AD56-C09B-CDBC-60C4-4FEBE2C413BA}"/>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C4B4A62-DFD1-B7B4-C07A-703DB7483060}"/>
              </a:ext>
            </a:extLst>
          </p:cNvPr>
          <p:cNvSpPr>
            <a:spLocks noGrp="1"/>
          </p:cNvSpPr>
          <p:nvPr>
            <p:ph type="body" idx="1"/>
          </p:nvPr>
        </p:nvSpPr>
        <p:spPr/>
        <p:txBody>
          <a:bodyPr/>
          <a:lstStyle/>
          <a:p>
            <a:pPr algn="r" rtl="1"/>
            <a:endParaRPr lang="he-IL" dirty="0"/>
          </a:p>
        </p:txBody>
      </p:sp>
      <p:sp>
        <p:nvSpPr>
          <p:cNvPr id="4" name="מציין מיקום של מספר שקופית 3">
            <a:extLst>
              <a:ext uri="{FF2B5EF4-FFF2-40B4-BE49-F238E27FC236}">
                <a16:creationId xmlns:a16="http://schemas.microsoft.com/office/drawing/2014/main" id="{2F7932F4-D8D7-28B1-C0AF-1032438FEE54}"/>
              </a:ext>
            </a:extLst>
          </p:cNvPr>
          <p:cNvSpPr>
            <a:spLocks noGrp="1"/>
          </p:cNvSpPr>
          <p:nvPr>
            <p:ph type="sldNum" sz="quarter" idx="5"/>
          </p:nvPr>
        </p:nvSpPr>
        <p:spPr/>
        <p:txBody>
          <a:bodyPr/>
          <a:lstStyle/>
          <a:p>
            <a:fld id="{ADA04E83-3A76-47C2-B23E-88D5C2E17E9A}" type="slidenum">
              <a:rPr lang="en-US" smtClean="0"/>
              <a:t>33</a:t>
            </a:fld>
            <a:endParaRPr lang="en-US"/>
          </a:p>
        </p:txBody>
      </p:sp>
    </p:spTree>
    <p:extLst>
      <p:ext uri="{BB962C8B-B14F-4D97-AF65-F5344CB8AC3E}">
        <p14:creationId xmlns:p14="http://schemas.microsoft.com/office/powerpoint/2010/main" val="31254937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34</a:t>
            </a:fld>
            <a:endParaRPr lang="en-US"/>
          </a:p>
        </p:txBody>
      </p:sp>
    </p:spTree>
    <p:extLst>
      <p:ext uri="{BB962C8B-B14F-4D97-AF65-F5344CB8AC3E}">
        <p14:creationId xmlns:p14="http://schemas.microsoft.com/office/powerpoint/2010/main" val="42617736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35</a:t>
            </a:fld>
            <a:endParaRPr lang="en-US"/>
          </a:p>
        </p:txBody>
      </p:sp>
    </p:spTree>
    <p:extLst>
      <p:ext uri="{BB962C8B-B14F-4D97-AF65-F5344CB8AC3E}">
        <p14:creationId xmlns:p14="http://schemas.microsoft.com/office/powerpoint/2010/main" val="26152979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36</a:t>
            </a:fld>
            <a:endParaRPr lang="en-US"/>
          </a:p>
        </p:txBody>
      </p:sp>
    </p:spTree>
    <p:extLst>
      <p:ext uri="{BB962C8B-B14F-4D97-AF65-F5344CB8AC3E}">
        <p14:creationId xmlns:p14="http://schemas.microsoft.com/office/powerpoint/2010/main" val="3387112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37</a:t>
            </a:fld>
            <a:endParaRPr lang="en-US"/>
          </a:p>
        </p:txBody>
      </p:sp>
    </p:spTree>
    <p:extLst>
      <p:ext uri="{BB962C8B-B14F-4D97-AF65-F5344CB8AC3E}">
        <p14:creationId xmlns:p14="http://schemas.microsoft.com/office/powerpoint/2010/main" val="2168852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38</a:t>
            </a:fld>
            <a:endParaRPr lang="en-US"/>
          </a:p>
        </p:txBody>
      </p:sp>
    </p:spTree>
    <p:extLst>
      <p:ext uri="{BB962C8B-B14F-4D97-AF65-F5344CB8AC3E}">
        <p14:creationId xmlns:p14="http://schemas.microsoft.com/office/powerpoint/2010/main" val="3895571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39</a:t>
            </a:fld>
            <a:endParaRPr lang="en-US"/>
          </a:p>
        </p:txBody>
      </p:sp>
    </p:spTree>
    <p:extLst>
      <p:ext uri="{BB962C8B-B14F-4D97-AF65-F5344CB8AC3E}">
        <p14:creationId xmlns:p14="http://schemas.microsoft.com/office/powerpoint/2010/main" val="11999194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40</a:t>
            </a:fld>
            <a:endParaRPr lang="en-US"/>
          </a:p>
        </p:txBody>
      </p:sp>
    </p:spTree>
    <p:extLst>
      <p:ext uri="{BB962C8B-B14F-4D97-AF65-F5344CB8AC3E}">
        <p14:creationId xmlns:p14="http://schemas.microsoft.com/office/powerpoint/2010/main" val="11946203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41</a:t>
            </a:fld>
            <a:endParaRPr lang="en-US"/>
          </a:p>
        </p:txBody>
      </p:sp>
    </p:spTree>
    <p:extLst>
      <p:ext uri="{BB962C8B-B14F-4D97-AF65-F5344CB8AC3E}">
        <p14:creationId xmlns:p14="http://schemas.microsoft.com/office/powerpoint/2010/main" val="35819369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42</a:t>
            </a:fld>
            <a:endParaRPr lang="en-US"/>
          </a:p>
        </p:txBody>
      </p:sp>
    </p:spTree>
    <p:extLst>
      <p:ext uri="{BB962C8B-B14F-4D97-AF65-F5344CB8AC3E}">
        <p14:creationId xmlns:p14="http://schemas.microsoft.com/office/powerpoint/2010/main" val="17009778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43</a:t>
            </a:fld>
            <a:endParaRPr lang="en-US"/>
          </a:p>
        </p:txBody>
      </p:sp>
    </p:spTree>
    <p:extLst>
      <p:ext uri="{BB962C8B-B14F-4D97-AF65-F5344CB8AC3E}">
        <p14:creationId xmlns:p14="http://schemas.microsoft.com/office/powerpoint/2010/main" val="35601975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A04E83-3A76-47C2-B23E-88D5C2E17E9A}" type="slidenum">
              <a:rPr lang="en-US" smtClean="0"/>
              <a:t>44</a:t>
            </a:fld>
            <a:endParaRPr lang="en-US"/>
          </a:p>
        </p:txBody>
      </p:sp>
    </p:spTree>
    <p:extLst>
      <p:ext uri="{BB962C8B-B14F-4D97-AF65-F5344CB8AC3E}">
        <p14:creationId xmlns:p14="http://schemas.microsoft.com/office/powerpoint/2010/main" val="304737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8C418D1-F151-4A1A-AFA6-1FCB5125A92E}" type="datetime1">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1486005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C7F67C-1AAC-41A5-BA08-7B0723E42167}" type="datetime1">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2407722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075C26D-52F0-48CD-A26B-03EAFD2B9DF3}" type="datetime1">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4083801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2CBBECA-3C0A-4CD9-9812-4FBF50F0829F}" type="datetime1">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2681314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10F0E8-360B-4BB4-8873-CE1C24987C49}" type="datetime1">
              <a:rPr lang="en-US" smtClean="0"/>
              <a:t>7/28/2025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286810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FB9C237-DA93-4873-9F13-2D421E4D5784}" type="datetime1">
              <a:rPr lang="en-US" smtClean="0"/>
              <a:t>7/28/2025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3481734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C7881F-D2DD-4759-A335-6ECF54EA6174}" type="datetime1">
              <a:rPr lang="en-US" smtClean="0"/>
              <a:t>7/28/2025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3974421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8EFE89D-0E68-4F88-8280-A11E17E07B1E}" type="datetime1">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60136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2540482-3831-4044-A267-EC94C1533077}" type="datetime1">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3566252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2360F-72F0-40E4-9497-E500D92B1CFF}" type="datetime1">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1825737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D16CB8-DFD9-47B7-B7FB-CD991A84E186}" type="datetime1">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A11E8-8F25-49C3-8F7D-865FECFDFD18}" type="slidenum">
              <a:rPr lang="en-US" smtClean="0"/>
              <a:t>‹#›</a:t>
            </a:fld>
            <a:endParaRPr lang="en-US"/>
          </a:p>
        </p:txBody>
      </p:sp>
    </p:spTree>
    <p:extLst>
      <p:ext uri="{BB962C8B-B14F-4D97-AF65-F5344CB8AC3E}">
        <p14:creationId xmlns:p14="http://schemas.microsoft.com/office/powerpoint/2010/main" val="268761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48A5E2-79BB-466B-93AD-FE62946A96F1}" type="datetime1">
              <a:rPr lang="en-US" smtClean="0"/>
              <a:t>7/28/2025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7A11E8-8F25-49C3-8F7D-865FECFDFD18}" type="slidenum">
              <a:rPr lang="en-US" smtClean="0"/>
              <a:t>‹#›</a:t>
            </a:fld>
            <a:endParaRPr lang="en-US"/>
          </a:p>
        </p:txBody>
      </p:sp>
    </p:spTree>
    <p:extLst>
      <p:ext uri="{BB962C8B-B14F-4D97-AF65-F5344CB8AC3E}">
        <p14:creationId xmlns:p14="http://schemas.microsoft.com/office/powerpoint/2010/main" val="106204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0.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jpeg"/><Relationship Id="rId7" Type="http://schemas.microsoft.com/office/2007/relationships/hdphoto" Target="../media/hdphoto1.wdp"/><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 Id="rId9" Type="http://schemas.microsoft.com/office/2007/relationships/hdphoto" Target="../media/hdphoto2.wdp"/></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8.png"/><Relationship Id="rId5" Type="http://schemas.openxmlformats.org/officeDocument/2006/relationships/image" Target="../media/image11.png"/><Relationship Id="rId10"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eg"/><Relationship Id="rId7" Type="http://schemas.openxmlformats.org/officeDocument/2006/relationships/hyperlink" Target="https://galaxy.ai/youtube-summarizer/understanding-telescopic-cascode-single-stage-opamp-in-analog-vlsi-design-YIDHsyXzOy0"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2.png"/><Relationship Id="rId10" Type="http://schemas.openxmlformats.org/officeDocument/2006/relationships/image" Target="../media/image22.png"/><Relationship Id="rId4" Type="http://schemas.openxmlformats.org/officeDocument/2006/relationships/image" Target="../media/image19.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jpe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8.png"/><Relationship Id="rId5" Type="http://schemas.openxmlformats.org/officeDocument/2006/relationships/image" Target="../media/image23.png"/><Relationship Id="rId10"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3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2.png"/><Relationship Id="rId4"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package" Target="../embeddings/Microsoft_PowerPoint_Presentation.pptx"/><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3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20.png"/><Relationship Id="rId5" Type="http://schemas.openxmlformats.org/officeDocument/2006/relationships/image" Target="../media/image37.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60.png"/><Relationship Id="rId5" Type="http://schemas.openxmlformats.org/officeDocument/2006/relationships/image" Target="../media/image46.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2.png"/><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6.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1.jpeg"/><Relationship Id="rId7" Type="http://schemas.openxmlformats.org/officeDocument/2006/relationships/image" Target="../media/image6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hyperlink" Target="https://github.com/ArsenArutyunov/DPLL-LDO" TargetMode="External"/><Relationship Id="rId10" Type="http://schemas.openxmlformats.org/officeDocument/2006/relationships/image" Target="../media/image70.png"/><Relationship Id="rId4" Type="http://schemas.openxmlformats.org/officeDocument/2006/relationships/image" Target="../media/image2.png"/><Relationship Id="rId9"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79475" y="356745"/>
            <a:ext cx="5018491" cy="575154"/>
          </a:xfrm>
        </p:spPr>
        <p:txBody>
          <a:bodyPr>
            <a:normAutofit fontScale="90000"/>
          </a:bodyPr>
          <a:lstStyle/>
          <a:p>
            <a:pPr algn="ctr"/>
            <a:r>
              <a:rPr lang="en-US" b="1" dirty="0"/>
              <a:t>LDO Regulator</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p:cNvSpPr>
            <a:spLocks noGrp="1"/>
          </p:cNvSpPr>
          <p:nvPr>
            <p:ph type="dt" sz="half" idx="10"/>
          </p:nvPr>
        </p:nvSpPr>
        <p:spPr>
          <a:xfrm>
            <a:off x="838200" y="6356350"/>
            <a:ext cx="893323" cy="365125"/>
          </a:xfrm>
        </p:spPr>
        <p:txBody>
          <a:bodyPr/>
          <a:lstStyle/>
          <a:p>
            <a:r>
              <a:rPr lang="en-US" dirty="0"/>
              <a:t>28/07/25</a:t>
            </a:r>
          </a:p>
        </p:txBody>
      </p:sp>
      <p:sp>
        <p:nvSpPr>
          <p:cNvPr id="9" name="Slide Number Placeholder 8"/>
          <p:cNvSpPr>
            <a:spLocks noGrp="1"/>
          </p:cNvSpPr>
          <p:nvPr>
            <p:ph type="sldNum" sz="quarter" idx="12"/>
          </p:nvPr>
        </p:nvSpPr>
        <p:spPr/>
        <p:txBody>
          <a:bodyPr/>
          <a:lstStyle/>
          <a:p>
            <a:fld id="{397A11E8-8F25-49C3-8F7D-865FECFDFD18}" type="slidenum">
              <a:rPr lang="en-US" smtClean="0"/>
              <a:t>1</a:t>
            </a:fld>
            <a:endParaRPr lang="en-US"/>
          </a:p>
        </p:txBody>
      </p:sp>
      <p:sp>
        <p:nvSpPr>
          <p:cNvPr id="11" name="TextBox 10">
            <a:extLst>
              <a:ext uri="{FF2B5EF4-FFF2-40B4-BE49-F238E27FC236}">
                <a16:creationId xmlns:a16="http://schemas.microsoft.com/office/drawing/2014/main" id="{C7BC5615-CCF5-28CA-6B5C-8B094A921899}"/>
              </a:ext>
            </a:extLst>
          </p:cNvPr>
          <p:cNvSpPr txBox="1"/>
          <p:nvPr/>
        </p:nvSpPr>
        <p:spPr>
          <a:xfrm>
            <a:off x="734938" y="1418602"/>
            <a:ext cx="10742064" cy="4708981"/>
          </a:xfrm>
          <a:prstGeom prst="rect">
            <a:avLst/>
          </a:prstGeom>
          <a:noFill/>
        </p:spPr>
        <p:txBody>
          <a:bodyPr wrap="square" rtlCol="0">
            <a:spAutoFit/>
          </a:bodyPr>
          <a:lstStyle/>
          <a:p>
            <a:pPr algn="ctr"/>
            <a:r>
              <a:rPr lang="en-US" sz="2400" b="1" dirty="0"/>
              <a:t>Project Name: Digital High Frequency Chip – Linear Low Dropout Voltage Regulator</a:t>
            </a:r>
          </a:p>
          <a:p>
            <a:pPr algn="ctr"/>
            <a:r>
              <a:rPr lang="en-US" sz="2400" b="1" dirty="0"/>
              <a:t>Project Number: 3097</a:t>
            </a:r>
          </a:p>
          <a:p>
            <a:pPr algn="ctr"/>
            <a:endParaRPr lang="en-US" dirty="0"/>
          </a:p>
          <a:p>
            <a:r>
              <a:rPr lang="en-US" dirty="0"/>
              <a:t>Students:</a:t>
            </a:r>
          </a:p>
          <a:p>
            <a:r>
              <a:rPr lang="en-US" dirty="0"/>
              <a:t>Name: Arsen Arutyunov	 ID:</a:t>
            </a:r>
          </a:p>
          <a:p>
            <a:r>
              <a:rPr lang="en-US" dirty="0"/>
              <a:t>Name: Or Fahima		 ID:</a:t>
            </a:r>
          </a:p>
          <a:p>
            <a:endParaRPr lang="en-US" dirty="0"/>
          </a:p>
          <a:p>
            <a:endParaRPr lang="en-US" dirty="0"/>
          </a:p>
          <a:p>
            <a:r>
              <a:rPr lang="en-US" dirty="0"/>
              <a:t>Project Instructor:</a:t>
            </a:r>
          </a:p>
          <a:p>
            <a:r>
              <a:rPr lang="en-US" dirty="0"/>
              <a:t>Name: Tal Elazar</a:t>
            </a:r>
          </a:p>
          <a:p>
            <a:endParaRPr lang="en-US" dirty="0"/>
          </a:p>
          <a:p>
            <a:endParaRPr lang="en-US" dirty="0"/>
          </a:p>
          <a:p>
            <a:r>
              <a:rPr lang="en-US" dirty="0"/>
              <a:t>Project carried out at: University</a:t>
            </a:r>
          </a:p>
          <a:p>
            <a:endParaRPr lang="en-US" dirty="0"/>
          </a:p>
          <a:p>
            <a:endParaRPr lang="en-US" dirty="0"/>
          </a:p>
          <a:p>
            <a:r>
              <a:rPr lang="en-US" dirty="0"/>
              <a:t>Instructor’s Signature: ____</a:t>
            </a:r>
            <a:r>
              <a:rPr lang="en-US" u="sng" dirty="0">
                <a:latin typeface="Dreaming Outloud Script Pro" panose="020F0502020204030204" pitchFamily="66" charset="0"/>
                <a:cs typeface="Dreaming Outloud Script Pro" panose="020F0502020204030204" pitchFamily="66" charset="0"/>
              </a:rPr>
              <a:t>Tal Elazar</a:t>
            </a:r>
            <a:r>
              <a:rPr lang="en-US" dirty="0"/>
              <a:t>____</a:t>
            </a:r>
          </a:p>
        </p:txBody>
      </p:sp>
      <p:pic>
        <p:nvPicPr>
          <p:cNvPr id="12" name="Picture 11">
            <a:extLst>
              <a:ext uri="{FF2B5EF4-FFF2-40B4-BE49-F238E27FC236}">
                <a16:creationId xmlns:a16="http://schemas.microsoft.com/office/drawing/2014/main" id="{48C0985D-E082-5A6D-6C8A-D7ADBA8B23B7}"/>
              </a:ext>
            </a:extLst>
          </p:cNvPr>
          <p:cNvPicPr>
            <a:picLocks noChangeAspect="1"/>
          </p:cNvPicPr>
          <p:nvPr/>
        </p:nvPicPr>
        <p:blipFill>
          <a:blip r:embed="rId3"/>
          <a:stretch>
            <a:fillRect/>
          </a:stretch>
        </p:blipFill>
        <p:spPr>
          <a:xfrm>
            <a:off x="10893991" y="77582"/>
            <a:ext cx="942788" cy="877475"/>
          </a:xfrm>
          <a:prstGeom prst="rect">
            <a:avLst/>
          </a:prstGeom>
        </p:spPr>
      </p:pic>
    </p:spTree>
    <p:extLst>
      <p:ext uri="{BB962C8B-B14F-4D97-AF65-F5344CB8AC3E}">
        <p14:creationId xmlns:p14="http://schemas.microsoft.com/office/powerpoint/2010/main" val="2194483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B4842-4087-B202-B27A-1D8BF295E9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4FC0BA9-EFF0-7686-814D-BC3FAA5BF6BE}"/>
              </a:ext>
            </a:extLst>
          </p:cNvPr>
          <p:cNvSpPr>
            <a:spLocks noGrp="1"/>
          </p:cNvSpPr>
          <p:nvPr>
            <p:ph type="title"/>
          </p:nvPr>
        </p:nvSpPr>
        <p:spPr>
          <a:xfrm>
            <a:off x="3279475" y="356745"/>
            <a:ext cx="6702725" cy="575154"/>
          </a:xfrm>
        </p:spPr>
        <p:txBody>
          <a:bodyPr>
            <a:normAutofit fontScale="90000"/>
          </a:bodyPr>
          <a:lstStyle/>
          <a:p>
            <a:pPr algn="ctr"/>
            <a:r>
              <a:rPr lang="en-US" b="1" dirty="0"/>
              <a:t>Abstract and Introduction</a:t>
            </a:r>
          </a:p>
        </p:txBody>
      </p:sp>
      <p:pic>
        <p:nvPicPr>
          <p:cNvPr id="6" name="Picture 5">
            <a:extLst>
              <a:ext uri="{FF2B5EF4-FFF2-40B4-BE49-F238E27FC236}">
                <a16:creationId xmlns:a16="http://schemas.microsoft.com/office/drawing/2014/main" id="{877DCD28-68D2-F5D8-2BCA-54364CAFB2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1C16D089-C41E-D01E-339D-64E537BD7F65}"/>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164A37F5-BE64-E117-84D2-B5E20A75E0C9}"/>
              </a:ext>
            </a:extLst>
          </p:cNvPr>
          <p:cNvSpPr>
            <a:spLocks noGrp="1"/>
          </p:cNvSpPr>
          <p:nvPr>
            <p:ph type="sldNum" sz="quarter" idx="12"/>
          </p:nvPr>
        </p:nvSpPr>
        <p:spPr/>
        <p:txBody>
          <a:bodyPr/>
          <a:lstStyle/>
          <a:p>
            <a:fld id="{397A11E8-8F25-49C3-8F7D-865FECFDFD18}" type="slidenum">
              <a:rPr lang="en-US" smtClean="0"/>
              <a:t>2</a:t>
            </a:fld>
            <a:endParaRPr lang="en-US"/>
          </a:p>
        </p:txBody>
      </p:sp>
      <p:sp>
        <p:nvSpPr>
          <p:cNvPr id="2" name="TextBox 1">
            <a:extLst>
              <a:ext uri="{FF2B5EF4-FFF2-40B4-BE49-F238E27FC236}">
                <a16:creationId xmlns:a16="http://schemas.microsoft.com/office/drawing/2014/main" id="{172CC219-9C1C-9F1D-4B4E-34331E13F45B}"/>
              </a:ext>
            </a:extLst>
          </p:cNvPr>
          <p:cNvSpPr txBox="1"/>
          <p:nvPr/>
        </p:nvSpPr>
        <p:spPr>
          <a:xfrm>
            <a:off x="267419" y="1461331"/>
            <a:ext cx="11477270" cy="5078313"/>
          </a:xfrm>
          <a:prstGeom prst="rect">
            <a:avLst/>
          </a:prstGeom>
          <a:noFill/>
        </p:spPr>
        <p:txBody>
          <a:bodyPr wrap="square" rtlCol="0">
            <a:spAutoFit/>
          </a:bodyPr>
          <a:lstStyle/>
          <a:p>
            <a:pPr marL="285750" indent="-285750">
              <a:buFont typeface="Wingdings" panose="05000000000000000000" pitchFamily="2" charset="2"/>
              <a:buChar char="§"/>
            </a:pPr>
            <a:r>
              <a:rPr lang="en-US" sz="2400" dirty="0">
                <a:ea typeface="Verdana" panose="020B0604030504040204" pitchFamily="34" charset="0"/>
              </a:rPr>
              <a:t>The project’s objective is to design an LDO for a DPLL.</a:t>
            </a:r>
          </a:p>
          <a:p>
            <a:pPr marL="285750" indent="-285750">
              <a:buFont typeface="Wingdings" panose="05000000000000000000" pitchFamily="2" charset="2"/>
              <a:buChar char="§"/>
            </a:pPr>
            <a:endParaRPr lang="en-US" sz="2400" dirty="0">
              <a:ea typeface="Verdana" panose="020B0604030504040204" pitchFamily="34" charset="0"/>
            </a:endParaRPr>
          </a:p>
          <a:p>
            <a:pPr marL="285750" indent="-285750">
              <a:buFont typeface="Wingdings" panose="05000000000000000000" pitchFamily="2" charset="2"/>
              <a:buChar char="§"/>
            </a:pPr>
            <a:r>
              <a:rPr lang="en-US" sz="2400" dirty="0">
                <a:ea typeface="Verdana" panose="020B0604030504040204" pitchFamily="34" charset="0"/>
              </a:rPr>
              <a:t>DPLLs require a highly stable voltage input for proper operation.</a:t>
            </a:r>
          </a:p>
          <a:p>
            <a:endParaRPr lang="en-US" sz="2400" dirty="0">
              <a:ea typeface="Verdana" panose="020B0604030504040204" pitchFamily="34" charset="0"/>
            </a:endParaRPr>
          </a:p>
          <a:p>
            <a:pPr marL="285750" indent="-285750">
              <a:buFont typeface="Wingdings" panose="05000000000000000000" pitchFamily="2" charset="2"/>
              <a:buChar char="§"/>
            </a:pPr>
            <a:r>
              <a:rPr lang="en-US" sz="2400" dirty="0">
                <a:ea typeface="Verdana" panose="020B0604030504040204" pitchFamily="34" charset="0"/>
              </a:rPr>
              <a:t>Variations in </a:t>
            </a:r>
            <a:r>
              <a:rPr lang="en-US" sz="2400" b="1" dirty="0">
                <a:ea typeface="Verdana" panose="020B0604030504040204" pitchFamily="34" charset="0"/>
              </a:rPr>
              <a:t>supply voltage</a:t>
            </a:r>
            <a:r>
              <a:rPr lang="en-US" sz="2400" dirty="0">
                <a:ea typeface="Verdana" panose="020B0604030504040204" pitchFamily="34" charset="0"/>
              </a:rPr>
              <a:t>, </a:t>
            </a:r>
            <a:r>
              <a:rPr lang="en-US" sz="2400" b="1" dirty="0">
                <a:ea typeface="Verdana" panose="020B0604030504040204" pitchFamily="34" charset="0"/>
              </a:rPr>
              <a:t>temperature</a:t>
            </a:r>
            <a:r>
              <a:rPr lang="en-US" sz="2400" dirty="0">
                <a:ea typeface="Verdana" panose="020B0604030504040204" pitchFamily="34" charset="0"/>
              </a:rPr>
              <a:t>, and </a:t>
            </a:r>
            <a:r>
              <a:rPr lang="en-US" sz="2400" b="1" dirty="0">
                <a:ea typeface="Verdana" panose="020B0604030504040204" pitchFamily="34" charset="0"/>
              </a:rPr>
              <a:t>load current </a:t>
            </a:r>
            <a:r>
              <a:rPr lang="en-US" sz="2400" dirty="0">
                <a:ea typeface="Verdana" panose="020B0604030504040204" pitchFamily="34" charset="0"/>
              </a:rPr>
              <a:t>can degrade performance.</a:t>
            </a:r>
          </a:p>
          <a:p>
            <a:pPr marL="285750" indent="-285750">
              <a:buFont typeface="Wingdings" panose="05000000000000000000" pitchFamily="2" charset="2"/>
              <a:buChar char="§"/>
            </a:pPr>
            <a:endParaRPr lang="en-US" sz="2400" dirty="0">
              <a:ea typeface="Verdana" panose="020B0604030504040204" pitchFamily="34" charset="0"/>
            </a:endParaRPr>
          </a:p>
          <a:p>
            <a:pPr marL="285750" indent="-285750">
              <a:buFont typeface="Wingdings" panose="05000000000000000000" pitchFamily="2" charset="2"/>
              <a:buChar char="§"/>
            </a:pPr>
            <a:r>
              <a:rPr lang="en-US" sz="2400" dirty="0">
                <a:ea typeface="Verdana" panose="020B0604030504040204" pitchFamily="34" charset="0"/>
              </a:rPr>
              <a:t>The LDO is necessary to maintain a constant input voltage despite these variations.</a:t>
            </a:r>
          </a:p>
          <a:p>
            <a:pPr marL="285750" indent="-285750">
              <a:buFont typeface="Wingdings" panose="05000000000000000000" pitchFamily="2" charset="2"/>
              <a:buChar char="§"/>
            </a:pPr>
            <a:endParaRPr lang="en-US" sz="2400" dirty="0">
              <a:ea typeface="Verdana" panose="020B0604030504040204" pitchFamily="34" charset="0"/>
            </a:endParaRPr>
          </a:p>
          <a:p>
            <a:pPr marL="285750" indent="-285750">
              <a:buFont typeface="Wingdings" panose="05000000000000000000" pitchFamily="2" charset="2"/>
              <a:buChar char="§"/>
            </a:pPr>
            <a:r>
              <a:rPr lang="en-US" sz="2400" dirty="0">
                <a:ea typeface="Verdana" panose="020B0604030504040204" pitchFamily="34" charset="0"/>
              </a:rPr>
              <a:t>A well-designed bandgap reference circuit and a high-gain stable OTA are essential for the LDO’s design.</a:t>
            </a:r>
          </a:p>
          <a:p>
            <a:endParaRPr lang="en-US" sz="2400" dirty="0"/>
          </a:p>
          <a:p>
            <a:endParaRPr lang="en-US" sz="2400" dirty="0"/>
          </a:p>
          <a:p>
            <a:endParaRPr lang="en-US" dirty="0"/>
          </a:p>
          <a:p>
            <a:endParaRPr lang="en-US" dirty="0"/>
          </a:p>
        </p:txBody>
      </p:sp>
      <p:pic>
        <p:nvPicPr>
          <p:cNvPr id="7" name="Picture 6">
            <a:extLst>
              <a:ext uri="{FF2B5EF4-FFF2-40B4-BE49-F238E27FC236}">
                <a16:creationId xmlns:a16="http://schemas.microsoft.com/office/drawing/2014/main" id="{2C0FFEB0-19B4-88F5-666C-35E71564623B}"/>
              </a:ext>
            </a:extLst>
          </p:cNvPr>
          <p:cNvPicPr>
            <a:picLocks noChangeAspect="1"/>
          </p:cNvPicPr>
          <p:nvPr/>
        </p:nvPicPr>
        <p:blipFill>
          <a:blip r:embed="rId4"/>
          <a:stretch>
            <a:fillRect/>
          </a:stretch>
        </p:blipFill>
        <p:spPr>
          <a:xfrm>
            <a:off x="10893991" y="77582"/>
            <a:ext cx="942788" cy="877475"/>
          </a:xfrm>
          <a:prstGeom prst="rect">
            <a:avLst/>
          </a:prstGeom>
        </p:spPr>
      </p:pic>
    </p:spTree>
    <p:extLst>
      <p:ext uri="{BB962C8B-B14F-4D97-AF65-F5344CB8AC3E}">
        <p14:creationId xmlns:p14="http://schemas.microsoft.com/office/powerpoint/2010/main" val="1816003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53449-73BA-FD77-6485-81E0586485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4CE99F-60E9-20FA-757B-D393A2087EB9}"/>
              </a:ext>
            </a:extLst>
          </p:cNvPr>
          <p:cNvSpPr>
            <a:spLocks noGrp="1"/>
          </p:cNvSpPr>
          <p:nvPr>
            <p:ph type="title"/>
          </p:nvPr>
        </p:nvSpPr>
        <p:spPr>
          <a:xfrm>
            <a:off x="2744637" y="228742"/>
            <a:ext cx="6702725" cy="575154"/>
          </a:xfrm>
        </p:spPr>
        <p:txBody>
          <a:bodyPr>
            <a:normAutofit fontScale="90000"/>
          </a:bodyPr>
          <a:lstStyle/>
          <a:p>
            <a:pPr algn="ctr"/>
            <a:r>
              <a:rPr lang="en-US" b="1" dirty="0"/>
              <a:t>LDO Operating Principle</a:t>
            </a:r>
          </a:p>
        </p:txBody>
      </p:sp>
      <p:pic>
        <p:nvPicPr>
          <p:cNvPr id="6" name="Picture 5">
            <a:extLst>
              <a:ext uri="{FF2B5EF4-FFF2-40B4-BE49-F238E27FC236}">
                <a16:creationId xmlns:a16="http://schemas.microsoft.com/office/drawing/2014/main" id="{9E2457A9-8688-435B-B7E1-2A5DC7F7D5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1FFB6317-AA5A-F486-B849-C3CB97DEA6F9}"/>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9AE2E67F-39D6-AD4C-D0AC-72853F23C7E7}"/>
              </a:ext>
            </a:extLst>
          </p:cNvPr>
          <p:cNvSpPr>
            <a:spLocks noGrp="1"/>
          </p:cNvSpPr>
          <p:nvPr>
            <p:ph type="sldNum" sz="quarter" idx="12"/>
          </p:nvPr>
        </p:nvSpPr>
        <p:spPr/>
        <p:txBody>
          <a:bodyPr/>
          <a:lstStyle/>
          <a:p>
            <a:fld id="{397A11E8-8F25-49C3-8F7D-865FECFDFD18}" type="slidenum">
              <a:rPr lang="en-US" smtClean="0"/>
              <a:t>3</a:t>
            </a:fld>
            <a:endParaRPr lang="en-US"/>
          </a:p>
        </p:txBody>
      </p:sp>
      <p:pic>
        <p:nvPicPr>
          <p:cNvPr id="7" name="Picture 6">
            <a:extLst>
              <a:ext uri="{FF2B5EF4-FFF2-40B4-BE49-F238E27FC236}">
                <a16:creationId xmlns:a16="http://schemas.microsoft.com/office/drawing/2014/main" id="{5F827FB6-3574-2534-7D79-E943DA72DA38}"/>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10" name="Picture 9" descr="A diagram of a voltage current&#10;&#10;AI-generated content may be incorrect.">
            <a:extLst>
              <a:ext uri="{FF2B5EF4-FFF2-40B4-BE49-F238E27FC236}">
                <a16:creationId xmlns:a16="http://schemas.microsoft.com/office/drawing/2014/main" id="{7CC39CF4-36FD-CFE8-99D8-BA61364BA0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6101" y="754032"/>
            <a:ext cx="9247890" cy="5830423"/>
          </a:xfrm>
          <a:prstGeom prst="rect">
            <a:avLst/>
          </a:prstGeom>
        </p:spPr>
      </p:pic>
      <p:grpSp>
        <p:nvGrpSpPr>
          <p:cNvPr id="26" name="קבוצה 25">
            <a:extLst>
              <a:ext uri="{FF2B5EF4-FFF2-40B4-BE49-F238E27FC236}">
                <a16:creationId xmlns:a16="http://schemas.microsoft.com/office/drawing/2014/main" id="{CB969853-5122-8C5E-7DE0-94EB12FE73C8}"/>
              </a:ext>
            </a:extLst>
          </p:cNvPr>
          <p:cNvGrpSpPr/>
          <p:nvPr/>
        </p:nvGrpSpPr>
        <p:grpSpPr>
          <a:xfrm>
            <a:off x="1817914" y="1697753"/>
            <a:ext cx="5845629" cy="3405858"/>
            <a:chOff x="1817914" y="1697753"/>
            <a:chExt cx="5845629" cy="3405858"/>
          </a:xfrm>
        </p:grpSpPr>
        <p:sp>
          <p:nvSpPr>
            <p:cNvPr id="21" name="מלבן 20">
              <a:extLst>
                <a:ext uri="{FF2B5EF4-FFF2-40B4-BE49-F238E27FC236}">
                  <a16:creationId xmlns:a16="http://schemas.microsoft.com/office/drawing/2014/main" id="{E6DC900C-B4B1-98C8-08FC-ABBBA6CABABF}"/>
                </a:ext>
              </a:extLst>
            </p:cNvPr>
            <p:cNvSpPr/>
            <p:nvPr/>
          </p:nvSpPr>
          <p:spPr>
            <a:xfrm>
              <a:off x="1817914" y="4376057"/>
              <a:ext cx="5845629" cy="57515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22" name="מלבן 21">
              <a:extLst>
                <a:ext uri="{FF2B5EF4-FFF2-40B4-BE49-F238E27FC236}">
                  <a16:creationId xmlns:a16="http://schemas.microsoft.com/office/drawing/2014/main" id="{A33A22FF-2B85-FA6D-CF5F-D39157E85D1B}"/>
                </a:ext>
              </a:extLst>
            </p:cNvPr>
            <p:cNvSpPr/>
            <p:nvPr/>
          </p:nvSpPr>
          <p:spPr>
            <a:xfrm>
              <a:off x="1817914" y="3276600"/>
              <a:ext cx="108857" cy="182701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23" name="מלבן 22">
              <a:extLst>
                <a:ext uri="{FF2B5EF4-FFF2-40B4-BE49-F238E27FC236}">
                  <a16:creationId xmlns:a16="http://schemas.microsoft.com/office/drawing/2014/main" id="{5A3D6E95-3D78-E4D7-2C40-C8E07A9535EA}"/>
                </a:ext>
              </a:extLst>
            </p:cNvPr>
            <p:cNvSpPr/>
            <p:nvPr/>
          </p:nvSpPr>
          <p:spPr>
            <a:xfrm>
              <a:off x="1894113" y="3139580"/>
              <a:ext cx="1055915" cy="25586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24" name="מלבן 23">
              <a:extLst>
                <a:ext uri="{FF2B5EF4-FFF2-40B4-BE49-F238E27FC236}">
                  <a16:creationId xmlns:a16="http://schemas.microsoft.com/office/drawing/2014/main" id="{CB09A35D-6F65-5DD2-4C67-67A41B757F10}"/>
                </a:ext>
              </a:extLst>
            </p:cNvPr>
            <p:cNvSpPr/>
            <p:nvPr/>
          </p:nvSpPr>
          <p:spPr>
            <a:xfrm>
              <a:off x="4610100" y="1697753"/>
              <a:ext cx="716280" cy="3367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25" name="מלבן 24">
              <a:extLst>
                <a:ext uri="{FF2B5EF4-FFF2-40B4-BE49-F238E27FC236}">
                  <a16:creationId xmlns:a16="http://schemas.microsoft.com/office/drawing/2014/main" id="{78C59116-F01A-545C-60D2-BD5C04823FDA}"/>
                </a:ext>
              </a:extLst>
            </p:cNvPr>
            <p:cNvSpPr/>
            <p:nvPr/>
          </p:nvSpPr>
          <p:spPr>
            <a:xfrm>
              <a:off x="4756185" y="1995687"/>
              <a:ext cx="533400" cy="3367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grpSp>
      <p:grpSp>
        <p:nvGrpSpPr>
          <p:cNvPr id="30" name="קבוצה 29">
            <a:extLst>
              <a:ext uri="{FF2B5EF4-FFF2-40B4-BE49-F238E27FC236}">
                <a16:creationId xmlns:a16="http://schemas.microsoft.com/office/drawing/2014/main" id="{56C606F6-BAB2-E6E3-C70D-120D7C6E196C}"/>
              </a:ext>
            </a:extLst>
          </p:cNvPr>
          <p:cNvGrpSpPr/>
          <p:nvPr/>
        </p:nvGrpSpPr>
        <p:grpSpPr>
          <a:xfrm>
            <a:off x="1926771" y="3160013"/>
            <a:ext cx="5769429" cy="1148941"/>
            <a:chOff x="1926771" y="3160013"/>
            <a:chExt cx="5769429" cy="1148941"/>
          </a:xfrm>
        </p:grpSpPr>
        <p:sp>
          <p:nvSpPr>
            <p:cNvPr id="27" name="מלבן 26">
              <a:extLst>
                <a:ext uri="{FF2B5EF4-FFF2-40B4-BE49-F238E27FC236}">
                  <a16:creationId xmlns:a16="http://schemas.microsoft.com/office/drawing/2014/main" id="{5707CA7A-5A22-7311-9865-250FA4E2156D}"/>
                </a:ext>
              </a:extLst>
            </p:cNvPr>
            <p:cNvSpPr/>
            <p:nvPr/>
          </p:nvSpPr>
          <p:spPr>
            <a:xfrm>
              <a:off x="1926771" y="3733800"/>
              <a:ext cx="5769429" cy="57515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28" name="מלבן 27">
              <a:extLst>
                <a:ext uri="{FF2B5EF4-FFF2-40B4-BE49-F238E27FC236}">
                  <a16:creationId xmlns:a16="http://schemas.microsoft.com/office/drawing/2014/main" id="{332283CD-266C-DCDB-2452-BC05967747C9}"/>
                </a:ext>
              </a:extLst>
            </p:cNvPr>
            <p:cNvSpPr/>
            <p:nvPr/>
          </p:nvSpPr>
          <p:spPr>
            <a:xfrm>
              <a:off x="5130311" y="3581400"/>
              <a:ext cx="392137" cy="57515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29" name="מלבן 28">
              <a:extLst>
                <a:ext uri="{FF2B5EF4-FFF2-40B4-BE49-F238E27FC236}">
                  <a16:creationId xmlns:a16="http://schemas.microsoft.com/office/drawing/2014/main" id="{350AC2A1-D02A-3D52-C846-5C1261C311F8}"/>
                </a:ext>
              </a:extLst>
            </p:cNvPr>
            <p:cNvSpPr/>
            <p:nvPr/>
          </p:nvSpPr>
          <p:spPr>
            <a:xfrm>
              <a:off x="5130311" y="3160013"/>
              <a:ext cx="392137" cy="36600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grpSp>
      <p:grpSp>
        <p:nvGrpSpPr>
          <p:cNvPr id="37" name="קבוצה 36">
            <a:extLst>
              <a:ext uri="{FF2B5EF4-FFF2-40B4-BE49-F238E27FC236}">
                <a16:creationId xmlns:a16="http://schemas.microsoft.com/office/drawing/2014/main" id="{17BCE836-518F-2660-7A90-59661E882677}"/>
              </a:ext>
            </a:extLst>
          </p:cNvPr>
          <p:cNvGrpSpPr/>
          <p:nvPr/>
        </p:nvGrpSpPr>
        <p:grpSpPr>
          <a:xfrm>
            <a:off x="4000500" y="822945"/>
            <a:ext cx="5248275" cy="1689395"/>
            <a:chOff x="4000500" y="822945"/>
            <a:chExt cx="5248275" cy="1689395"/>
          </a:xfrm>
        </p:grpSpPr>
        <p:sp>
          <p:nvSpPr>
            <p:cNvPr id="31" name="מלבן 30">
              <a:extLst>
                <a:ext uri="{FF2B5EF4-FFF2-40B4-BE49-F238E27FC236}">
                  <a16:creationId xmlns:a16="http://schemas.microsoft.com/office/drawing/2014/main" id="{A1C17743-C1FD-FCCF-3794-F2DD4989FD67}"/>
                </a:ext>
              </a:extLst>
            </p:cNvPr>
            <p:cNvSpPr/>
            <p:nvPr/>
          </p:nvSpPr>
          <p:spPr>
            <a:xfrm>
              <a:off x="4000500" y="822945"/>
              <a:ext cx="5248275" cy="7038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32" name="מלבן 31">
              <a:extLst>
                <a:ext uri="{FF2B5EF4-FFF2-40B4-BE49-F238E27FC236}">
                  <a16:creationId xmlns:a16="http://schemas.microsoft.com/office/drawing/2014/main" id="{C8B64C0B-FEC6-BE5F-B633-DAC0D7A64070}"/>
                </a:ext>
              </a:extLst>
            </p:cNvPr>
            <p:cNvSpPr/>
            <p:nvPr/>
          </p:nvSpPr>
          <p:spPr>
            <a:xfrm>
              <a:off x="6582377" y="1808517"/>
              <a:ext cx="716279" cy="7038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33" name="מלבן 32">
              <a:extLst>
                <a:ext uri="{FF2B5EF4-FFF2-40B4-BE49-F238E27FC236}">
                  <a16:creationId xmlns:a16="http://schemas.microsoft.com/office/drawing/2014/main" id="{BB8FF695-0F66-D274-F294-54CEA723D7C7}"/>
                </a:ext>
              </a:extLst>
            </p:cNvPr>
            <p:cNvSpPr/>
            <p:nvPr/>
          </p:nvSpPr>
          <p:spPr>
            <a:xfrm>
              <a:off x="7390278" y="1808517"/>
              <a:ext cx="524997" cy="7038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35" name="מלבן 34">
              <a:extLst>
                <a:ext uri="{FF2B5EF4-FFF2-40B4-BE49-F238E27FC236}">
                  <a16:creationId xmlns:a16="http://schemas.microsoft.com/office/drawing/2014/main" id="{390AB169-006F-072A-6805-99FEFC7CF904}"/>
                </a:ext>
              </a:extLst>
            </p:cNvPr>
            <p:cNvSpPr/>
            <p:nvPr/>
          </p:nvSpPr>
          <p:spPr>
            <a:xfrm>
              <a:off x="6377420" y="1639567"/>
              <a:ext cx="524997" cy="7038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36" name="מלבן 35">
              <a:extLst>
                <a:ext uri="{FF2B5EF4-FFF2-40B4-BE49-F238E27FC236}">
                  <a16:creationId xmlns:a16="http://schemas.microsoft.com/office/drawing/2014/main" id="{09DF93E8-3B87-5E05-6DDF-E1D735A25C79}"/>
                </a:ext>
              </a:extLst>
            </p:cNvPr>
            <p:cNvSpPr/>
            <p:nvPr/>
          </p:nvSpPr>
          <p:spPr>
            <a:xfrm>
              <a:off x="7663543" y="1624025"/>
              <a:ext cx="524997" cy="7038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grpSp>
      <p:sp>
        <p:nvSpPr>
          <p:cNvPr id="41" name="מלבן 40">
            <a:extLst>
              <a:ext uri="{FF2B5EF4-FFF2-40B4-BE49-F238E27FC236}">
                <a16:creationId xmlns:a16="http://schemas.microsoft.com/office/drawing/2014/main" id="{3B892DAE-489C-BAF8-DC5B-E29F19602742}"/>
              </a:ext>
            </a:extLst>
          </p:cNvPr>
          <p:cNvSpPr/>
          <p:nvPr/>
        </p:nvSpPr>
        <p:spPr>
          <a:xfrm>
            <a:off x="9248775" y="4461354"/>
            <a:ext cx="371081" cy="64225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grpSp>
        <p:nvGrpSpPr>
          <p:cNvPr id="49" name="קבוצה 48">
            <a:extLst>
              <a:ext uri="{FF2B5EF4-FFF2-40B4-BE49-F238E27FC236}">
                <a16:creationId xmlns:a16="http://schemas.microsoft.com/office/drawing/2014/main" id="{C765831D-A4C5-48EC-84C3-9A6374052BD7}"/>
              </a:ext>
            </a:extLst>
          </p:cNvPr>
          <p:cNvGrpSpPr/>
          <p:nvPr/>
        </p:nvGrpSpPr>
        <p:grpSpPr>
          <a:xfrm>
            <a:off x="4811485" y="2233195"/>
            <a:ext cx="4942115" cy="3360272"/>
            <a:chOff x="4811485" y="2233195"/>
            <a:chExt cx="4942115" cy="3360272"/>
          </a:xfrm>
        </p:grpSpPr>
        <p:sp>
          <p:nvSpPr>
            <p:cNvPr id="39" name="מלבן 38">
              <a:extLst>
                <a:ext uri="{FF2B5EF4-FFF2-40B4-BE49-F238E27FC236}">
                  <a16:creationId xmlns:a16="http://schemas.microsoft.com/office/drawing/2014/main" id="{651B9324-4DBE-4BA7-AD7F-D0950E76F3EA}"/>
                </a:ext>
              </a:extLst>
            </p:cNvPr>
            <p:cNvSpPr/>
            <p:nvPr/>
          </p:nvSpPr>
          <p:spPr>
            <a:xfrm>
              <a:off x="4811485" y="4951210"/>
              <a:ext cx="4942115" cy="64225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40" name="מלבן 39">
              <a:extLst>
                <a:ext uri="{FF2B5EF4-FFF2-40B4-BE49-F238E27FC236}">
                  <a16:creationId xmlns:a16="http://schemas.microsoft.com/office/drawing/2014/main" id="{3CC5E8B7-5911-37D5-FD0F-9FFA12B688A5}"/>
                </a:ext>
              </a:extLst>
            </p:cNvPr>
            <p:cNvSpPr/>
            <p:nvPr/>
          </p:nvSpPr>
          <p:spPr>
            <a:xfrm>
              <a:off x="9074882" y="2233543"/>
              <a:ext cx="232596" cy="238743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42" name="מלבן 41">
              <a:extLst>
                <a:ext uri="{FF2B5EF4-FFF2-40B4-BE49-F238E27FC236}">
                  <a16:creationId xmlns:a16="http://schemas.microsoft.com/office/drawing/2014/main" id="{3F4E6D8B-C30A-24D8-91BE-8115A56D0646}"/>
                </a:ext>
              </a:extLst>
            </p:cNvPr>
            <p:cNvSpPr/>
            <p:nvPr/>
          </p:nvSpPr>
          <p:spPr>
            <a:xfrm>
              <a:off x="8767473" y="4474545"/>
              <a:ext cx="371081" cy="24491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43" name="מלבן 42">
              <a:extLst>
                <a:ext uri="{FF2B5EF4-FFF2-40B4-BE49-F238E27FC236}">
                  <a16:creationId xmlns:a16="http://schemas.microsoft.com/office/drawing/2014/main" id="{42D3CF0A-A625-47D7-EFA2-3E4277094C3D}"/>
                </a:ext>
              </a:extLst>
            </p:cNvPr>
            <p:cNvSpPr/>
            <p:nvPr/>
          </p:nvSpPr>
          <p:spPr>
            <a:xfrm>
              <a:off x="7696200" y="3596780"/>
              <a:ext cx="371081" cy="116993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44" name="מלבן 43">
              <a:extLst>
                <a:ext uri="{FF2B5EF4-FFF2-40B4-BE49-F238E27FC236}">
                  <a16:creationId xmlns:a16="http://schemas.microsoft.com/office/drawing/2014/main" id="{3B491930-3204-1C8F-9A89-33A091E73670}"/>
                </a:ext>
              </a:extLst>
            </p:cNvPr>
            <p:cNvSpPr/>
            <p:nvPr/>
          </p:nvSpPr>
          <p:spPr>
            <a:xfrm>
              <a:off x="7946322" y="4530153"/>
              <a:ext cx="724822" cy="18930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45" name="מלבן 44">
              <a:extLst>
                <a:ext uri="{FF2B5EF4-FFF2-40B4-BE49-F238E27FC236}">
                  <a16:creationId xmlns:a16="http://schemas.microsoft.com/office/drawing/2014/main" id="{A9B6F457-94FA-2D7D-476E-06A833296398}"/>
                </a:ext>
              </a:extLst>
            </p:cNvPr>
            <p:cNvSpPr/>
            <p:nvPr/>
          </p:nvSpPr>
          <p:spPr>
            <a:xfrm>
              <a:off x="7720831" y="2350177"/>
              <a:ext cx="371081" cy="116993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46" name="מלבן 45">
              <a:extLst>
                <a:ext uri="{FF2B5EF4-FFF2-40B4-BE49-F238E27FC236}">
                  <a16:creationId xmlns:a16="http://schemas.microsoft.com/office/drawing/2014/main" id="{3472C393-89E1-2BB3-372B-5BF4CA1B5BC0}"/>
                </a:ext>
              </a:extLst>
            </p:cNvPr>
            <p:cNvSpPr/>
            <p:nvPr/>
          </p:nvSpPr>
          <p:spPr>
            <a:xfrm>
              <a:off x="7964141" y="2233195"/>
              <a:ext cx="724822" cy="18930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47" name="מלבן 46">
              <a:extLst>
                <a:ext uri="{FF2B5EF4-FFF2-40B4-BE49-F238E27FC236}">
                  <a16:creationId xmlns:a16="http://schemas.microsoft.com/office/drawing/2014/main" id="{241BA2C5-E14F-F540-93CE-50C267CA53F8}"/>
                </a:ext>
              </a:extLst>
            </p:cNvPr>
            <p:cNvSpPr/>
            <p:nvPr/>
          </p:nvSpPr>
          <p:spPr>
            <a:xfrm>
              <a:off x="8797946" y="2255523"/>
              <a:ext cx="724822" cy="18930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48" name="מלבן 47">
              <a:extLst>
                <a:ext uri="{FF2B5EF4-FFF2-40B4-BE49-F238E27FC236}">
                  <a16:creationId xmlns:a16="http://schemas.microsoft.com/office/drawing/2014/main" id="{9BAEE7C2-C7E3-B9F5-D9BA-4D1066EB3AAD}"/>
                </a:ext>
              </a:extLst>
            </p:cNvPr>
            <p:cNvSpPr/>
            <p:nvPr/>
          </p:nvSpPr>
          <p:spPr>
            <a:xfrm>
              <a:off x="6825262" y="3188790"/>
              <a:ext cx="724822" cy="26803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grpSp>
      <p:sp>
        <p:nvSpPr>
          <p:cNvPr id="50" name="מלבן 49">
            <a:extLst>
              <a:ext uri="{FF2B5EF4-FFF2-40B4-BE49-F238E27FC236}">
                <a16:creationId xmlns:a16="http://schemas.microsoft.com/office/drawing/2014/main" id="{4F0DE724-EDE0-CC08-77C9-77FE8CDAF307}"/>
              </a:ext>
            </a:extLst>
          </p:cNvPr>
          <p:cNvSpPr/>
          <p:nvPr/>
        </p:nvSpPr>
        <p:spPr>
          <a:xfrm>
            <a:off x="9316338" y="1140334"/>
            <a:ext cx="807661" cy="18885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
        <p:nvSpPr>
          <p:cNvPr id="53" name="מלבן 52">
            <a:extLst>
              <a:ext uri="{FF2B5EF4-FFF2-40B4-BE49-F238E27FC236}">
                <a16:creationId xmlns:a16="http://schemas.microsoft.com/office/drawing/2014/main" id="{3A13262F-5274-023C-871D-9A47A2D27B45}"/>
              </a:ext>
            </a:extLst>
          </p:cNvPr>
          <p:cNvSpPr/>
          <p:nvPr/>
        </p:nvSpPr>
        <p:spPr>
          <a:xfrm>
            <a:off x="1605405" y="5705151"/>
            <a:ext cx="9247890" cy="8774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spTree>
    <p:extLst>
      <p:ext uri="{BB962C8B-B14F-4D97-AF65-F5344CB8AC3E}">
        <p14:creationId xmlns:p14="http://schemas.microsoft.com/office/powerpoint/2010/main" val="3162855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9"/>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50" grpId="0" animBg="1"/>
      <p:bldP spid="5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5223A-E68B-E979-0E90-0DE623982D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E37E95-4E55-70D1-560F-DC3BA0AE2C0E}"/>
              </a:ext>
            </a:extLst>
          </p:cNvPr>
          <p:cNvSpPr>
            <a:spLocks noGrp="1"/>
          </p:cNvSpPr>
          <p:nvPr>
            <p:ph type="title"/>
          </p:nvPr>
        </p:nvSpPr>
        <p:spPr>
          <a:xfrm>
            <a:off x="3279475" y="356745"/>
            <a:ext cx="6702725" cy="575154"/>
          </a:xfrm>
        </p:spPr>
        <p:txBody>
          <a:bodyPr>
            <a:normAutofit fontScale="90000"/>
          </a:bodyPr>
          <a:lstStyle/>
          <a:p>
            <a:pPr algn="ctr"/>
            <a:r>
              <a:rPr lang="en-US" b="1" dirty="0"/>
              <a:t>Engineering Motivation</a:t>
            </a:r>
          </a:p>
        </p:txBody>
      </p:sp>
      <p:pic>
        <p:nvPicPr>
          <p:cNvPr id="6" name="Picture 5">
            <a:extLst>
              <a:ext uri="{FF2B5EF4-FFF2-40B4-BE49-F238E27FC236}">
                <a16:creationId xmlns:a16="http://schemas.microsoft.com/office/drawing/2014/main" id="{055B8035-A340-4448-D3EB-4F201CDBCC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13760B97-6D35-050F-6E62-D9AA0D1BEDA5}"/>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D236E8A7-DAF9-B907-ECCF-2222CDC767F7}"/>
              </a:ext>
            </a:extLst>
          </p:cNvPr>
          <p:cNvSpPr>
            <a:spLocks noGrp="1"/>
          </p:cNvSpPr>
          <p:nvPr>
            <p:ph type="sldNum" sz="quarter" idx="12"/>
          </p:nvPr>
        </p:nvSpPr>
        <p:spPr/>
        <p:txBody>
          <a:bodyPr/>
          <a:lstStyle/>
          <a:p>
            <a:fld id="{397A11E8-8F25-49C3-8F7D-865FECFDFD18}" type="slidenum">
              <a:rPr lang="en-US" smtClean="0"/>
              <a:t>4</a:t>
            </a:fld>
            <a:endParaRPr lang="en-US"/>
          </a:p>
        </p:txBody>
      </p:sp>
      <p:sp>
        <p:nvSpPr>
          <p:cNvPr id="2" name="TextBox 1">
            <a:extLst>
              <a:ext uri="{FF2B5EF4-FFF2-40B4-BE49-F238E27FC236}">
                <a16:creationId xmlns:a16="http://schemas.microsoft.com/office/drawing/2014/main" id="{F1EA2F02-ABF0-8D37-C29B-796CB13B157E}"/>
              </a:ext>
            </a:extLst>
          </p:cNvPr>
          <p:cNvSpPr txBox="1"/>
          <p:nvPr/>
        </p:nvSpPr>
        <p:spPr>
          <a:xfrm>
            <a:off x="267419" y="1461331"/>
            <a:ext cx="11477270" cy="4893647"/>
          </a:xfrm>
          <a:prstGeom prst="rect">
            <a:avLst/>
          </a:prstGeom>
          <a:noFill/>
        </p:spPr>
        <p:txBody>
          <a:bodyPr wrap="square" rtlCol="0">
            <a:spAutoFit/>
          </a:bodyPr>
          <a:lstStyle/>
          <a:p>
            <a:r>
              <a:rPr lang="en-US" sz="2400" b="1" dirty="0"/>
              <a:t>🟦 What is a DPLL?</a:t>
            </a:r>
          </a:p>
          <a:p>
            <a:pPr marL="342900" indent="-342900">
              <a:buFont typeface="Arial" panose="020B0604020202020204" pitchFamily="34" charset="0"/>
              <a:buChar char="•"/>
            </a:pPr>
            <a:endParaRPr lang="he-IL" sz="2400" dirty="0"/>
          </a:p>
          <a:p>
            <a:pPr marL="342900" indent="-342900">
              <a:buFont typeface="Arial" panose="020B0604020202020204" pitchFamily="34" charset="0"/>
              <a:buChar char="•"/>
            </a:pPr>
            <a:r>
              <a:rPr lang="en-US" sz="2400" dirty="0"/>
              <a:t>A </a:t>
            </a:r>
            <a:r>
              <a:rPr lang="en-US" sz="2400" b="1" dirty="0"/>
              <a:t>Digital Phase-Locked Loop (DPLL)</a:t>
            </a:r>
            <a:r>
              <a:rPr lang="en-US" sz="2400" dirty="0"/>
              <a:t> is a closed-loop system that synchronizes an internal oscillator to a reference clock.</a:t>
            </a:r>
            <a:endParaRPr lang="he-IL"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It is commonly used in </a:t>
            </a:r>
            <a:r>
              <a:rPr lang="en-US" sz="2400" b="1" dirty="0"/>
              <a:t>clock generation</a:t>
            </a:r>
            <a:r>
              <a:rPr lang="en-US" sz="2400" dirty="0"/>
              <a:t>, </a:t>
            </a:r>
            <a:r>
              <a:rPr lang="en-US" sz="2400" b="1" dirty="0"/>
              <a:t>frequency synthesis</a:t>
            </a:r>
            <a:r>
              <a:rPr lang="en-US" sz="2400" dirty="0"/>
              <a:t>, and </a:t>
            </a:r>
            <a:r>
              <a:rPr lang="en-US" sz="2400" b="1" dirty="0"/>
              <a:t>data recovery</a:t>
            </a:r>
            <a:r>
              <a:rPr lang="en-US" sz="2400" dirty="0"/>
              <a:t> in modern SoCs.</a:t>
            </a:r>
            <a:endParaRPr lang="he-IL" sz="2400" dirty="0"/>
          </a:p>
          <a:p>
            <a:endParaRPr lang="en-US" sz="2400" dirty="0"/>
          </a:p>
          <a:p>
            <a:pPr marL="342900" indent="-342900">
              <a:buFont typeface="Arial" panose="020B0604020202020204" pitchFamily="34" charset="0"/>
              <a:buChar char="•"/>
            </a:pPr>
            <a:r>
              <a:rPr lang="en-US" sz="2400" dirty="0"/>
              <a:t>The reference clock is typically generated by a </a:t>
            </a:r>
            <a:r>
              <a:rPr lang="en-US" sz="2400" b="1" dirty="0"/>
              <a:t>quartz crystal oscillator</a:t>
            </a:r>
            <a:r>
              <a:rPr lang="en-US" sz="2400" dirty="0"/>
              <a:t>, which provides a </a:t>
            </a:r>
            <a:r>
              <a:rPr lang="en-US" sz="2400" b="1" dirty="0"/>
              <a:t>precise but low-frequency signal</a:t>
            </a:r>
            <a:r>
              <a:rPr lang="en-US" sz="2400" dirty="0"/>
              <a:t>.</a:t>
            </a:r>
          </a:p>
          <a:p>
            <a:pPr marL="342900" indent="-342900">
              <a:buFont typeface="Arial" panose="020B0604020202020204" pitchFamily="34" charset="0"/>
              <a:buChar char="•"/>
            </a:pPr>
            <a:endParaRPr lang="he-IL" sz="2400" dirty="0"/>
          </a:p>
          <a:p>
            <a:pPr marL="342900" indent="-342900">
              <a:buFont typeface="Arial" panose="020B0604020202020204" pitchFamily="34" charset="0"/>
              <a:buChar char="•"/>
            </a:pPr>
            <a:r>
              <a:rPr lang="en-US" sz="2400" dirty="0"/>
              <a:t>The DPLL uses this reference to </a:t>
            </a:r>
            <a:r>
              <a:rPr lang="en-US" sz="2400" b="1" dirty="0"/>
              <a:t>generate a higher-frequency, low-jitter clock</a:t>
            </a:r>
            <a:r>
              <a:rPr lang="en-US" sz="2400" dirty="0"/>
              <a:t> by continuously adjusting its internal oscillator (VCO) through feedback.</a:t>
            </a:r>
          </a:p>
        </p:txBody>
      </p:sp>
      <p:pic>
        <p:nvPicPr>
          <p:cNvPr id="7" name="Picture 6">
            <a:extLst>
              <a:ext uri="{FF2B5EF4-FFF2-40B4-BE49-F238E27FC236}">
                <a16:creationId xmlns:a16="http://schemas.microsoft.com/office/drawing/2014/main" id="{7A05B105-E68A-4B63-E3DA-E107894C58A3}"/>
              </a:ext>
            </a:extLst>
          </p:cNvPr>
          <p:cNvPicPr>
            <a:picLocks noChangeAspect="1"/>
          </p:cNvPicPr>
          <p:nvPr/>
        </p:nvPicPr>
        <p:blipFill>
          <a:blip r:embed="rId4"/>
          <a:stretch>
            <a:fillRect/>
          </a:stretch>
        </p:blipFill>
        <p:spPr>
          <a:xfrm>
            <a:off x="10893991" y="77582"/>
            <a:ext cx="942788" cy="877475"/>
          </a:xfrm>
          <a:prstGeom prst="rect">
            <a:avLst/>
          </a:prstGeom>
        </p:spPr>
      </p:pic>
    </p:spTree>
    <p:extLst>
      <p:ext uri="{BB962C8B-B14F-4D97-AF65-F5344CB8AC3E}">
        <p14:creationId xmlns:p14="http://schemas.microsoft.com/office/powerpoint/2010/main" val="2391239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D21EB-95A1-3E18-0892-121EE58D85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AB2639-B6C2-9D2C-81FB-90A8F175D7AE}"/>
              </a:ext>
            </a:extLst>
          </p:cNvPr>
          <p:cNvSpPr>
            <a:spLocks noGrp="1"/>
          </p:cNvSpPr>
          <p:nvPr>
            <p:ph type="title"/>
          </p:nvPr>
        </p:nvSpPr>
        <p:spPr>
          <a:xfrm>
            <a:off x="3279475" y="356745"/>
            <a:ext cx="6702725" cy="575154"/>
          </a:xfrm>
        </p:spPr>
        <p:txBody>
          <a:bodyPr>
            <a:normAutofit fontScale="90000"/>
          </a:bodyPr>
          <a:lstStyle/>
          <a:p>
            <a:pPr algn="ctr"/>
            <a:r>
              <a:rPr lang="en-US" b="1" dirty="0"/>
              <a:t>Engineering Motivation</a:t>
            </a:r>
          </a:p>
        </p:txBody>
      </p:sp>
      <p:pic>
        <p:nvPicPr>
          <p:cNvPr id="6" name="Picture 5">
            <a:extLst>
              <a:ext uri="{FF2B5EF4-FFF2-40B4-BE49-F238E27FC236}">
                <a16:creationId xmlns:a16="http://schemas.microsoft.com/office/drawing/2014/main" id="{10082298-D947-7D00-5038-76E02A9857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066DD37A-C399-7B86-5008-8A7B446D5621}"/>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B3C65AAA-4ECC-95A3-D289-AD9F4824CE01}"/>
              </a:ext>
            </a:extLst>
          </p:cNvPr>
          <p:cNvSpPr>
            <a:spLocks noGrp="1"/>
          </p:cNvSpPr>
          <p:nvPr>
            <p:ph type="sldNum" sz="quarter" idx="12"/>
          </p:nvPr>
        </p:nvSpPr>
        <p:spPr/>
        <p:txBody>
          <a:bodyPr/>
          <a:lstStyle/>
          <a:p>
            <a:fld id="{397A11E8-8F25-49C3-8F7D-865FECFDFD18}" type="slidenum">
              <a:rPr lang="en-US" smtClean="0"/>
              <a:t>5</a:t>
            </a:fld>
            <a:endParaRPr lang="en-US"/>
          </a:p>
        </p:txBody>
      </p:sp>
      <p:sp>
        <p:nvSpPr>
          <p:cNvPr id="2" name="TextBox 1">
            <a:extLst>
              <a:ext uri="{FF2B5EF4-FFF2-40B4-BE49-F238E27FC236}">
                <a16:creationId xmlns:a16="http://schemas.microsoft.com/office/drawing/2014/main" id="{01EAF3AD-C145-774E-C0AD-27F1E69C7EF4}"/>
              </a:ext>
            </a:extLst>
          </p:cNvPr>
          <p:cNvSpPr txBox="1"/>
          <p:nvPr/>
        </p:nvSpPr>
        <p:spPr>
          <a:xfrm>
            <a:off x="267419" y="1461331"/>
            <a:ext cx="11477270" cy="4647426"/>
          </a:xfrm>
          <a:prstGeom prst="rect">
            <a:avLst/>
          </a:prstGeom>
          <a:noFill/>
        </p:spPr>
        <p:txBody>
          <a:bodyPr wrap="square" rtlCol="0">
            <a:spAutoFit/>
          </a:bodyPr>
          <a:lstStyle/>
          <a:p>
            <a:r>
              <a:rPr lang="en-US" sz="2400" dirty="0"/>
              <a:t>🟦 </a:t>
            </a:r>
            <a:r>
              <a:rPr lang="en-US" sz="2400" b="1" dirty="0"/>
              <a:t>Why Clean Supply Matters: VCO &amp; TDC</a:t>
            </a:r>
            <a:endParaRPr lang="he-IL" sz="2400" b="1" dirty="0"/>
          </a:p>
          <a:p>
            <a:endParaRPr lang="he-IL" sz="2400" dirty="0"/>
          </a:p>
          <a:p>
            <a:pPr marL="342900" indent="-342900">
              <a:buFont typeface="Arial" panose="020B0604020202020204" pitchFamily="34" charset="0"/>
              <a:buChar char="•"/>
            </a:pPr>
            <a:r>
              <a:rPr lang="en-US" sz="2400" b="1" dirty="0"/>
              <a:t>VCO (Voltage-Controlled Oscillator</a:t>
            </a:r>
            <a:r>
              <a:rPr lang="en-US" sz="2400" dirty="0"/>
              <a:t>)  generates a clock signal whose </a:t>
            </a:r>
            <a:r>
              <a:rPr lang="en-US" sz="2400" b="1" dirty="0"/>
              <a:t>frequency depends on voltage</a:t>
            </a:r>
            <a:r>
              <a:rPr lang="en-US" sz="2400" dirty="0"/>
              <a:t>.</a:t>
            </a:r>
            <a:br>
              <a:rPr lang="en-US" sz="2400" dirty="0"/>
            </a:br>
            <a:r>
              <a:rPr lang="en-US" sz="2800" b="1" dirty="0"/>
              <a:t>→</a:t>
            </a:r>
            <a:r>
              <a:rPr lang="en-US" sz="2400" dirty="0"/>
              <a:t> Supply noise causes </a:t>
            </a:r>
            <a:r>
              <a:rPr lang="en-US" sz="2400" b="1" dirty="0"/>
              <a:t>jitter</a:t>
            </a:r>
            <a:r>
              <a:rPr lang="en-US" sz="2400" dirty="0"/>
              <a:t> and frequency errors.</a:t>
            </a:r>
            <a:endParaRPr lang="he-IL" sz="2400" dirty="0"/>
          </a:p>
          <a:p>
            <a:pPr marL="342900" indent="-342900">
              <a:buFont typeface="Arial" panose="020B0604020202020204" pitchFamily="34" charset="0"/>
              <a:buChar char="•"/>
            </a:pPr>
            <a:endParaRPr lang="he-IL" sz="2400" dirty="0"/>
          </a:p>
          <a:p>
            <a:pPr marL="342900" indent="-342900">
              <a:buFont typeface="Arial" panose="020B0604020202020204" pitchFamily="34" charset="0"/>
              <a:buChar char="•"/>
            </a:pPr>
            <a:r>
              <a:rPr lang="en-US" sz="2400" b="1" dirty="0"/>
              <a:t>TDC (Time-to-Digital Converter)</a:t>
            </a:r>
            <a:r>
              <a:rPr lang="en-US" sz="2400" dirty="0"/>
              <a:t> measures time differences with </a:t>
            </a:r>
            <a:r>
              <a:rPr lang="en-US" sz="2400" b="1" dirty="0"/>
              <a:t>picosecond accuracy</a:t>
            </a:r>
            <a:r>
              <a:rPr lang="en-US" sz="2400" dirty="0"/>
              <a:t>.</a:t>
            </a:r>
            <a:br>
              <a:rPr lang="en-US" sz="2400" dirty="0"/>
            </a:br>
            <a:r>
              <a:rPr lang="en-US" sz="2800" b="1" dirty="0"/>
              <a:t>→</a:t>
            </a:r>
            <a:r>
              <a:rPr lang="en-US" sz="2400" dirty="0"/>
              <a:t> Voltage fluctuations lead to </a:t>
            </a:r>
            <a:r>
              <a:rPr lang="en-US" sz="2400" b="1" dirty="0"/>
              <a:t>timing inaccuracy</a:t>
            </a:r>
            <a:r>
              <a:rPr lang="en-US" sz="2400" dirty="0"/>
              <a:t>.</a:t>
            </a:r>
            <a:endParaRPr lang="he-IL" sz="2400" dirty="0"/>
          </a:p>
          <a:p>
            <a:endParaRPr lang="he-IL" sz="2400" dirty="0"/>
          </a:p>
          <a:p>
            <a:endParaRPr lang="en-US" sz="2400" dirty="0"/>
          </a:p>
          <a:p>
            <a:r>
              <a:rPr lang="en-US" sz="2400" dirty="0"/>
              <a:t>🔌 Both blocks are </a:t>
            </a:r>
            <a:r>
              <a:rPr lang="en-US" sz="2400" b="1" u="sng" dirty="0"/>
              <a:t>highly sensitive</a:t>
            </a:r>
            <a:r>
              <a:rPr lang="en-US" sz="2400" dirty="0"/>
              <a:t> to power supply variations.</a:t>
            </a:r>
            <a:br>
              <a:rPr lang="en-US" sz="2400" dirty="0"/>
            </a:br>
            <a:r>
              <a:rPr lang="en-US" sz="2400" dirty="0"/>
              <a:t>🔒 A stable and low-noise LDO is essential to maintain </a:t>
            </a:r>
            <a:r>
              <a:rPr lang="en-US" sz="2400" b="1" dirty="0"/>
              <a:t>DPLL performance</a:t>
            </a:r>
            <a:r>
              <a:rPr lang="en-US" sz="2400" dirty="0"/>
              <a:t>.</a:t>
            </a:r>
          </a:p>
        </p:txBody>
      </p:sp>
      <p:pic>
        <p:nvPicPr>
          <p:cNvPr id="7" name="Picture 6">
            <a:extLst>
              <a:ext uri="{FF2B5EF4-FFF2-40B4-BE49-F238E27FC236}">
                <a16:creationId xmlns:a16="http://schemas.microsoft.com/office/drawing/2014/main" id="{9BC7D080-38C9-D6A5-E0A3-9D1BA8EC5E5E}"/>
              </a:ext>
            </a:extLst>
          </p:cNvPr>
          <p:cNvPicPr>
            <a:picLocks noChangeAspect="1"/>
          </p:cNvPicPr>
          <p:nvPr/>
        </p:nvPicPr>
        <p:blipFill>
          <a:blip r:embed="rId4"/>
          <a:stretch>
            <a:fillRect/>
          </a:stretch>
        </p:blipFill>
        <p:spPr>
          <a:xfrm>
            <a:off x="10893991" y="77582"/>
            <a:ext cx="942788" cy="877475"/>
          </a:xfrm>
          <a:prstGeom prst="rect">
            <a:avLst/>
          </a:prstGeom>
        </p:spPr>
      </p:pic>
    </p:spTree>
    <p:extLst>
      <p:ext uri="{BB962C8B-B14F-4D97-AF65-F5344CB8AC3E}">
        <p14:creationId xmlns:p14="http://schemas.microsoft.com/office/powerpoint/2010/main" val="3286189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BF339-6B61-C854-DB55-842CE5C97C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40BD53-04BF-B570-846E-1B953DCACF19}"/>
              </a:ext>
            </a:extLst>
          </p:cNvPr>
          <p:cNvSpPr>
            <a:spLocks noGrp="1"/>
          </p:cNvSpPr>
          <p:nvPr>
            <p:ph type="title"/>
          </p:nvPr>
        </p:nvSpPr>
        <p:spPr>
          <a:xfrm>
            <a:off x="3279475" y="356745"/>
            <a:ext cx="6702725" cy="575154"/>
          </a:xfrm>
        </p:spPr>
        <p:txBody>
          <a:bodyPr>
            <a:normAutofit fontScale="90000"/>
          </a:bodyPr>
          <a:lstStyle/>
          <a:p>
            <a:pPr algn="ctr"/>
            <a:r>
              <a:rPr lang="en-IL" b="1" dirty="0"/>
              <a:t> </a:t>
            </a:r>
            <a:r>
              <a:rPr lang="en-US" b="1" dirty="0"/>
              <a:t>Target Specifications</a:t>
            </a:r>
          </a:p>
        </p:txBody>
      </p:sp>
      <p:pic>
        <p:nvPicPr>
          <p:cNvPr id="6" name="Picture 5">
            <a:extLst>
              <a:ext uri="{FF2B5EF4-FFF2-40B4-BE49-F238E27FC236}">
                <a16:creationId xmlns:a16="http://schemas.microsoft.com/office/drawing/2014/main" id="{E00046C3-3E52-9DC2-A005-138B8A925B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2451E830-2E18-E7F4-3DAC-F11DD50B73E6}"/>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9358FBDB-D7F6-7C84-0A09-73582C572144}"/>
              </a:ext>
            </a:extLst>
          </p:cNvPr>
          <p:cNvSpPr>
            <a:spLocks noGrp="1"/>
          </p:cNvSpPr>
          <p:nvPr>
            <p:ph type="sldNum" sz="quarter" idx="12"/>
          </p:nvPr>
        </p:nvSpPr>
        <p:spPr/>
        <p:txBody>
          <a:bodyPr/>
          <a:lstStyle/>
          <a:p>
            <a:fld id="{397A11E8-8F25-49C3-8F7D-865FECFDFD18}" type="slidenum">
              <a:rPr lang="en-US" smtClean="0"/>
              <a:t>6</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B74D408-738B-6D7F-057E-0F245BC5EFC9}"/>
                  </a:ext>
                </a:extLst>
              </p:cNvPr>
              <p:cNvSpPr txBox="1"/>
              <p:nvPr/>
            </p:nvSpPr>
            <p:spPr>
              <a:xfrm>
                <a:off x="267419" y="1461331"/>
                <a:ext cx="11477270" cy="5111977"/>
              </a:xfrm>
              <a:prstGeom prst="rect">
                <a:avLst/>
              </a:prstGeom>
              <a:noFill/>
            </p:spPr>
            <p:txBody>
              <a:bodyPr wrap="square" rtlCol="0">
                <a:spAutoFit/>
              </a:bodyPr>
              <a:lstStyle/>
              <a:p>
                <a:r>
                  <a:rPr lang="en-US" sz="2400" dirty="0"/>
                  <a:t>To ensure proper operation of the DPLL, the LDO must meet the following key requirements:</a:t>
                </a:r>
              </a:p>
              <a:p>
                <a:endParaRPr lang="he-IL" sz="2400" dirty="0"/>
              </a:p>
              <a:p>
                <a:pPr marL="450850" indent="-450850"/>
                <a:r>
                  <a:rPr lang="en-IL" sz="2400" dirty="0"/>
                  <a:t>🔹 </a:t>
                </a:r>
                <a:r>
                  <a:rPr lang="en-US" sz="2400" b="1" dirty="0"/>
                  <a:t>Line Regulation - </a:t>
                </a:r>
                <a:r>
                  <a:rPr lang="en-US" sz="2400" dirty="0"/>
                  <a:t>Measures how much the output voltage changes with variations in input voltage. </a:t>
                </a:r>
                <a14:m>
                  <m:oMath xmlns:m="http://schemas.openxmlformats.org/officeDocument/2006/math">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𝑜𝑢𝑡</m:t>
                                </m:r>
                              </m:sub>
                            </m:sSub>
                          </m:num>
                          <m:den>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𝑉𝐷𝐷</m:t>
                            </m:r>
                          </m:den>
                        </m:f>
                      </m:e>
                    </m:d>
                  </m:oMath>
                </a14:m>
                <a:r>
                  <a:rPr lang="en-US" sz="2400" b="1" dirty="0"/>
                  <a:t>                      Target</a:t>
                </a:r>
                <a:r>
                  <a:rPr lang="en-US" sz="2400" dirty="0"/>
                  <a:t>: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 </m:t>
                    </m:r>
                    <m:r>
                      <a:rPr lang="en-US" sz="2400" i="1" dirty="0" smtClean="0">
                        <a:latin typeface="Cambria Math" panose="02040503050406030204" pitchFamily="18" charset="0"/>
                      </a:rPr>
                      <m:t>10</m:t>
                    </m:r>
                    <m:r>
                      <a:rPr lang="en-US" sz="2400" i="1" dirty="0" smtClean="0">
                        <a:latin typeface="Cambria Math" panose="02040503050406030204" pitchFamily="18" charset="0"/>
                      </a:rPr>
                      <m:t> </m:t>
                    </m:r>
                    <m:r>
                      <a:rPr lang="en-US" sz="2400" i="1" dirty="0" smtClean="0">
                        <a:latin typeface="Cambria Math" panose="02040503050406030204" pitchFamily="18" charset="0"/>
                      </a:rPr>
                      <m:t>𝑚</m:t>
                    </m:r>
                    <m:d>
                      <m:dPr>
                        <m:begChr m:val="["/>
                        <m:endChr m:val="]"/>
                        <m:ctrlPr>
                          <a:rPr lang="en-US" sz="2400" b="0" i="1" dirty="0" smtClean="0">
                            <a:latin typeface="Cambria Math" panose="02040503050406030204" pitchFamily="18" charset="0"/>
                          </a:rPr>
                        </m:ctrlPr>
                      </m:dPr>
                      <m:e>
                        <m:f>
                          <m:fPr>
                            <m:ctrlPr>
                              <a:rPr lang="en-US" sz="2400" b="0" i="1" dirty="0" smtClean="0">
                                <a:latin typeface="Cambria Math" panose="02040503050406030204" pitchFamily="18" charset="0"/>
                              </a:rPr>
                            </m:ctrlPr>
                          </m:fPr>
                          <m:num>
                            <m:r>
                              <a:rPr lang="en-US" sz="2400" i="1" dirty="0" smtClean="0">
                                <a:latin typeface="Cambria Math" panose="02040503050406030204" pitchFamily="18" charset="0"/>
                              </a:rPr>
                              <m:t>𝑉</m:t>
                            </m:r>
                          </m:num>
                          <m:den>
                            <m:r>
                              <a:rPr lang="en-US" sz="2400" b="0" i="1" dirty="0" smtClean="0">
                                <a:latin typeface="Cambria Math" panose="02040503050406030204" pitchFamily="18" charset="0"/>
                              </a:rPr>
                              <m:t>𝑉</m:t>
                            </m:r>
                          </m:den>
                        </m:f>
                      </m:e>
                    </m:d>
                    <m:r>
                      <a:rPr lang="en-US" sz="2400" i="1" dirty="0" smtClean="0">
                        <a:latin typeface="Cambria Math" panose="02040503050406030204" pitchFamily="18" charset="0"/>
                      </a:rPr>
                      <m:t> </m:t>
                    </m:r>
                  </m:oMath>
                </a14:m>
                <a:r>
                  <a:rPr lang="en-US" sz="2400" dirty="0"/>
                  <a:t>across VDD variations</a:t>
                </a:r>
              </a:p>
              <a:p>
                <a:pPr marL="450850" indent="-450850"/>
                <a:endParaRPr lang="he-IL" sz="2400" dirty="0"/>
              </a:p>
              <a:p>
                <a:pPr marL="450850" indent="-450850"/>
                <a:r>
                  <a:rPr lang="en-US" sz="2400" dirty="0"/>
                  <a:t>🔹 </a:t>
                </a:r>
                <a:r>
                  <a:rPr lang="en-US" sz="2400" b="1" dirty="0"/>
                  <a:t>Load Regulation - </a:t>
                </a:r>
                <a:r>
                  <a:rPr lang="en-US" sz="2400" dirty="0"/>
                  <a:t>Indicates stability of the output under changing load currents.</a:t>
                </a:r>
                <a14:m>
                  <m:oMath xmlns:m="http://schemas.openxmlformats.org/officeDocument/2006/math">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m:rPr>
                                <m:sty m:val="p"/>
                              </m:rPr>
                              <a:rPr lang="en-US" sz="2400">
                                <a:latin typeface="Cambria Math" panose="02040503050406030204" pitchFamily="18" charset="0"/>
                              </a:rPr>
                              <m:t>Δ</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𝑜𝑢𝑡</m:t>
                                </m:r>
                              </m:sub>
                            </m:sSub>
                          </m:num>
                          <m:den>
                            <m:r>
                              <m:rPr>
                                <m:sty m:val="p"/>
                              </m:rPr>
                              <a:rPr lang="en-US" sz="240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𝑙𝑜𝑎𝑑</m:t>
                                </m:r>
                              </m:sub>
                            </m:sSub>
                          </m:den>
                        </m:f>
                      </m:e>
                    </m:d>
                  </m:oMath>
                </a14:m>
                <a:r>
                  <a:rPr lang="en-US" sz="2400" b="1" dirty="0"/>
                  <a:t>                              Target</a:t>
                </a:r>
                <a:r>
                  <a:rPr lang="en-US" sz="2400" dirty="0"/>
                  <a:t>: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 </m:t>
                    </m:r>
                    <m:r>
                      <a:rPr lang="en-US" sz="2400" i="1" dirty="0" smtClean="0">
                        <a:latin typeface="Cambria Math" panose="02040503050406030204" pitchFamily="18" charset="0"/>
                      </a:rPr>
                      <m:t>100</m:t>
                    </m:r>
                    <m:r>
                      <a:rPr lang="en-US" sz="2400" i="1" dirty="0" smtClean="0">
                        <a:latin typeface="Cambria Math" panose="02040503050406030204" pitchFamily="18" charset="0"/>
                      </a:rPr>
                      <m:t> </m:t>
                    </m:r>
                    <m:r>
                      <a:rPr lang="en-US" sz="2400" i="1" dirty="0">
                        <a:latin typeface="Cambria Math" panose="02040503050406030204" pitchFamily="18" charset="0"/>
                      </a:rPr>
                      <m:t>𝑚</m:t>
                    </m:r>
                    <m:d>
                      <m:dPr>
                        <m:begChr m:val="["/>
                        <m:endChr m:val="]"/>
                        <m:ctrlPr>
                          <a:rPr lang="en-US" sz="2400" b="0" i="1" dirty="0" smtClean="0">
                            <a:latin typeface="Cambria Math" panose="02040503050406030204" pitchFamily="18" charset="0"/>
                          </a:rPr>
                        </m:ctrlPr>
                      </m:dPr>
                      <m:e>
                        <m:f>
                          <m:fPr>
                            <m:ctrlPr>
                              <a:rPr lang="en-US" sz="2400" b="0" i="1" dirty="0" smtClean="0">
                                <a:latin typeface="Cambria Math" panose="02040503050406030204" pitchFamily="18" charset="0"/>
                              </a:rPr>
                            </m:ctrlPr>
                          </m:fPr>
                          <m:num>
                            <m:r>
                              <a:rPr lang="en-US" sz="2400" i="1" dirty="0">
                                <a:latin typeface="Cambria Math" panose="02040503050406030204" pitchFamily="18" charset="0"/>
                              </a:rPr>
                              <m:t>𝑉</m:t>
                            </m:r>
                          </m:num>
                          <m:den>
                            <m:r>
                              <a:rPr lang="en-US" sz="2400" b="0" i="1" dirty="0" smtClean="0">
                                <a:latin typeface="Cambria Math" panose="02040503050406030204" pitchFamily="18" charset="0"/>
                              </a:rPr>
                              <m:t>𝐴</m:t>
                            </m:r>
                          </m:den>
                        </m:f>
                      </m:e>
                    </m:d>
                    <m:r>
                      <a:rPr lang="en-US" sz="2400" i="1" dirty="0" smtClean="0">
                        <a:latin typeface="Cambria Math" panose="02040503050406030204" pitchFamily="18" charset="0"/>
                      </a:rPr>
                      <m:t> </m:t>
                    </m:r>
                  </m:oMath>
                </a14:m>
                <a:r>
                  <a:rPr lang="en-US" sz="2400" dirty="0"/>
                  <a:t>from 0 to </a:t>
                </a:r>
                <a14:m>
                  <m:oMath xmlns:m="http://schemas.openxmlformats.org/officeDocument/2006/math">
                    <m:r>
                      <a:rPr lang="en-US" sz="2400" b="0" i="1" smtClean="0">
                        <a:latin typeface="Cambria Math" panose="02040503050406030204" pitchFamily="18" charset="0"/>
                      </a:rPr>
                      <m:t>60</m:t>
                    </m:r>
                    <m:r>
                      <a:rPr lang="en-US" sz="2400" b="0" i="1" smtClean="0">
                        <a:latin typeface="Cambria Math" panose="02040503050406030204" pitchFamily="18" charset="0"/>
                      </a:rPr>
                      <m:t>𝑚𝐴</m:t>
                    </m:r>
                  </m:oMath>
                </a14:m>
                <a:r>
                  <a:rPr lang="en-US" sz="2400" dirty="0"/>
                  <a:t>. </a:t>
                </a:r>
              </a:p>
              <a:p>
                <a:pPr marL="342900" indent="-342900">
                  <a:buFont typeface="Arial" panose="020B0604020202020204" pitchFamily="34" charset="0"/>
                  <a:buChar char="•"/>
                </a:pPr>
                <a:endParaRPr lang="en-US" sz="2400" dirty="0"/>
              </a:p>
              <a:p>
                <a:pPr marL="450850" indent="-450850"/>
                <a:r>
                  <a:rPr lang="en-IL" sz="2400" dirty="0"/>
                  <a:t>🔹 </a:t>
                </a:r>
                <a:r>
                  <a:rPr lang="en-US" sz="2400" b="1" dirty="0"/>
                  <a:t>Temperature Coefficient - </a:t>
                </a:r>
                <a:r>
                  <a:rPr lang="en-US" sz="2400" dirty="0"/>
                  <a:t>Measures sensitivity of the output voltage to temperature    changes. </a:t>
                </a:r>
                <a14:m>
                  <m:oMath xmlns:m="http://schemas.openxmlformats.org/officeDocument/2006/math">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𝑜𝑢𝑡</m:t>
                                </m:r>
                              </m:sub>
                            </m:sSub>
                          </m:num>
                          <m:den>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𝑇𝑒𝑚𝑝</m:t>
                            </m:r>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𝑉𝑜𝑢𝑡</m:t>
                                </m:r>
                                <m:r>
                                  <a:rPr lang="en-US" sz="2400" b="0" i="1" smtClean="0">
                                    <a:latin typeface="Cambria Math" panose="02040503050406030204" pitchFamily="18" charset="0"/>
                                  </a:rPr>
                                  <m:t> </m:t>
                                </m:r>
                              </m:e>
                            </m:acc>
                          </m:den>
                        </m:f>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6</m:t>
                            </m:r>
                          </m:sup>
                        </m:sSup>
                      </m:e>
                    </m:d>
                  </m:oMath>
                </a14:m>
                <a:r>
                  <a:rPr lang="en-US" sz="2400" dirty="0"/>
                  <a:t>        </a:t>
                </a:r>
                <a:r>
                  <a:rPr lang="en-US" sz="2400" b="1" dirty="0"/>
                  <a:t>Target</a:t>
                </a:r>
                <a:r>
                  <a:rPr lang="en-US" sz="2400" dirty="0"/>
                  <a:t>: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 </m:t>
                    </m:r>
                    <m:r>
                      <a:rPr lang="en-US" sz="2400" i="1" dirty="0" smtClean="0">
                        <a:latin typeface="Cambria Math" panose="02040503050406030204" pitchFamily="18" charset="0"/>
                      </a:rPr>
                      <m:t>60</m:t>
                    </m:r>
                    <m:r>
                      <a:rPr lang="en-US" sz="2400" i="1" dirty="0" smtClean="0">
                        <a:latin typeface="Cambria Math" panose="02040503050406030204" pitchFamily="18" charset="0"/>
                      </a:rPr>
                      <m:t> </m:t>
                    </m:r>
                    <m:r>
                      <a:rPr lang="en-US" sz="2400" i="1" dirty="0">
                        <a:latin typeface="Cambria Math" panose="02040503050406030204" pitchFamily="18" charset="0"/>
                      </a:rPr>
                      <m:t>𝑝𝑝𝑚</m:t>
                    </m:r>
                    <m:r>
                      <a:rPr lang="en-US" sz="2400" i="1" dirty="0">
                        <a:latin typeface="Cambria Math" panose="02040503050406030204" pitchFamily="18" charset="0"/>
                      </a:rPr>
                      <m:t>/°</m:t>
                    </m:r>
                    <m:r>
                      <a:rPr lang="en-US" sz="2400" i="1" dirty="0">
                        <a:latin typeface="Cambria Math" panose="02040503050406030204" pitchFamily="18" charset="0"/>
                      </a:rPr>
                      <m:t>𝐶</m:t>
                    </m:r>
                    <m:r>
                      <a:rPr lang="en-US" sz="2400" i="1" dirty="0" smtClean="0">
                        <a:latin typeface="Cambria Math" panose="02040503050406030204" pitchFamily="18" charset="0"/>
                      </a:rPr>
                      <m:t> </m:t>
                    </m:r>
                  </m:oMath>
                </a14:m>
                <a:r>
                  <a:rPr lang="en-US" sz="2400" dirty="0"/>
                  <a:t>(parts per million per degree)</a:t>
                </a:r>
                <a:br>
                  <a:rPr lang="en-US" sz="2400" dirty="0"/>
                </a:br>
                <a:endParaRPr lang="en-US" sz="2400" dirty="0"/>
              </a:p>
            </p:txBody>
          </p:sp>
        </mc:Choice>
        <mc:Fallback xmlns="">
          <p:sp>
            <p:nvSpPr>
              <p:cNvPr id="2" name="TextBox 1">
                <a:extLst>
                  <a:ext uri="{FF2B5EF4-FFF2-40B4-BE49-F238E27FC236}">
                    <a16:creationId xmlns:a16="http://schemas.microsoft.com/office/drawing/2014/main" id="{CB74D408-738B-6D7F-057E-0F245BC5EFC9}"/>
                  </a:ext>
                </a:extLst>
              </p:cNvPr>
              <p:cNvSpPr txBox="1">
                <a:spLocks noRot="1" noChangeAspect="1" noMove="1" noResize="1" noEditPoints="1" noAdjustHandles="1" noChangeArrowheads="1" noChangeShapeType="1" noTextEdit="1"/>
              </p:cNvSpPr>
              <p:nvPr/>
            </p:nvSpPr>
            <p:spPr>
              <a:xfrm>
                <a:off x="267419" y="1461331"/>
                <a:ext cx="11477270" cy="5111977"/>
              </a:xfrm>
              <a:prstGeom prst="rect">
                <a:avLst/>
              </a:prstGeom>
              <a:blipFill>
                <a:blip r:embed="rId4"/>
                <a:stretch>
                  <a:fillRect l="-850" t="-955"/>
                </a:stretch>
              </a:blipFill>
            </p:spPr>
            <p:txBody>
              <a:bodyPr/>
              <a:lstStyle/>
              <a:p>
                <a:r>
                  <a:rPr lang="en-IL">
                    <a:noFill/>
                  </a:rPr>
                  <a:t> </a:t>
                </a:r>
              </a:p>
            </p:txBody>
          </p:sp>
        </mc:Fallback>
      </mc:AlternateContent>
      <p:pic>
        <p:nvPicPr>
          <p:cNvPr id="7" name="Picture 6">
            <a:extLst>
              <a:ext uri="{FF2B5EF4-FFF2-40B4-BE49-F238E27FC236}">
                <a16:creationId xmlns:a16="http://schemas.microsoft.com/office/drawing/2014/main" id="{47E18945-01F3-7F2A-0F56-FC884E559F45}"/>
              </a:ext>
            </a:extLst>
          </p:cNvPr>
          <p:cNvPicPr>
            <a:picLocks noChangeAspect="1"/>
          </p:cNvPicPr>
          <p:nvPr/>
        </p:nvPicPr>
        <p:blipFill>
          <a:blip r:embed="rId5"/>
          <a:stretch>
            <a:fillRect/>
          </a:stretch>
        </p:blipFill>
        <p:spPr>
          <a:xfrm>
            <a:off x="10893991" y="77582"/>
            <a:ext cx="942788" cy="877475"/>
          </a:xfrm>
          <a:prstGeom prst="rect">
            <a:avLst/>
          </a:prstGeom>
        </p:spPr>
      </p:pic>
    </p:spTree>
    <p:extLst>
      <p:ext uri="{BB962C8B-B14F-4D97-AF65-F5344CB8AC3E}">
        <p14:creationId xmlns:p14="http://schemas.microsoft.com/office/powerpoint/2010/main" val="2997265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F51C7-D0B1-A270-1E23-DF11EF1672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960BE71-D2AF-18F5-82CC-EC18FE61C1AA}"/>
              </a:ext>
            </a:extLst>
          </p:cNvPr>
          <p:cNvSpPr>
            <a:spLocks noGrp="1"/>
          </p:cNvSpPr>
          <p:nvPr>
            <p:ph type="title"/>
          </p:nvPr>
        </p:nvSpPr>
        <p:spPr>
          <a:xfrm>
            <a:off x="3040939" y="356745"/>
            <a:ext cx="8074325" cy="575154"/>
          </a:xfrm>
        </p:spPr>
        <p:txBody>
          <a:bodyPr>
            <a:normAutofit fontScale="90000"/>
          </a:bodyPr>
          <a:lstStyle/>
          <a:p>
            <a:pPr algn="ctr"/>
            <a:r>
              <a:rPr lang="en-US" b="1" dirty="0"/>
              <a:t>Design Approach – Meeting the Spec</a:t>
            </a:r>
          </a:p>
        </p:txBody>
      </p:sp>
      <p:pic>
        <p:nvPicPr>
          <p:cNvPr id="6" name="Picture 5">
            <a:extLst>
              <a:ext uri="{FF2B5EF4-FFF2-40B4-BE49-F238E27FC236}">
                <a16:creationId xmlns:a16="http://schemas.microsoft.com/office/drawing/2014/main" id="{79B30512-EBB8-3126-CFC2-C25AD22891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604E5A8A-FF93-1421-DD12-6BF98675A74E}"/>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E5B53D5A-2393-67FE-46ED-F4788389DC53}"/>
              </a:ext>
            </a:extLst>
          </p:cNvPr>
          <p:cNvSpPr>
            <a:spLocks noGrp="1"/>
          </p:cNvSpPr>
          <p:nvPr>
            <p:ph type="sldNum" sz="quarter" idx="12"/>
          </p:nvPr>
        </p:nvSpPr>
        <p:spPr/>
        <p:txBody>
          <a:bodyPr/>
          <a:lstStyle/>
          <a:p>
            <a:fld id="{397A11E8-8F25-49C3-8F7D-865FECFDFD18}" type="slidenum">
              <a:rPr lang="en-US" smtClean="0"/>
              <a:t>7</a:t>
            </a:fld>
            <a:endParaRPr lang="en-US"/>
          </a:p>
        </p:txBody>
      </p:sp>
      <p:sp>
        <p:nvSpPr>
          <p:cNvPr id="2" name="TextBox 1">
            <a:extLst>
              <a:ext uri="{FF2B5EF4-FFF2-40B4-BE49-F238E27FC236}">
                <a16:creationId xmlns:a16="http://schemas.microsoft.com/office/drawing/2014/main" id="{E4D2EA44-2BFF-3785-270D-A85659BAAAD4}"/>
              </a:ext>
            </a:extLst>
          </p:cNvPr>
          <p:cNvSpPr txBox="1"/>
          <p:nvPr/>
        </p:nvSpPr>
        <p:spPr>
          <a:xfrm>
            <a:off x="267419" y="1461331"/>
            <a:ext cx="11477270" cy="4154984"/>
          </a:xfrm>
          <a:prstGeom prst="rect">
            <a:avLst/>
          </a:prstGeom>
          <a:noFill/>
        </p:spPr>
        <p:txBody>
          <a:bodyPr wrap="square" rtlCol="0">
            <a:spAutoFit/>
          </a:bodyPr>
          <a:lstStyle/>
          <a:p>
            <a:r>
              <a:rPr lang="en-US" sz="2400" dirty="0"/>
              <a:t>To meet the key performance requirements, the following design strategies were applied:</a:t>
            </a:r>
            <a:endParaRPr lang="he-IL" sz="2400" dirty="0"/>
          </a:p>
          <a:p>
            <a:endParaRPr lang="en-US" sz="2400" dirty="0"/>
          </a:p>
          <a:p>
            <a:r>
              <a:rPr lang="en-US" sz="2400" dirty="0"/>
              <a:t>🔹 </a:t>
            </a:r>
            <a:r>
              <a:rPr lang="en-US" sz="2400" b="1" dirty="0"/>
              <a:t>Line Regulation/PSRR</a:t>
            </a:r>
            <a:br>
              <a:rPr lang="en-US" sz="2400" dirty="0"/>
            </a:br>
            <a:r>
              <a:rPr lang="en-US" sz="2400" dirty="0"/>
              <a:t>→ Use a </a:t>
            </a:r>
            <a:r>
              <a:rPr lang="en-US" sz="2400" b="1" dirty="0"/>
              <a:t>high-gain error amplifier</a:t>
            </a:r>
            <a:r>
              <a:rPr lang="en-US" sz="2400" dirty="0"/>
              <a:t> to maintain a stable output under VDD variations</a:t>
            </a:r>
            <a:endParaRPr lang="he-IL" sz="2400" dirty="0"/>
          </a:p>
          <a:p>
            <a:endParaRPr lang="en-US" sz="2400" dirty="0"/>
          </a:p>
          <a:p>
            <a:r>
              <a:rPr lang="en-US" sz="2400" dirty="0"/>
              <a:t>🔹 </a:t>
            </a:r>
            <a:r>
              <a:rPr lang="en-US" sz="2400" b="1" dirty="0"/>
              <a:t>Load Regulation</a:t>
            </a:r>
            <a:br>
              <a:rPr lang="en-US" sz="2400" dirty="0"/>
            </a:br>
            <a:r>
              <a:rPr lang="en-US" sz="2400" dirty="0"/>
              <a:t>→ Design a </a:t>
            </a:r>
            <a:r>
              <a:rPr lang="en-US" sz="2400" b="1" dirty="0"/>
              <a:t>strong pass transistor</a:t>
            </a:r>
            <a:r>
              <a:rPr lang="en-US" sz="2400" dirty="0"/>
              <a:t> capable of sourcing the maximum load current</a:t>
            </a:r>
            <a:endParaRPr lang="he-IL" sz="2400" dirty="0"/>
          </a:p>
          <a:p>
            <a:endParaRPr lang="en-US" sz="2400" dirty="0"/>
          </a:p>
          <a:p>
            <a:r>
              <a:rPr lang="en-US" sz="2400" dirty="0"/>
              <a:t>🔹 </a:t>
            </a:r>
            <a:r>
              <a:rPr lang="en-US" sz="2400" b="1" dirty="0"/>
              <a:t>Temperature Coefficient</a:t>
            </a:r>
            <a:br>
              <a:rPr lang="en-US" sz="2400" dirty="0"/>
            </a:br>
            <a:r>
              <a:rPr lang="en-US" sz="2400" dirty="0"/>
              <a:t>→ Integrate a </a:t>
            </a:r>
            <a:r>
              <a:rPr lang="en-US" sz="2400" b="1" dirty="0"/>
              <a:t>precise Bandgap Reference (BGR)</a:t>
            </a:r>
            <a:br>
              <a:rPr lang="en-US" sz="2400" dirty="0"/>
            </a:br>
            <a:r>
              <a:rPr lang="en-US" sz="2400" dirty="0"/>
              <a:t>→ The BGR includes its own </a:t>
            </a:r>
            <a:r>
              <a:rPr lang="en-US" sz="2400" b="1" dirty="0"/>
              <a:t>high-gain error amplifier</a:t>
            </a:r>
            <a:r>
              <a:rPr lang="en-US" sz="2400" dirty="0"/>
              <a:t> to ensure thermal stability</a:t>
            </a:r>
          </a:p>
        </p:txBody>
      </p:sp>
      <p:pic>
        <p:nvPicPr>
          <p:cNvPr id="7" name="Picture 6">
            <a:extLst>
              <a:ext uri="{FF2B5EF4-FFF2-40B4-BE49-F238E27FC236}">
                <a16:creationId xmlns:a16="http://schemas.microsoft.com/office/drawing/2014/main" id="{C2862AC1-1DB2-2CAD-9334-473AEE229979}"/>
              </a:ext>
            </a:extLst>
          </p:cNvPr>
          <p:cNvPicPr>
            <a:picLocks noChangeAspect="1"/>
          </p:cNvPicPr>
          <p:nvPr/>
        </p:nvPicPr>
        <p:blipFill>
          <a:blip r:embed="rId4"/>
          <a:stretch>
            <a:fillRect/>
          </a:stretch>
        </p:blipFill>
        <p:spPr>
          <a:xfrm>
            <a:off x="10893991" y="77582"/>
            <a:ext cx="942788" cy="877475"/>
          </a:xfrm>
          <a:prstGeom prst="rect">
            <a:avLst/>
          </a:prstGeom>
        </p:spPr>
      </p:pic>
    </p:spTree>
    <p:extLst>
      <p:ext uri="{BB962C8B-B14F-4D97-AF65-F5344CB8AC3E}">
        <p14:creationId xmlns:p14="http://schemas.microsoft.com/office/powerpoint/2010/main" val="4121910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5C3FA-146F-09E7-FD26-C4176252DB9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FE89A02-72F7-86CF-B974-7472CDE6F7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7F4BFA17-47A3-587A-8767-808C400AFA17}"/>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EA386E41-8599-812B-1CED-2A956FCA3962}"/>
              </a:ext>
            </a:extLst>
          </p:cNvPr>
          <p:cNvSpPr>
            <a:spLocks noGrp="1"/>
          </p:cNvSpPr>
          <p:nvPr>
            <p:ph type="sldNum" sz="quarter" idx="12"/>
          </p:nvPr>
        </p:nvSpPr>
        <p:spPr/>
        <p:txBody>
          <a:bodyPr/>
          <a:lstStyle/>
          <a:p>
            <a:fld id="{397A11E8-8F25-49C3-8F7D-865FECFDFD18}" type="slidenum">
              <a:rPr lang="en-US" smtClean="0"/>
              <a:t>8</a:t>
            </a:fld>
            <a:endParaRPr lang="en-US"/>
          </a:p>
        </p:txBody>
      </p:sp>
      <p:pic>
        <p:nvPicPr>
          <p:cNvPr id="7" name="Picture 6">
            <a:extLst>
              <a:ext uri="{FF2B5EF4-FFF2-40B4-BE49-F238E27FC236}">
                <a16:creationId xmlns:a16="http://schemas.microsoft.com/office/drawing/2014/main" id="{A570ABE1-C432-C822-8490-556D29E37B56}"/>
              </a:ext>
            </a:extLst>
          </p:cNvPr>
          <p:cNvPicPr>
            <a:picLocks noChangeAspect="1"/>
          </p:cNvPicPr>
          <p:nvPr/>
        </p:nvPicPr>
        <p:blipFill>
          <a:blip r:embed="rId4"/>
          <a:stretch>
            <a:fillRect/>
          </a:stretch>
        </p:blipFill>
        <p:spPr>
          <a:xfrm>
            <a:off x="10893991" y="77582"/>
            <a:ext cx="942788" cy="877475"/>
          </a:xfrm>
          <a:prstGeom prst="rect">
            <a:avLst/>
          </a:prstGeom>
        </p:spPr>
      </p:pic>
      <p:sp>
        <p:nvSpPr>
          <p:cNvPr id="11" name="Title 3">
            <a:extLst>
              <a:ext uri="{FF2B5EF4-FFF2-40B4-BE49-F238E27FC236}">
                <a16:creationId xmlns:a16="http://schemas.microsoft.com/office/drawing/2014/main" id="{47747B4D-6263-65A6-2E6E-FA1528DD8758}"/>
              </a:ext>
            </a:extLst>
          </p:cNvPr>
          <p:cNvSpPr txBox="1">
            <a:spLocks/>
          </p:cNvSpPr>
          <p:nvPr/>
        </p:nvSpPr>
        <p:spPr>
          <a:xfrm>
            <a:off x="2744637" y="228742"/>
            <a:ext cx="6702725" cy="575154"/>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Required OTA Gain</a:t>
            </a:r>
          </a:p>
        </p:txBody>
      </p:sp>
      <p:pic>
        <p:nvPicPr>
          <p:cNvPr id="4" name="Picture 3" descr="A diagram of a computer component&#10;&#10;AI-generated content may be incorrect.">
            <a:extLst>
              <a:ext uri="{FF2B5EF4-FFF2-40B4-BE49-F238E27FC236}">
                <a16:creationId xmlns:a16="http://schemas.microsoft.com/office/drawing/2014/main" id="{F8E988F4-5AEF-F214-B1EA-E94CC96F99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105" y="1628756"/>
            <a:ext cx="5026564" cy="3660883"/>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E5B9D99-591C-D2E9-6B9E-97FD5FA3741B}"/>
                  </a:ext>
                </a:extLst>
              </p:cNvPr>
              <p:cNvSpPr txBox="1"/>
              <p:nvPr/>
            </p:nvSpPr>
            <p:spPr>
              <a:xfrm>
                <a:off x="5524017" y="1321821"/>
                <a:ext cx="6781928" cy="3200620"/>
              </a:xfrm>
              <a:prstGeom prst="rect">
                <a:avLst/>
              </a:prstGeom>
              <a:noFill/>
            </p:spPr>
            <p:txBody>
              <a:bodyPr wrap="square" rtlCol="0">
                <a:spAutoFit/>
              </a:bodyPr>
              <a:lstStyle/>
              <a:p>
                <a:r>
                  <a:rPr lang="en-US" sz="2000" b="1" dirty="0"/>
                  <a:t>🔹 </a:t>
                </a:r>
                <a14:m>
                  <m:oMath xmlns:m="http://schemas.openxmlformats.org/officeDocument/2006/math">
                    <m:r>
                      <a:rPr lang="en-US" sz="2000" b="0" i="1">
                        <a:latin typeface="Cambria Math" panose="02040503050406030204" pitchFamily="18" charset="0"/>
                      </a:rPr>
                      <m:t>𝐿𝑅</m:t>
                    </m:r>
                    <m:r>
                      <a:rPr lang="en-US" sz="2000" b="0" i="1">
                        <a:latin typeface="Cambria Math" panose="02040503050406030204" pitchFamily="18" charset="0"/>
                      </a:rPr>
                      <m:t>=</m:t>
                    </m:r>
                    <m:f>
                      <m:fPr>
                        <m:ctrlPr>
                          <a:rPr lang="en-US" sz="2000" i="1">
                            <a:latin typeface="Cambria Math" panose="02040503050406030204" pitchFamily="18" charset="0"/>
                          </a:rPr>
                        </m:ctrlPr>
                      </m:fPr>
                      <m:num>
                        <m:r>
                          <a:rPr lang="el-GR" sz="2000" b="0" i="1">
                            <a:latin typeface="Cambria Math" panose="02040503050406030204" pitchFamily="18" charset="0"/>
                          </a:rPr>
                          <m:t>𝛥</m:t>
                        </m:r>
                        <m:sSub>
                          <m:sSubPr>
                            <m:ctrlPr>
                              <a:rPr lang="en-US" sz="2000" i="1">
                                <a:latin typeface="Cambria Math" panose="02040503050406030204" pitchFamily="18" charset="0"/>
                              </a:rPr>
                            </m:ctrlPr>
                          </m:sSubPr>
                          <m:e>
                            <m:r>
                              <a:rPr lang="en-US" sz="2000" b="0" i="1">
                                <a:latin typeface="Cambria Math" panose="02040503050406030204" pitchFamily="18" charset="0"/>
                              </a:rPr>
                              <m:t>𝑉</m:t>
                            </m:r>
                          </m:e>
                          <m:sub>
                            <m:r>
                              <a:rPr lang="en-US" sz="2000" b="0" i="1">
                                <a:latin typeface="Cambria Math" panose="02040503050406030204" pitchFamily="18" charset="0"/>
                              </a:rPr>
                              <m:t>𝑜𝑢𝑡</m:t>
                            </m:r>
                          </m:sub>
                        </m:sSub>
                      </m:num>
                      <m:den>
                        <m:r>
                          <a:rPr lang="el-GR" sz="2000" b="0" i="1">
                            <a:latin typeface="Cambria Math" panose="02040503050406030204" pitchFamily="18" charset="0"/>
                          </a:rPr>
                          <m:t>𝛥</m:t>
                        </m:r>
                        <m:sSub>
                          <m:sSubPr>
                            <m:ctrlPr>
                              <a:rPr lang="en-US" sz="2000" i="1">
                                <a:latin typeface="Cambria Math" panose="02040503050406030204" pitchFamily="18" charset="0"/>
                              </a:rPr>
                            </m:ctrlPr>
                          </m:sSubPr>
                          <m:e>
                            <m:r>
                              <a:rPr lang="en-US" sz="2000" b="0" i="1">
                                <a:latin typeface="Cambria Math" panose="02040503050406030204" pitchFamily="18" charset="0"/>
                              </a:rPr>
                              <m:t>𝑉</m:t>
                            </m:r>
                          </m:e>
                          <m:sub>
                            <m:r>
                              <a:rPr lang="en-US" sz="2000" b="0" i="1">
                                <a:latin typeface="Cambria Math" panose="02040503050406030204" pitchFamily="18" charset="0"/>
                              </a:rPr>
                              <m:t>𝐷𝐷</m:t>
                            </m:r>
                          </m:sub>
                        </m:sSub>
                      </m:den>
                    </m:f>
                    <m:r>
                      <a:rPr lang="en-US" sz="2000" b="0" i="1">
                        <a:latin typeface="Cambria Math" panose="02040503050406030204" pitchFamily="18" charset="0"/>
                      </a:rPr>
                      <m:t> ≈ </m:t>
                    </m:r>
                    <m:f>
                      <m:fPr>
                        <m:ctrlPr>
                          <a:rPr lang="en-US" sz="2000" i="1">
                            <a:latin typeface="Cambria Math" panose="02040503050406030204" pitchFamily="18" charset="0"/>
                          </a:rPr>
                        </m:ctrlPr>
                      </m:fPr>
                      <m:num>
                        <m:r>
                          <a:rPr lang="en-US" sz="2000" b="0" i="1">
                            <a:latin typeface="Cambria Math" panose="02040503050406030204" pitchFamily="18" charset="0"/>
                          </a:rPr>
                          <m:t>1</m:t>
                        </m:r>
                      </m:num>
                      <m:den>
                        <m:r>
                          <a:rPr lang="el-GR" sz="2000" b="0" i="1">
                            <a:latin typeface="Cambria Math" panose="02040503050406030204" pitchFamily="18" charset="0"/>
                          </a:rPr>
                          <m:t>𝛽</m:t>
                        </m:r>
                        <m:r>
                          <a:rPr lang="en-US" sz="2000" b="0" i="1">
                            <a:latin typeface="Cambria Math" panose="02040503050406030204" pitchFamily="18" charset="0"/>
                          </a:rPr>
                          <m:t>𝐴</m:t>
                        </m:r>
                      </m:den>
                    </m:f>
                    <m:r>
                      <a:rPr lang="en-US" sz="2000" b="0" i="1">
                        <a:latin typeface="Cambria Math" panose="02040503050406030204" pitchFamily="18" charset="0"/>
                      </a:rPr>
                      <m:t>  →</m:t>
                    </m:r>
                    <m:sSub>
                      <m:sSubPr>
                        <m:ctrlPr>
                          <a:rPr lang="en-US" sz="2000" i="1">
                            <a:latin typeface="Cambria Math" panose="02040503050406030204" pitchFamily="18" charset="0"/>
                          </a:rPr>
                        </m:ctrlPr>
                      </m:sSubPr>
                      <m:e>
                        <m:r>
                          <a:rPr lang="en-US" sz="2000" b="0" i="1">
                            <a:latin typeface="Cambria Math" panose="02040503050406030204" pitchFamily="18" charset="0"/>
                          </a:rPr>
                          <m:t>𝐴</m:t>
                        </m:r>
                      </m:e>
                      <m:sub>
                        <m:r>
                          <a:rPr lang="en-US" sz="2000" b="0" i="1">
                            <a:latin typeface="Cambria Math" panose="02040503050406030204" pitchFamily="18" charset="0"/>
                          </a:rPr>
                          <m:t>𝑂𝑇𝐴</m:t>
                        </m:r>
                      </m:sub>
                    </m:sSub>
                    <m:r>
                      <a:rPr lang="en-US" sz="2000" b="0" i="1">
                        <a:latin typeface="Cambria Math" panose="02040503050406030204" pitchFamily="18" charset="0"/>
                      </a:rPr>
                      <m:t>&gt;60</m:t>
                    </m:r>
                    <m:r>
                      <a:rPr lang="en-US" sz="2000" b="0" i="1">
                        <a:latin typeface="Cambria Math" panose="02040503050406030204" pitchFamily="18" charset="0"/>
                      </a:rPr>
                      <m:t>𝑑𝐵</m:t>
                    </m:r>
                    <m:r>
                      <a:rPr lang="en-US" sz="2000" b="0" i="1">
                        <a:latin typeface="Cambria Math" panose="02040503050406030204" pitchFamily="18" charset="0"/>
                      </a:rPr>
                      <m:t> </m:t>
                    </m:r>
                    <m:r>
                      <a:rPr lang="en-US" sz="2000" b="0" i="1">
                        <a:latin typeface="Cambria Math" panose="02040503050406030204" pitchFamily="18" charset="0"/>
                      </a:rPr>
                      <m:t>𝑓𝑜𝑟</m:t>
                    </m:r>
                    <m:r>
                      <a:rPr lang="en-US" sz="2000" b="0" i="1">
                        <a:latin typeface="Cambria Math" panose="02040503050406030204" pitchFamily="18" charset="0"/>
                      </a:rPr>
                      <m:t> 1</m:t>
                    </m:r>
                    <m:r>
                      <a:rPr lang="en-US" sz="2000" b="0" i="1" smtClean="0">
                        <a:latin typeface="Cambria Math" panose="02040503050406030204" pitchFamily="18" charset="0"/>
                      </a:rPr>
                      <m:t>𝑚</m:t>
                    </m:r>
                    <m:r>
                      <a:rPr lang="en-US" sz="2000" b="0" i="1" smtClean="0">
                        <a:latin typeface="Cambria Math" panose="02040503050406030204" pitchFamily="18" charset="0"/>
                      </a:rPr>
                      <m:t> </m:t>
                    </m:r>
                    <m:f>
                      <m:fPr>
                        <m:ctrlPr>
                          <a:rPr lang="en-US" sz="2000" i="1">
                            <a:latin typeface="Cambria Math" panose="02040503050406030204" pitchFamily="18" charset="0"/>
                          </a:rPr>
                        </m:ctrlPr>
                      </m:fPr>
                      <m:num>
                        <m:r>
                          <a:rPr lang="en-US" sz="2000" b="0" i="1">
                            <a:latin typeface="Cambria Math" panose="02040503050406030204" pitchFamily="18" charset="0"/>
                          </a:rPr>
                          <m:t>𝑉</m:t>
                        </m:r>
                      </m:num>
                      <m:den>
                        <m:r>
                          <a:rPr lang="en-US" sz="2000" b="0" i="1">
                            <a:latin typeface="Cambria Math" panose="02040503050406030204" pitchFamily="18" charset="0"/>
                          </a:rPr>
                          <m:t>𝑉</m:t>
                        </m:r>
                      </m:den>
                    </m:f>
                  </m:oMath>
                </a14:m>
                <a:endParaRPr lang="en-US" sz="2000" dirty="0"/>
              </a:p>
              <a:p>
                <a:endParaRPr lang="en-US" sz="2000" dirty="0"/>
              </a:p>
              <a:p>
                <a:r>
                  <a:rPr lang="en-US" sz="2000" dirty="0"/>
                  <a:t>🔹 </a:t>
                </a:r>
                <a14:m>
                  <m:oMath xmlns:m="http://schemas.openxmlformats.org/officeDocument/2006/math">
                    <m:r>
                      <a:rPr lang="en-US" sz="2000" b="0" i="1">
                        <a:latin typeface="Cambria Math" panose="02040503050406030204" pitchFamily="18" charset="0"/>
                      </a:rPr>
                      <m:t>𝐿𝐷𝑅</m:t>
                    </m:r>
                    <m:r>
                      <a:rPr lang="en-US" sz="2000" b="0" i="1">
                        <a:latin typeface="Cambria Math" panose="02040503050406030204" pitchFamily="18" charset="0"/>
                      </a:rPr>
                      <m:t>=</m:t>
                    </m:r>
                    <m:f>
                      <m:fPr>
                        <m:ctrlPr>
                          <a:rPr lang="en-US" sz="2000" i="1">
                            <a:latin typeface="Cambria Math" panose="02040503050406030204" pitchFamily="18" charset="0"/>
                          </a:rPr>
                        </m:ctrlPr>
                      </m:fPr>
                      <m:num>
                        <m:r>
                          <a:rPr lang="el-GR" sz="2000" b="0" i="1">
                            <a:latin typeface="Cambria Math" panose="02040503050406030204" pitchFamily="18" charset="0"/>
                          </a:rPr>
                          <m:t>𝛥</m:t>
                        </m:r>
                        <m:sSub>
                          <m:sSubPr>
                            <m:ctrlPr>
                              <a:rPr lang="en-US" sz="2000" i="1">
                                <a:latin typeface="Cambria Math" panose="02040503050406030204" pitchFamily="18" charset="0"/>
                              </a:rPr>
                            </m:ctrlPr>
                          </m:sSubPr>
                          <m:e>
                            <m:r>
                              <a:rPr lang="en-US" sz="2000" b="0" i="1">
                                <a:latin typeface="Cambria Math" panose="02040503050406030204" pitchFamily="18" charset="0"/>
                              </a:rPr>
                              <m:t>𝑉</m:t>
                            </m:r>
                          </m:e>
                          <m:sub>
                            <m:r>
                              <a:rPr lang="en-US" sz="2000" b="0" i="1">
                                <a:latin typeface="Cambria Math" panose="02040503050406030204" pitchFamily="18" charset="0"/>
                              </a:rPr>
                              <m:t>𝑜𝑢𝑡</m:t>
                            </m:r>
                          </m:sub>
                        </m:sSub>
                      </m:num>
                      <m:den>
                        <m:r>
                          <a:rPr lang="el-GR" sz="2000" b="0" i="1">
                            <a:latin typeface="Cambria Math" panose="02040503050406030204" pitchFamily="18" charset="0"/>
                          </a:rPr>
                          <m:t>𝛥</m:t>
                        </m:r>
                        <m:sSub>
                          <m:sSubPr>
                            <m:ctrlPr>
                              <a:rPr lang="en-US" sz="2000" i="1">
                                <a:latin typeface="Cambria Math" panose="02040503050406030204" pitchFamily="18" charset="0"/>
                              </a:rPr>
                            </m:ctrlPr>
                          </m:sSubPr>
                          <m:e>
                            <m:r>
                              <a:rPr lang="en-US" sz="2000" b="0" i="1">
                                <a:latin typeface="Cambria Math" panose="02040503050406030204" pitchFamily="18" charset="0"/>
                              </a:rPr>
                              <m:t>𝐼</m:t>
                            </m:r>
                          </m:e>
                          <m:sub>
                            <m:r>
                              <a:rPr lang="en-US" sz="2000" b="0" i="1">
                                <a:latin typeface="Cambria Math" panose="02040503050406030204" pitchFamily="18" charset="0"/>
                              </a:rPr>
                              <m:t>𝐿𝑜𝑎𝑑</m:t>
                            </m:r>
                          </m:sub>
                        </m:sSub>
                      </m:den>
                    </m:f>
                    <m:r>
                      <a:rPr lang="en-US" sz="2000" b="0" i="1">
                        <a:latin typeface="Cambria Math" panose="02040503050406030204" pitchFamily="18" charset="0"/>
                      </a:rPr>
                      <m:t> ≈ </m:t>
                    </m:r>
                    <m:f>
                      <m:fPr>
                        <m:ctrlPr>
                          <a:rPr lang="en-US" sz="2000" i="1">
                            <a:latin typeface="Cambria Math" panose="02040503050406030204" pitchFamily="18" charset="0"/>
                          </a:rPr>
                        </m:ctrlPr>
                      </m:fPr>
                      <m:num>
                        <m:r>
                          <a:rPr lang="en-US" sz="2000" b="0" i="1">
                            <a:latin typeface="Cambria Math" panose="02040503050406030204" pitchFamily="18" charset="0"/>
                          </a:rPr>
                          <m:t>1</m:t>
                        </m:r>
                      </m:num>
                      <m:den>
                        <m:r>
                          <a:rPr lang="el-GR" sz="2000" b="0" i="1">
                            <a:latin typeface="Cambria Math" panose="02040503050406030204" pitchFamily="18" charset="0"/>
                          </a:rPr>
                          <m:t>𝛽</m:t>
                        </m:r>
                        <m:sSub>
                          <m:sSubPr>
                            <m:ctrlPr>
                              <a:rPr lang="en-US" sz="2000" i="1">
                                <a:latin typeface="Cambria Math" panose="02040503050406030204" pitchFamily="18" charset="0"/>
                              </a:rPr>
                            </m:ctrlPr>
                          </m:sSubPr>
                          <m:e>
                            <m:r>
                              <a:rPr lang="en-US" sz="2000" b="0" i="1">
                                <a:latin typeface="Cambria Math" panose="02040503050406030204" pitchFamily="18" charset="0"/>
                              </a:rPr>
                              <m:t>𝑔</m:t>
                            </m:r>
                          </m:e>
                          <m:sub>
                            <m:r>
                              <a:rPr lang="en-US" sz="2000" b="0" i="1">
                                <a:latin typeface="Cambria Math" panose="02040503050406030204" pitchFamily="18" charset="0"/>
                              </a:rPr>
                              <m:t>𝑚</m:t>
                            </m:r>
                          </m:sub>
                        </m:sSub>
                        <m:r>
                          <a:rPr lang="en-US" sz="2000" b="0" i="1">
                            <a:latin typeface="Cambria Math" panose="02040503050406030204" pitchFamily="18" charset="0"/>
                          </a:rPr>
                          <m:t>𝐴</m:t>
                        </m:r>
                      </m:den>
                    </m:f>
                    <m:r>
                      <a:rPr lang="en-US" sz="2000" b="0" i="1">
                        <a:latin typeface="Cambria Math" panose="02040503050406030204" pitchFamily="18" charset="0"/>
                      </a:rPr>
                      <m:t>  →</m:t>
                    </m:r>
                    <m:sSub>
                      <m:sSubPr>
                        <m:ctrlPr>
                          <a:rPr lang="en-US" sz="2000" i="1">
                            <a:latin typeface="Cambria Math" panose="02040503050406030204" pitchFamily="18" charset="0"/>
                          </a:rPr>
                        </m:ctrlPr>
                      </m:sSubPr>
                      <m:e>
                        <m:r>
                          <a:rPr lang="en-US" sz="2000" b="0" i="1">
                            <a:latin typeface="Cambria Math" panose="02040503050406030204" pitchFamily="18" charset="0"/>
                          </a:rPr>
                          <m:t>𝐴</m:t>
                        </m:r>
                      </m:e>
                      <m:sub>
                        <m:r>
                          <a:rPr lang="en-US" sz="2000" b="0" i="1">
                            <a:latin typeface="Cambria Math" panose="02040503050406030204" pitchFamily="18" charset="0"/>
                          </a:rPr>
                          <m:t>𝑂𝑇𝐴</m:t>
                        </m:r>
                      </m:sub>
                    </m:sSub>
                    <m:r>
                      <a:rPr lang="en-US" sz="2000" b="0" i="1">
                        <a:latin typeface="Cambria Math" panose="02040503050406030204" pitchFamily="18" charset="0"/>
                      </a:rPr>
                      <m:t>&gt;60</m:t>
                    </m:r>
                    <m:r>
                      <a:rPr lang="en-US" sz="2000" b="0" i="1">
                        <a:latin typeface="Cambria Math" panose="02040503050406030204" pitchFamily="18" charset="0"/>
                      </a:rPr>
                      <m:t>𝑑𝐵</m:t>
                    </m:r>
                    <m:r>
                      <a:rPr lang="en-US" sz="2000" b="0" i="1">
                        <a:latin typeface="Cambria Math" panose="02040503050406030204" pitchFamily="18" charset="0"/>
                      </a:rPr>
                      <m:t> </m:t>
                    </m:r>
                    <m:r>
                      <a:rPr lang="en-US" sz="2000" b="0" i="1">
                        <a:latin typeface="Cambria Math" panose="02040503050406030204" pitchFamily="18" charset="0"/>
                      </a:rPr>
                      <m:t>𝑓𝑜𝑟</m:t>
                    </m:r>
                    <m:r>
                      <a:rPr lang="en-US" sz="2000" b="0" i="1">
                        <a:latin typeface="Cambria Math" panose="02040503050406030204" pitchFamily="18" charset="0"/>
                      </a:rPr>
                      <m:t> 10</m:t>
                    </m:r>
                    <m:r>
                      <a:rPr lang="en-US" sz="2000" b="0" i="1" smtClean="0">
                        <a:latin typeface="Cambria Math" panose="02040503050406030204" pitchFamily="18" charset="0"/>
                      </a:rPr>
                      <m:t>𝑚</m:t>
                    </m:r>
                    <m:r>
                      <a:rPr lang="en-US" sz="2000" b="0" i="1" smtClean="0">
                        <a:latin typeface="Cambria Math" panose="02040503050406030204" pitchFamily="18" charset="0"/>
                      </a:rPr>
                      <m:t> </m:t>
                    </m:r>
                    <m:f>
                      <m:fPr>
                        <m:ctrlPr>
                          <a:rPr lang="en-US" sz="2000" i="1">
                            <a:latin typeface="Cambria Math" panose="02040503050406030204" pitchFamily="18" charset="0"/>
                          </a:rPr>
                        </m:ctrlPr>
                      </m:fPr>
                      <m:num>
                        <m:r>
                          <a:rPr lang="en-US" sz="2000" b="0" i="1">
                            <a:latin typeface="Cambria Math" panose="02040503050406030204" pitchFamily="18" charset="0"/>
                          </a:rPr>
                          <m:t>𝑉</m:t>
                        </m:r>
                      </m:num>
                      <m:den>
                        <m:r>
                          <a:rPr lang="en-US" sz="2000" b="0" i="1">
                            <a:latin typeface="Cambria Math" panose="02040503050406030204" pitchFamily="18" charset="0"/>
                          </a:rPr>
                          <m:t>𝐴</m:t>
                        </m:r>
                      </m:den>
                    </m:f>
                  </m:oMath>
                </a14:m>
                <a:endParaRPr lang="en-US" sz="2400" dirty="0"/>
              </a:p>
              <a:p>
                <a:endParaRPr lang="en-US" sz="2400" dirty="0"/>
              </a:p>
              <a:p>
                <a:r>
                  <a:rPr lang="en-US" sz="2400" dirty="0"/>
                  <a:t>🔹Simplified optimistic small-signal model. </a:t>
                </a:r>
              </a:p>
              <a:p>
                <a:r>
                  <a:rPr lang="en-US" sz="2400" dirty="0"/>
                  <a:t>⚠️ </a:t>
                </a:r>
                <a:r>
                  <a:rPr lang="en-US" sz="2400" b="1" dirty="0"/>
                  <a:t>In practice</a:t>
                </a:r>
                <a:r>
                  <a:rPr lang="en-US" sz="2400" dirty="0"/>
                  <a:t>, 6-8dB more gain are needed to make up for layout and parasitic effects.</a:t>
                </a:r>
              </a:p>
              <a:p>
                <a:endParaRPr lang="en-US" sz="2400" dirty="0"/>
              </a:p>
            </p:txBody>
          </p:sp>
        </mc:Choice>
        <mc:Fallback xmlns="">
          <p:sp>
            <p:nvSpPr>
              <p:cNvPr id="2" name="TextBox 1">
                <a:extLst>
                  <a:ext uri="{FF2B5EF4-FFF2-40B4-BE49-F238E27FC236}">
                    <a16:creationId xmlns:a16="http://schemas.microsoft.com/office/drawing/2014/main" id="{0E5B9D99-591C-D2E9-6B9E-97FD5FA3741B}"/>
                  </a:ext>
                </a:extLst>
              </p:cNvPr>
              <p:cNvSpPr txBox="1">
                <a:spLocks noRot="1" noChangeAspect="1" noMove="1" noResize="1" noEditPoints="1" noAdjustHandles="1" noChangeArrowheads="1" noChangeShapeType="1" noTextEdit="1"/>
              </p:cNvSpPr>
              <p:nvPr/>
            </p:nvSpPr>
            <p:spPr>
              <a:xfrm>
                <a:off x="5524017" y="1321821"/>
                <a:ext cx="6781928" cy="3200620"/>
              </a:xfrm>
              <a:prstGeom prst="rect">
                <a:avLst/>
              </a:prstGeom>
              <a:blipFill>
                <a:blip r:embed="rId6"/>
                <a:stretch>
                  <a:fillRect l="-1348" r="-1797"/>
                </a:stretch>
              </a:blipFill>
            </p:spPr>
            <p:txBody>
              <a:bodyPr/>
              <a:lstStyle/>
              <a:p>
                <a:r>
                  <a:rPr lang="en-US">
                    <a:noFill/>
                  </a:rPr>
                  <a:t> </a:t>
                </a:r>
              </a:p>
            </p:txBody>
          </p:sp>
        </mc:Fallback>
      </mc:AlternateContent>
    </p:spTree>
    <p:extLst>
      <p:ext uri="{BB962C8B-B14F-4D97-AF65-F5344CB8AC3E}">
        <p14:creationId xmlns:p14="http://schemas.microsoft.com/office/powerpoint/2010/main" val="570850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FFF7B-3165-BA5D-B041-46F6F5467A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8897BA-34E1-1B73-9620-FD96CDD92C24}"/>
              </a:ext>
            </a:extLst>
          </p:cNvPr>
          <p:cNvSpPr>
            <a:spLocks noGrp="1"/>
          </p:cNvSpPr>
          <p:nvPr>
            <p:ph type="title"/>
          </p:nvPr>
        </p:nvSpPr>
        <p:spPr>
          <a:xfrm>
            <a:off x="3279475" y="356745"/>
            <a:ext cx="6702725" cy="575154"/>
          </a:xfrm>
        </p:spPr>
        <p:txBody>
          <a:bodyPr>
            <a:normAutofit fontScale="90000"/>
          </a:bodyPr>
          <a:lstStyle/>
          <a:p>
            <a:pPr algn="ctr"/>
            <a:r>
              <a:rPr lang="en-US" b="1" dirty="0"/>
              <a:t>Full Project Requirements</a:t>
            </a:r>
          </a:p>
        </p:txBody>
      </p:sp>
      <p:pic>
        <p:nvPicPr>
          <p:cNvPr id="6" name="Picture 5">
            <a:extLst>
              <a:ext uri="{FF2B5EF4-FFF2-40B4-BE49-F238E27FC236}">
                <a16:creationId xmlns:a16="http://schemas.microsoft.com/office/drawing/2014/main" id="{0E58BA03-A9BF-632F-27DA-2202057CEF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9" name="Slide Number Placeholder 8">
            <a:extLst>
              <a:ext uri="{FF2B5EF4-FFF2-40B4-BE49-F238E27FC236}">
                <a16:creationId xmlns:a16="http://schemas.microsoft.com/office/drawing/2014/main" id="{08F9382B-DB3D-7EB5-7588-BE3B5A3200C0}"/>
              </a:ext>
            </a:extLst>
          </p:cNvPr>
          <p:cNvSpPr>
            <a:spLocks noGrp="1"/>
          </p:cNvSpPr>
          <p:nvPr>
            <p:ph type="sldNum" sz="quarter" idx="12"/>
          </p:nvPr>
        </p:nvSpPr>
        <p:spPr/>
        <p:txBody>
          <a:bodyPr/>
          <a:lstStyle/>
          <a:p>
            <a:fld id="{397A11E8-8F25-49C3-8F7D-865FECFDFD18}" type="slidenum">
              <a:rPr lang="en-US" smtClean="0"/>
              <a:t>9</a:t>
            </a:fld>
            <a:endParaRPr lang="en-US"/>
          </a:p>
        </p:txBody>
      </p:sp>
      <p:pic>
        <p:nvPicPr>
          <p:cNvPr id="10" name="Picture 9">
            <a:extLst>
              <a:ext uri="{FF2B5EF4-FFF2-40B4-BE49-F238E27FC236}">
                <a16:creationId xmlns:a16="http://schemas.microsoft.com/office/drawing/2014/main" id="{52A83B64-11E5-BE68-DA2D-F0C8DE56B80F}"/>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3" name="Picture 12">
            <a:extLst>
              <a:ext uri="{FF2B5EF4-FFF2-40B4-BE49-F238E27FC236}">
                <a16:creationId xmlns:a16="http://schemas.microsoft.com/office/drawing/2014/main" id="{35736038-AD5B-8313-B5C8-66CC65C4D059}"/>
              </a:ext>
            </a:extLst>
          </p:cNvPr>
          <p:cNvPicPr>
            <a:picLocks noChangeAspect="1"/>
          </p:cNvPicPr>
          <p:nvPr/>
        </p:nvPicPr>
        <p:blipFill>
          <a:blip r:embed="rId5"/>
          <a:stretch>
            <a:fillRect/>
          </a:stretch>
        </p:blipFill>
        <p:spPr>
          <a:xfrm>
            <a:off x="1008111" y="1109989"/>
            <a:ext cx="10175777" cy="4894064"/>
          </a:xfrm>
          <a:prstGeom prst="rect">
            <a:avLst/>
          </a:prstGeom>
        </p:spPr>
      </p:pic>
      <p:sp>
        <p:nvSpPr>
          <p:cNvPr id="2" name="Date Placeholder 7">
            <a:extLst>
              <a:ext uri="{FF2B5EF4-FFF2-40B4-BE49-F238E27FC236}">
                <a16:creationId xmlns:a16="http://schemas.microsoft.com/office/drawing/2014/main" id="{C8694C5D-05C5-4689-8451-5FB40A4A1A60}"/>
              </a:ext>
            </a:extLst>
          </p:cNvPr>
          <p:cNvSpPr>
            <a:spLocks noGrp="1"/>
          </p:cNvSpPr>
          <p:nvPr>
            <p:ph type="dt" sz="half" idx="10"/>
          </p:nvPr>
        </p:nvSpPr>
        <p:spPr>
          <a:xfrm>
            <a:off x="838200" y="6356350"/>
            <a:ext cx="2743200" cy="365125"/>
          </a:xfrm>
        </p:spPr>
        <p:txBody>
          <a:bodyPr/>
          <a:lstStyle/>
          <a:p>
            <a:r>
              <a:rPr lang="en-US" dirty="0"/>
              <a:t>28/07/25</a:t>
            </a:r>
          </a:p>
        </p:txBody>
      </p:sp>
    </p:spTree>
    <p:extLst>
      <p:ext uri="{BB962C8B-B14F-4D97-AF65-F5344CB8AC3E}">
        <p14:creationId xmlns:p14="http://schemas.microsoft.com/office/powerpoint/2010/main" val="1024174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E85AC-76C1-3075-823A-8A23CC672A6C}"/>
            </a:ext>
          </a:extLst>
        </p:cNvPr>
        <p:cNvGrpSpPr/>
        <p:nvPr/>
      </p:nvGrpSpPr>
      <p:grpSpPr>
        <a:xfrm>
          <a:off x="0" y="0"/>
          <a:ext cx="0" cy="0"/>
          <a:chOff x="0" y="0"/>
          <a:chExt cx="0" cy="0"/>
        </a:xfrm>
      </p:grpSpPr>
      <p:sp>
        <p:nvSpPr>
          <p:cNvPr id="8" name="Date Placeholder 7">
            <a:extLst>
              <a:ext uri="{FF2B5EF4-FFF2-40B4-BE49-F238E27FC236}">
                <a16:creationId xmlns:a16="http://schemas.microsoft.com/office/drawing/2014/main" id="{036FAF85-72D9-6C13-830F-8AF5EB6EF959}"/>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E06EC872-7DCC-F894-6B12-D896E11F3C4B}"/>
              </a:ext>
            </a:extLst>
          </p:cNvPr>
          <p:cNvSpPr>
            <a:spLocks noGrp="1"/>
          </p:cNvSpPr>
          <p:nvPr>
            <p:ph type="sldNum" sz="quarter" idx="12"/>
          </p:nvPr>
        </p:nvSpPr>
        <p:spPr/>
        <p:txBody>
          <a:bodyPr/>
          <a:lstStyle/>
          <a:p>
            <a:fld id="{397A11E8-8F25-49C3-8F7D-865FECFDFD18}" type="slidenum">
              <a:rPr lang="en-US" smtClean="0"/>
              <a:t>10</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3AC67D2-7D58-E9FB-A948-E6EFB23620BD}"/>
                  </a:ext>
                </a:extLst>
              </p:cNvPr>
              <p:cNvSpPr txBox="1"/>
              <p:nvPr/>
            </p:nvSpPr>
            <p:spPr>
              <a:xfrm>
                <a:off x="267419" y="1461331"/>
                <a:ext cx="11477270" cy="4154984"/>
              </a:xfrm>
              <a:prstGeom prst="rect">
                <a:avLst/>
              </a:prstGeom>
              <a:noFill/>
            </p:spPr>
            <p:txBody>
              <a:bodyPr wrap="square" rtlCol="0">
                <a:spAutoFit/>
              </a:bodyPr>
              <a:lstStyle/>
              <a:p>
                <a:r>
                  <a:rPr lang="en-US" sz="2400" dirty="0"/>
                  <a:t>Temperature has a strong influence on key electrical components:</a:t>
                </a:r>
              </a:p>
              <a:p>
                <a:pPr marL="342900" indent="-342900">
                  <a:buFont typeface="Arial" panose="020B0604020202020204" pitchFamily="34" charset="0"/>
                  <a:buChar char="•"/>
                </a:pPr>
                <a:r>
                  <a:rPr lang="en-US" sz="2400" b="1" dirty="0"/>
                  <a:t>Resistors</a:t>
                </a:r>
                <a:r>
                  <a:rPr lang="en-US" sz="2400" dirty="0"/>
                  <a:t> – resistance increases with temperature</a:t>
                </a:r>
              </a:p>
              <a:p>
                <a:pPr marL="342900" indent="-342900">
                  <a:buFont typeface="Arial" panose="020B0604020202020204" pitchFamily="34" charset="0"/>
                  <a:buChar char="•"/>
                </a:pPr>
                <a:r>
                  <a:rPr lang="en-US" sz="2400" b="1" dirty="0"/>
                  <a:t>Diodes and BJTs</a:t>
                </a:r>
                <a:r>
                  <a:rPr lang="en-US" sz="2400" dirty="0"/>
                  <a:t> –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𝐵𝐸</m:t>
                        </m:r>
                      </m:sub>
                    </m:sSub>
                  </m:oMath>
                </a14:m>
                <a:r>
                  <a:rPr lang="en-US" sz="2400" dirty="0"/>
                  <a:t> decreases with temperature</a:t>
                </a:r>
              </a:p>
              <a:p>
                <a:pPr marL="342900" indent="-342900">
                  <a:buFont typeface="Arial" panose="020B0604020202020204" pitchFamily="34" charset="0"/>
                  <a:buChar char="•"/>
                </a:pPr>
                <a:r>
                  <a:rPr lang="en-US" sz="2400" b="1" dirty="0"/>
                  <a:t>MOSFETs </a:t>
                </a:r>
                <a:r>
                  <a:rPr lang="en-US" sz="2400" dirty="0"/>
                  <a:t>– mobility, threshold voltage, and leakage are temperature-dependent</a:t>
                </a:r>
              </a:p>
              <a:p>
                <a:pPr marL="342900" indent="-342900">
                  <a:buFont typeface="Arial" panose="020B0604020202020204" pitchFamily="34" charset="0"/>
                  <a:buChar char="•"/>
                </a:pPr>
                <a:r>
                  <a:rPr lang="en-US" sz="2400" b="1" dirty="0"/>
                  <a:t>Thermal noise </a:t>
                </a:r>
                <a:r>
                  <a:rPr lang="en-US" sz="2400" dirty="0"/>
                  <a:t>increases as temperature rises</a:t>
                </a:r>
              </a:p>
              <a:p>
                <a:endParaRPr lang="he-IL" sz="2400" dirty="0"/>
              </a:p>
              <a:p>
                <a:endParaRPr lang="he-IL" sz="2400" dirty="0"/>
              </a:p>
              <a:p>
                <a:r>
                  <a:rPr lang="en-US" sz="2400" dirty="0"/>
                  <a:t>The </a:t>
                </a:r>
                <a:r>
                  <a:rPr lang="en-US" sz="2400" b="1" dirty="0"/>
                  <a:t>Bandgap Reference (BGR) </a:t>
                </a:r>
                <a:r>
                  <a:rPr lang="en-US" sz="2400" dirty="0"/>
                  <a:t>is a circuit that generates a voltage reference that remains stable over temperature.</a:t>
                </a:r>
              </a:p>
              <a:p>
                <a:endParaRPr lang="en-US" sz="2400" dirty="0"/>
              </a:p>
              <a:p>
                <a:endParaRPr lang="he-IL" sz="2400" dirty="0"/>
              </a:p>
            </p:txBody>
          </p:sp>
        </mc:Choice>
        <mc:Fallback xmlns="">
          <p:sp>
            <p:nvSpPr>
              <p:cNvPr id="2" name="TextBox 1">
                <a:extLst>
                  <a:ext uri="{FF2B5EF4-FFF2-40B4-BE49-F238E27FC236}">
                    <a16:creationId xmlns:a16="http://schemas.microsoft.com/office/drawing/2014/main" id="{F3AC67D2-7D58-E9FB-A948-E6EFB23620BD}"/>
                  </a:ext>
                </a:extLst>
              </p:cNvPr>
              <p:cNvSpPr txBox="1">
                <a:spLocks noRot="1" noChangeAspect="1" noMove="1" noResize="1" noEditPoints="1" noAdjustHandles="1" noChangeArrowheads="1" noChangeShapeType="1" noTextEdit="1"/>
              </p:cNvSpPr>
              <p:nvPr/>
            </p:nvSpPr>
            <p:spPr>
              <a:xfrm>
                <a:off x="267419" y="1461331"/>
                <a:ext cx="11477270" cy="4154984"/>
              </a:xfrm>
              <a:prstGeom prst="rect">
                <a:avLst/>
              </a:prstGeom>
              <a:blipFill>
                <a:blip r:embed="rId3"/>
                <a:stretch>
                  <a:fillRect l="-850" t="-1175"/>
                </a:stretch>
              </a:blipFill>
            </p:spPr>
            <p:txBody>
              <a:bodyPr/>
              <a:lstStyle/>
              <a:p>
                <a:r>
                  <a:rPr lang="en-IL">
                    <a:noFill/>
                  </a:rPr>
                  <a:t> </a:t>
                </a:r>
              </a:p>
            </p:txBody>
          </p:sp>
        </mc:Fallback>
      </mc:AlternateContent>
      <p:sp>
        <p:nvSpPr>
          <p:cNvPr id="13" name="Title 3">
            <a:extLst>
              <a:ext uri="{FF2B5EF4-FFF2-40B4-BE49-F238E27FC236}">
                <a16:creationId xmlns:a16="http://schemas.microsoft.com/office/drawing/2014/main" id="{0E2102E8-812B-A8CC-61F2-66352ACCE2C3}"/>
              </a:ext>
            </a:extLst>
          </p:cNvPr>
          <p:cNvSpPr txBox="1">
            <a:spLocks/>
          </p:cNvSpPr>
          <p:nvPr/>
        </p:nvSpPr>
        <p:spPr>
          <a:xfrm>
            <a:off x="1270448" y="491216"/>
            <a:ext cx="9471212" cy="5751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t>Why Temperature Matters in Analog Circuits</a:t>
            </a:r>
            <a:br>
              <a:rPr lang="en-US" sz="4000" dirty="0"/>
            </a:br>
            <a:endParaRPr lang="en-US" sz="4000" b="1" dirty="0"/>
          </a:p>
        </p:txBody>
      </p:sp>
      <p:pic>
        <p:nvPicPr>
          <p:cNvPr id="6151" name="Picture 7">
            <a:extLst>
              <a:ext uri="{FF2B5EF4-FFF2-40B4-BE49-F238E27FC236}">
                <a16:creationId xmlns:a16="http://schemas.microsoft.com/office/drawing/2014/main" id="{FB4C228C-0464-E116-FC2E-1BB420ED89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4012" y="4533827"/>
            <a:ext cx="2164976" cy="2164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011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3A747-F2C4-CB26-1E2D-BF1692A9CD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234DD5-18F8-0CC2-ED90-96B05E2C169C}"/>
              </a:ext>
            </a:extLst>
          </p:cNvPr>
          <p:cNvSpPr>
            <a:spLocks noGrp="1"/>
          </p:cNvSpPr>
          <p:nvPr>
            <p:ph type="title"/>
          </p:nvPr>
        </p:nvSpPr>
        <p:spPr>
          <a:xfrm>
            <a:off x="2313151" y="352682"/>
            <a:ext cx="8074325" cy="575154"/>
          </a:xfrm>
        </p:spPr>
        <p:txBody>
          <a:bodyPr>
            <a:normAutofit fontScale="90000"/>
          </a:bodyPr>
          <a:lstStyle/>
          <a:p>
            <a:pPr algn="ctr"/>
            <a:r>
              <a:rPr lang="en-US" b="1" dirty="0"/>
              <a:t>BGR – Operating Principle</a:t>
            </a:r>
          </a:p>
        </p:txBody>
      </p:sp>
      <p:pic>
        <p:nvPicPr>
          <p:cNvPr id="6" name="Picture 5">
            <a:extLst>
              <a:ext uri="{FF2B5EF4-FFF2-40B4-BE49-F238E27FC236}">
                <a16:creationId xmlns:a16="http://schemas.microsoft.com/office/drawing/2014/main" id="{F97868D4-D882-7D1A-5ED3-69C9A3C9D6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AF959BE8-6FF7-6657-4EC8-3FB7B284EB3F}"/>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43FB4173-C689-0133-7B19-5FE4E976680A}"/>
              </a:ext>
            </a:extLst>
          </p:cNvPr>
          <p:cNvSpPr>
            <a:spLocks noGrp="1"/>
          </p:cNvSpPr>
          <p:nvPr>
            <p:ph type="sldNum" sz="quarter" idx="12"/>
          </p:nvPr>
        </p:nvSpPr>
        <p:spPr/>
        <p:txBody>
          <a:bodyPr/>
          <a:lstStyle/>
          <a:p>
            <a:fld id="{397A11E8-8F25-49C3-8F7D-865FECFDFD18}" type="slidenum">
              <a:rPr lang="en-US" smtClean="0"/>
              <a:t>11</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0FB3B25-221F-4CE7-A883-25D41C126BD6}"/>
                  </a:ext>
                </a:extLst>
              </p:cNvPr>
              <p:cNvSpPr txBox="1"/>
              <p:nvPr/>
            </p:nvSpPr>
            <p:spPr>
              <a:xfrm>
                <a:off x="267419" y="1461331"/>
                <a:ext cx="11477270" cy="4524315"/>
              </a:xfrm>
              <a:prstGeom prst="rect">
                <a:avLst/>
              </a:prstGeom>
              <a:noFill/>
            </p:spPr>
            <p:txBody>
              <a:bodyPr wrap="square" rtlCol="0">
                <a:spAutoFit/>
              </a:bodyPr>
              <a:lstStyle/>
              <a:p>
                <a:r>
                  <a:rPr lang="en-US" sz="2400" b="1" dirty="0"/>
                  <a:t>🧠 Key Principle – Simple but Brilliant:</a:t>
                </a:r>
                <a:endParaRPr lang="he-IL" sz="2400" b="1" dirty="0"/>
              </a:p>
              <a:p>
                <a:endParaRPr lang="en-US" sz="2400" b="1" dirty="0"/>
              </a:p>
              <a:p>
                <a:r>
                  <a:rPr lang="en-US" sz="2400" dirty="0"/>
                  <a:t>Combine two voltages with opposite temperature behaviors:</a:t>
                </a:r>
              </a:p>
              <a:p>
                <a:r>
                  <a:rPr lang="en-US" sz="2400" dirty="0"/>
                  <a:t>One that decreases with temperature (like </a:t>
                </a:r>
                <a14:m>
                  <m:oMath xmlns:m="http://schemas.openxmlformats.org/officeDocument/2006/math">
                    <m:r>
                      <a:rPr lang="he-IL" sz="2400" b="1" i="1" dirty="0" smtClean="0">
                        <a:latin typeface="Cambria Math" panose="02040503050406030204" pitchFamily="18" charset="0"/>
                      </a:rPr>
                      <m:t> </m:t>
                    </m:r>
                    <m:sSub>
                      <m:sSubPr>
                        <m:ctrlPr>
                          <a:rPr lang="he-IL" sz="2400" b="1" i="1" dirty="0" smtClean="0">
                            <a:latin typeface="Cambria Math" panose="02040503050406030204" pitchFamily="18" charset="0"/>
                          </a:rPr>
                        </m:ctrlPr>
                      </m:sSubPr>
                      <m:e>
                        <m:r>
                          <a:rPr lang="en-US" sz="2400" b="1" i="1" dirty="0" smtClean="0">
                            <a:latin typeface="Cambria Math" panose="02040503050406030204" pitchFamily="18" charset="0"/>
                          </a:rPr>
                          <m:t>𝑽</m:t>
                        </m:r>
                      </m:e>
                      <m:sub>
                        <m:r>
                          <a:rPr lang="en-US" sz="2400" b="1" i="1" dirty="0" smtClean="0">
                            <a:latin typeface="Cambria Math" panose="02040503050406030204" pitchFamily="18" charset="0"/>
                          </a:rPr>
                          <m:t>𝑩𝑬</m:t>
                        </m:r>
                      </m:sub>
                    </m:sSub>
                  </m:oMath>
                </a14:m>
                <a:r>
                  <a:rPr lang="en-US" sz="2400" dirty="0"/>
                  <a:t>)</a:t>
                </a:r>
              </a:p>
              <a:p>
                <a:r>
                  <a:rPr lang="en-US" sz="2400" dirty="0"/>
                  <a:t>One that increases with temperature (like a PTAT voltage)</a:t>
                </a:r>
                <a:endParaRPr lang="he-IL" sz="2400" dirty="0"/>
              </a:p>
              <a:p>
                <a:endParaRPr lang="en-US" sz="2400" dirty="0"/>
              </a:p>
              <a:p>
                <a:r>
                  <a:rPr lang="en-US" sz="2400" dirty="0"/>
                  <a:t>→ By adjusting their weights and summing them, the temperature dependence is canceled out.</a:t>
                </a:r>
              </a:p>
              <a:p>
                <a:r>
                  <a:rPr lang="en-US" sz="2400" dirty="0"/>
                  <a:t>(*) In most designs, the output of a BGR is around 1.2 V.</a:t>
                </a:r>
                <a:br>
                  <a:rPr lang="en-US" sz="2400" dirty="0"/>
                </a:br>
                <a:r>
                  <a:rPr lang="en-US" sz="2400" dirty="0"/>
                  <a:t>In our implementation, we required a </a:t>
                </a:r>
                <a:r>
                  <a:rPr lang="en-US" sz="2400" b="1" dirty="0"/>
                  <a:t>lower reference voltage</a:t>
                </a:r>
                <a:r>
                  <a:rPr lang="en-US" sz="2400" dirty="0"/>
                  <a:t> to meet the LDO output target.</a:t>
                </a:r>
                <a:r>
                  <a:rPr lang="he-IL" sz="2400" dirty="0"/>
                  <a:t> </a:t>
                </a:r>
                <a:r>
                  <a:rPr lang="en-US" sz="2400" dirty="0"/>
                  <a:t>Therefore, we used a </a:t>
                </a:r>
                <a:r>
                  <a:rPr lang="en-US" sz="2400" b="1" dirty="0"/>
                  <a:t>slightly different current-mode topology</a:t>
                </a:r>
                <a:r>
                  <a:rPr lang="en-US" sz="2400" dirty="0"/>
                  <a:t>, but the core temperature compensation principle remains the same.</a:t>
                </a:r>
              </a:p>
            </p:txBody>
          </p:sp>
        </mc:Choice>
        <mc:Fallback xmlns="">
          <p:sp>
            <p:nvSpPr>
              <p:cNvPr id="2" name="TextBox 1">
                <a:extLst>
                  <a:ext uri="{FF2B5EF4-FFF2-40B4-BE49-F238E27FC236}">
                    <a16:creationId xmlns:a16="http://schemas.microsoft.com/office/drawing/2014/main" id="{90FB3B25-221F-4CE7-A883-25D41C126BD6}"/>
                  </a:ext>
                </a:extLst>
              </p:cNvPr>
              <p:cNvSpPr txBox="1">
                <a:spLocks noRot="1" noChangeAspect="1" noMove="1" noResize="1" noEditPoints="1" noAdjustHandles="1" noChangeArrowheads="1" noChangeShapeType="1" noTextEdit="1"/>
              </p:cNvSpPr>
              <p:nvPr/>
            </p:nvSpPr>
            <p:spPr>
              <a:xfrm>
                <a:off x="267419" y="1461331"/>
                <a:ext cx="11477270" cy="4524315"/>
              </a:xfrm>
              <a:prstGeom prst="rect">
                <a:avLst/>
              </a:prstGeom>
              <a:blipFill>
                <a:blip r:embed="rId4"/>
                <a:stretch>
                  <a:fillRect l="-850" t="-1213" r="-690" b="-2156"/>
                </a:stretch>
              </a:blipFill>
            </p:spPr>
            <p:txBody>
              <a:bodyPr/>
              <a:lstStyle/>
              <a:p>
                <a:r>
                  <a:rPr lang="en-IL">
                    <a:noFill/>
                  </a:rPr>
                  <a:t> </a:t>
                </a:r>
              </a:p>
            </p:txBody>
          </p:sp>
        </mc:Fallback>
      </mc:AlternateContent>
      <p:pic>
        <p:nvPicPr>
          <p:cNvPr id="7" name="Picture 6">
            <a:extLst>
              <a:ext uri="{FF2B5EF4-FFF2-40B4-BE49-F238E27FC236}">
                <a16:creationId xmlns:a16="http://schemas.microsoft.com/office/drawing/2014/main" id="{7A01DE03-5A3B-145E-C30F-68BA72BB5402}"/>
              </a:ext>
            </a:extLst>
          </p:cNvPr>
          <p:cNvPicPr>
            <a:picLocks noChangeAspect="1"/>
          </p:cNvPicPr>
          <p:nvPr/>
        </p:nvPicPr>
        <p:blipFill>
          <a:blip r:embed="rId5"/>
          <a:stretch>
            <a:fillRect/>
          </a:stretch>
        </p:blipFill>
        <p:spPr>
          <a:xfrm>
            <a:off x="10893991" y="77582"/>
            <a:ext cx="942788" cy="877475"/>
          </a:xfrm>
          <a:prstGeom prst="rect">
            <a:avLst/>
          </a:prstGeom>
        </p:spPr>
      </p:pic>
    </p:spTree>
    <p:extLst>
      <p:ext uri="{BB962C8B-B14F-4D97-AF65-F5344CB8AC3E}">
        <p14:creationId xmlns:p14="http://schemas.microsoft.com/office/powerpoint/2010/main" val="2112061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C08DC-EA76-2C5E-369C-4852621C404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4C133D6-FE4E-4FB7-265C-E59C955FB7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239A750F-72F6-B65A-78EE-3F8FC8E67574}"/>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9C1DBCFE-2184-395A-7474-689889F5D48B}"/>
              </a:ext>
            </a:extLst>
          </p:cNvPr>
          <p:cNvSpPr>
            <a:spLocks noGrp="1"/>
          </p:cNvSpPr>
          <p:nvPr>
            <p:ph type="sldNum" sz="quarter" idx="12"/>
          </p:nvPr>
        </p:nvSpPr>
        <p:spPr/>
        <p:txBody>
          <a:bodyPr/>
          <a:lstStyle/>
          <a:p>
            <a:fld id="{397A11E8-8F25-49C3-8F7D-865FECFDFD18}" type="slidenum">
              <a:rPr lang="en-US" smtClean="0"/>
              <a:t>12</a:t>
            </a:fld>
            <a:endParaRPr lang="en-US"/>
          </a:p>
        </p:txBody>
      </p:sp>
      <p:pic>
        <p:nvPicPr>
          <p:cNvPr id="7" name="Picture 6">
            <a:extLst>
              <a:ext uri="{FF2B5EF4-FFF2-40B4-BE49-F238E27FC236}">
                <a16:creationId xmlns:a16="http://schemas.microsoft.com/office/drawing/2014/main" id="{6D2A270B-58F9-FBE9-95C0-B1AE092EB846}"/>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10" name="Picture 9">
            <a:extLst>
              <a:ext uri="{FF2B5EF4-FFF2-40B4-BE49-F238E27FC236}">
                <a16:creationId xmlns:a16="http://schemas.microsoft.com/office/drawing/2014/main" id="{59A74823-6A12-B64F-ECF0-EB9DFCE4DDDD}"/>
              </a:ext>
            </a:extLst>
          </p:cNvPr>
          <p:cNvPicPr>
            <a:picLocks noChangeAspect="1"/>
          </p:cNvPicPr>
          <p:nvPr/>
        </p:nvPicPr>
        <p:blipFill>
          <a:blip r:embed="rId5"/>
          <a:stretch>
            <a:fillRect/>
          </a:stretch>
        </p:blipFill>
        <p:spPr>
          <a:xfrm>
            <a:off x="807939" y="1234220"/>
            <a:ext cx="10545861" cy="4945459"/>
          </a:xfrm>
          <a:prstGeom prst="rect">
            <a:avLst/>
          </a:prstGeom>
        </p:spPr>
      </p:pic>
      <p:pic>
        <p:nvPicPr>
          <p:cNvPr id="5" name="Picture 4">
            <a:extLst>
              <a:ext uri="{FF2B5EF4-FFF2-40B4-BE49-F238E27FC236}">
                <a16:creationId xmlns:a16="http://schemas.microsoft.com/office/drawing/2014/main" id="{6DC41B5C-A551-F5D5-FE0C-2EDA092682C9}"/>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140" b="98837" l="4380" r="88321">
                        <a14:foregroundMark x1="4380" y1="50000" x2="18978" y2="50000"/>
                        <a14:foregroundMark x1="18248" y1="50000" x2="22628" y2="56977"/>
                        <a14:foregroundMark x1="33577" y1="46512" x2="28467" y2="60465"/>
                        <a14:foregroundMark x1="43066" y1="44186" x2="35766" y2="67442"/>
                        <a14:foregroundMark x1="58394" y1="29070" x2="75912" y2="38372"/>
                        <a14:foregroundMark x1="71533" y1="16279" x2="80292" y2="20930"/>
                        <a14:foregroundMark x1="62774" y1="73256" x2="58394" y2="82558"/>
                        <a14:foregroundMark x1="72263" y1="60465" x2="68613" y2="95349"/>
                        <a14:foregroundMark x1="68613" y1="86047" x2="84672" y2="69767"/>
                        <a14:foregroundMark x1="68613" y1="68605" x2="81752" y2="98837"/>
                      </a14:backgroundRemoval>
                    </a14:imgEffect>
                  </a14:imgLayer>
                </a14:imgProps>
              </a:ext>
            </a:extLst>
          </a:blip>
          <a:stretch>
            <a:fillRect/>
          </a:stretch>
        </p:blipFill>
        <p:spPr>
          <a:xfrm>
            <a:off x="3581400" y="1879615"/>
            <a:ext cx="907808" cy="569865"/>
          </a:xfrm>
          <a:prstGeom prst="rect">
            <a:avLst/>
          </a:prstGeom>
        </p:spPr>
      </p:pic>
      <p:pic>
        <p:nvPicPr>
          <p:cNvPr id="12" name="Picture 11">
            <a:extLst>
              <a:ext uri="{FF2B5EF4-FFF2-40B4-BE49-F238E27FC236}">
                <a16:creationId xmlns:a16="http://schemas.microsoft.com/office/drawing/2014/main" id="{0336907A-4AB7-AA61-EB2F-09C9C09EC338}"/>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8065" b="88710" l="3889" r="91111">
                        <a14:foregroundMark x1="3889" y1="37097" x2="6667" y2="70968"/>
                        <a14:foregroundMark x1="11111" y1="37097" x2="12222" y2="66129"/>
                        <a14:foregroundMark x1="12222" y1="37097" x2="12778" y2="69355"/>
                        <a14:foregroundMark x1="16111" y1="50000" x2="35556" y2="48387"/>
                        <a14:foregroundMark x1="25000" y1="35484" x2="35556" y2="35484"/>
                        <a14:foregroundMark x1="39444" y1="54839" x2="55556" y2="67742"/>
                        <a14:foregroundMark x1="42778" y1="48387" x2="61667" y2="35484"/>
                        <a14:foregroundMark x1="52778" y1="37097" x2="81667" y2="40323"/>
                        <a14:foregroundMark x1="81667" y1="40323" x2="89444" y2="33871"/>
                        <a14:foregroundMark x1="91111" y1="58065" x2="60556" y2="62903"/>
                        <a14:foregroundMark x1="90000" y1="30645" x2="91111" y2="67742"/>
                        <a14:foregroundMark x1="78333" y1="32258" x2="70556" y2="32258"/>
                        <a14:foregroundMark x1="70000" y1="72581" x2="53889" y2="67742"/>
                        <a14:foregroundMark x1="50556" y1="66129" x2="32222" y2="66129"/>
                        <a14:foregroundMark x1="25000" y1="59677" x2="7778" y2="59677"/>
                        <a14:foregroundMark x1="7778" y1="33871" x2="22778" y2="37097"/>
                        <a14:foregroundMark x1="31667" y1="38710" x2="55556" y2="51613"/>
                        <a14:foregroundMark x1="89444" y1="59677" x2="79444" y2="74194"/>
                      </a14:backgroundRemoval>
                    </a14:imgEffect>
                  </a14:imgLayer>
                </a14:imgProps>
              </a:ext>
            </a:extLst>
          </a:blip>
          <a:stretch>
            <a:fillRect/>
          </a:stretch>
        </p:blipFill>
        <p:spPr>
          <a:xfrm>
            <a:off x="8610600" y="1979001"/>
            <a:ext cx="1077365" cy="371092"/>
          </a:xfrm>
          <a:prstGeom prst="rect">
            <a:avLst/>
          </a:prstGeom>
        </p:spPr>
      </p:pic>
      <p:sp>
        <p:nvSpPr>
          <p:cNvPr id="3" name="Title 3">
            <a:extLst>
              <a:ext uri="{FF2B5EF4-FFF2-40B4-BE49-F238E27FC236}">
                <a16:creationId xmlns:a16="http://schemas.microsoft.com/office/drawing/2014/main" id="{C558B199-CD20-6249-84EA-570862D27326}"/>
              </a:ext>
            </a:extLst>
          </p:cNvPr>
          <p:cNvSpPr>
            <a:spLocks noGrp="1"/>
          </p:cNvSpPr>
          <p:nvPr>
            <p:ph type="title"/>
          </p:nvPr>
        </p:nvSpPr>
        <p:spPr>
          <a:xfrm>
            <a:off x="2313151" y="352682"/>
            <a:ext cx="8074325" cy="575154"/>
          </a:xfrm>
        </p:spPr>
        <p:txBody>
          <a:bodyPr>
            <a:normAutofit fontScale="90000"/>
          </a:bodyPr>
          <a:lstStyle/>
          <a:p>
            <a:pPr algn="ctr"/>
            <a:r>
              <a:rPr lang="en-US" b="1" dirty="0"/>
              <a:t>BGR – Operating Principle</a:t>
            </a:r>
          </a:p>
        </p:txBody>
      </p:sp>
    </p:spTree>
    <p:extLst>
      <p:ext uri="{BB962C8B-B14F-4D97-AF65-F5344CB8AC3E}">
        <p14:creationId xmlns:p14="http://schemas.microsoft.com/office/powerpoint/2010/main" val="3487147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E5E9D-651F-E53A-DC5C-B86CB0F406B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40E0F5-9CE4-2A28-C70C-28AA1FBFF6F8}"/>
              </a:ext>
            </a:extLst>
          </p:cNvPr>
          <p:cNvSpPr>
            <a:spLocks noGrp="1"/>
          </p:cNvSpPr>
          <p:nvPr>
            <p:ph type="title"/>
          </p:nvPr>
        </p:nvSpPr>
        <p:spPr>
          <a:xfrm>
            <a:off x="2744637" y="228742"/>
            <a:ext cx="6702725" cy="575154"/>
          </a:xfrm>
        </p:spPr>
        <p:txBody>
          <a:bodyPr>
            <a:normAutofit fontScale="90000"/>
          </a:bodyPr>
          <a:lstStyle/>
          <a:p>
            <a:pPr algn="ctr"/>
            <a:r>
              <a:rPr lang="en-US" b="1" dirty="0"/>
              <a:t>BGR Operating Principle</a:t>
            </a:r>
          </a:p>
        </p:txBody>
      </p:sp>
      <p:pic>
        <p:nvPicPr>
          <p:cNvPr id="6" name="Picture 5">
            <a:extLst>
              <a:ext uri="{FF2B5EF4-FFF2-40B4-BE49-F238E27FC236}">
                <a16:creationId xmlns:a16="http://schemas.microsoft.com/office/drawing/2014/main" id="{7706FA34-A3C4-75CB-E7C6-B1E069169D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1F57C49C-6FA9-E749-0B1B-0B44FEB581C4}"/>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67F377A6-6E73-AE80-3CF0-A5818856DD2E}"/>
              </a:ext>
            </a:extLst>
          </p:cNvPr>
          <p:cNvSpPr>
            <a:spLocks noGrp="1"/>
          </p:cNvSpPr>
          <p:nvPr>
            <p:ph type="sldNum" sz="quarter" idx="12"/>
          </p:nvPr>
        </p:nvSpPr>
        <p:spPr/>
        <p:txBody>
          <a:bodyPr/>
          <a:lstStyle/>
          <a:p>
            <a:fld id="{397A11E8-8F25-49C3-8F7D-865FECFDFD18}" type="slidenum">
              <a:rPr lang="en-US" smtClean="0"/>
              <a:t>13</a:t>
            </a:fld>
            <a:endParaRPr lang="en-US"/>
          </a:p>
        </p:txBody>
      </p:sp>
      <p:pic>
        <p:nvPicPr>
          <p:cNvPr id="7" name="Picture 6">
            <a:extLst>
              <a:ext uri="{FF2B5EF4-FFF2-40B4-BE49-F238E27FC236}">
                <a16:creationId xmlns:a16="http://schemas.microsoft.com/office/drawing/2014/main" id="{AC2D41FB-5FE2-60BC-FC07-F3231D4A42DE}"/>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13" name="Picture 12" descr="A diagram of a circuit&#10;&#10;AI-generated content may be incorrect.">
            <a:extLst>
              <a:ext uri="{FF2B5EF4-FFF2-40B4-BE49-F238E27FC236}">
                <a16:creationId xmlns:a16="http://schemas.microsoft.com/office/drawing/2014/main" id="{85A599A3-F2D8-DA11-0654-46652C63F0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7419" y="1258550"/>
            <a:ext cx="4599301" cy="3996246"/>
          </a:xfrm>
          <a:prstGeom prst="rect">
            <a:avLst/>
          </a:prstGeom>
        </p:spPr>
      </p:pic>
      <p:pic>
        <p:nvPicPr>
          <p:cNvPr id="17" name="Picture 16">
            <a:extLst>
              <a:ext uri="{FF2B5EF4-FFF2-40B4-BE49-F238E27FC236}">
                <a16:creationId xmlns:a16="http://schemas.microsoft.com/office/drawing/2014/main" id="{65EC953D-AA03-22D1-705C-5592EBC80B7E}"/>
              </a:ext>
            </a:extLst>
          </p:cNvPr>
          <p:cNvPicPr>
            <a:picLocks noChangeAspect="1"/>
          </p:cNvPicPr>
          <p:nvPr/>
        </p:nvPicPr>
        <p:blipFill>
          <a:blip r:embed="rId6"/>
          <a:stretch>
            <a:fillRect/>
          </a:stretch>
        </p:blipFill>
        <p:spPr>
          <a:xfrm>
            <a:off x="6499076" y="2271627"/>
            <a:ext cx="2851448" cy="985046"/>
          </a:xfrm>
          <a:prstGeom prst="rect">
            <a:avLst/>
          </a:prstGeom>
        </p:spPr>
      </p:pic>
      <p:pic>
        <p:nvPicPr>
          <p:cNvPr id="19" name="Picture 18">
            <a:extLst>
              <a:ext uri="{FF2B5EF4-FFF2-40B4-BE49-F238E27FC236}">
                <a16:creationId xmlns:a16="http://schemas.microsoft.com/office/drawing/2014/main" id="{1673D39E-0CEF-F172-DDBE-88051B0A82AA}"/>
              </a:ext>
            </a:extLst>
          </p:cNvPr>
          <p:cNvPicPr>
            <a:picLocks noChangeAspect="1"/>
          </p:cNvPicPr>
          <p:nvPr/>
        </p:nvPicPr>
        <p:blipFill>
          <a:blip r:embed="rId7"/>
          <a:srcRect b="48776"/>
          <a:stretch>
            <a:fillRect/>
          </a:stretch>
        </p:blipFill>
        <p:spPr>
          <a:xfrm>
            <a:off x="5179344" y="3355706"/>
            <a:ext cx="5070854" cy="765152"/>
          </a:xfrm>
          <a:prstGeom prst="rect">
            <a:avLst/>
          </a:prstGeom>
        </p:spPr>
      </p:pic>
      <p:pic>
        <p:nvPicPr>
          <p:cNvPr id="21" name="Picture 20">
            <a:extLst>
              <a:ext uri="{FF2B5EF4-FFF2-40B4-BE49-F238E27FC236}">
                <a16:creationId xmlns:a16="http://schemas.microsoft.com/office/drawing/2014/main" id="{29D48E96-11E5-D094-CB57-701AEAF53FEF}"/>
              </a:ext>
            </a:extLst>
          </p:cNvPr>
          <p:cNvPicPr>
            <a:picLocks noChangeAspect="1"/>
          </p:cNvPicPr>
          <p:nvPr/>
        </p:nvPicPr>
        <p:blipFill>
          <a:blip r:embed="rId8"/>
          <a:stretch>
            <a:fillRect/>
          </a:stretch>
        </p:blipFill>
        <p:spPr>
          <a:xfrm>
            <a:off x="4442246" y="5030764"/>
            <a:ext cx="7749754" cy="1174425"/>
          </a:xfrm>
          <a:prstGeom prst="rect">
            <a:avLst/>
          </a:prstGeom>
          <a:ln>
            <a:solidFill>
              <a:schemeClr val="tx1"/>
            </a:solidFill>
          </a:ln>
        </p:spPr>
      </p:pic>
      <p:pic>
        <p:nvPicPr>
          <p:cNvPr id="23" name="Picture 22">
            <a:extLst>
              <a:ext uri="{FF2B5EF4-FFF2-40B4-BE49-F238E27FC236}">
                <a16:creationId xmlns:a16="http://schemas.microsoft.com/office/drawing/2014/main" id="{656AA399-CA36-423C-8617-04DF2CD4918D}"/>
              </a:ext>
            </a:extLst>
          </p:cNvPr>
          <p:cNvPicPr>
            <a:picLocks noChangeAspect="1"/>
          </p:cNvPicPr>
          <p:nvPr/>
        </p:nvPicPr>
        <p:blipFill>
          <a:blip r:embed="rId9"/>
          <a:stretch>
            <a:fillRect/>
          </a:stretch>
        </p:blipFill>
        <p:spPr>
          <a:xfrm>
            <a:off x="6499076" y="4050182"/>
            <a:ext cx="3029373" cy="905001"/>
          </a:xfrm>
          <a:prstGeom prst="rect">
            <a:avLst/>
          </a:prstGeom>
        </p:spPr>
      </p:pic>
      <mc:AlternateContent xmlns:mc="http://schemas.openxmlformats.org/markup-compatibility/2006" xmlns:a14="http://schemas.microsoft.com/office/drawing/2010/main">
        <mc:Choice Requires="a14">
          <p:sp>
            <p:nvSpPr>
              <p:cNvPr id="10" name="תיבת טקסט 9">
                <a:extLst>
                  <a:ext uri="{FF2B5EF4-FFF2-40B4-BE49-F238E27FC236}">
                    <a16:creationId xmlns:a16="http://schemas.microsoft.com/office/drawing/2014/main" id="{FF849515-33B5-B26D-8E9B-7505EA3E41ED}"/>
                  </a:ext>
                </a:extLst>
              </p:cNvPr>
              <p:cNvSpPr txBox="1"/>
              <p:nvPr/>
            </p:nvSpPr>
            <p:spPr>
              <a:xfrm>
                <a:off x="5472953" y="940280"/>
                <a:ext cx="4141694" cy="682046"/>
              </a:xfrm>
              <a:prstGeom prst="rect">
                <a:avLst/>
              </a:prstGeom>
              <a:noFill/>
            </p:spPr>
            <p:txBody>
              <a:bodyPr wrap="square" rtlCol="0">
                <a:spAutoFit/>
              </a:bodyPr>
              <a:lstStyle/>
              <a:p>
                <a:r>
                  <a:rPr lang="en-US" sz="2400" dirty="0"/>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𝐸𝐵</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m:t>
                        </m:r>
                      </m:sub>
                    </m:sSub>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ln</m:t>
                        </m:r>
                      </m:fName>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𝐶</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𝑆</m:t>
                                    </m:r>
                                  </m:sub>
                                </m:sSub>
                              </m:den>
                            </m:f>
                          </m:e>
                        </m:d>
                      </m:e>
                    </m:func>
                  </m:oMath>
                </a14:m>
                <a:r>
                  <a:rPr lang="en-US" sz="2400" dirty="0"/>
                  <a:t>  ,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𝑘𝑇</m:t>
                        </m:r>
                      </m:num>
                      <m:den>
                        <m:r>
                          <a:rPr lang="en-US" sz="2400" b="0" i="1" smtClean="0">
                            <a:latin typeface="Cambria Math" panose="02040503050406030204" pitchFamily="18" charset="0"/>
                          </a:rPr>
                          <m:t>𝑞</m:t>
                        </m:r>
                      </m:den>
                    </m:f>
                  </m:oMath>
                </a14:m>
                <a:endParaRPr lang="en-IL" sz="2400" dirty="0"/>
              </a:p>
            </p:txBody>
          </p:sp>
        </mc:Choice>
        <mc:Fallback xmlns="">
          <p:sp>
            <p:nvSpPr>
              <p:cNvPr id="10" name="תיבת טקסט 9">
                <a:extLst>
                  <a:ext uri="{FF2B5EF4-FFF2-40B4-BE49-F238E27FC236}">
                    <a16:creationId xmlns:a16="http://schemas.microsoft.com/office/drawing/2014/main" id="{FF849515-33B5-B26D-8E9B-7505EA3E41ED}"/>
                  </a:ext>
                </a:extLst>
              </p:cNvPr>
              <p:cNvSpPr txBox="1">
                <a:spLocks noRot="1" noChangeAspect="1" noMove="1" noResize="1" noEditPoints="1" noAdjustHandles="1" noChangeArrowheads="1" noChangeShapeType="1" noTextEdit="1"/>
              </p:cNvSpPr>
              <p:nvPr/>
            </p:nvSpPr>
            <p:spPr>
              <a:xfrm>
                <a:off x="5472953" y="940280"/>
                <a:ext cx="4141694" cy="682046"/>
              </a:xfrm>
              <a:prstGeom prst="rect">
                <a:avLst/>
              </a:prstGeom>
              <a:blipFill>
                <a:blip r:embed="rId10"/>
                <a:stretch>
                  <a:fillRect b="-1786"/>
                </a:stretch>
              </a:blipFill>
            </p:spPr>
            <p:txBody>
              <a:bodyPr/>
              <a:lstStyle/>
              <a:p>
                <a:r>
                  <a:rPr lang="en-IL">
                    <a:noFill/>
                  </a:rPr>
                  <a:t> </a:t>
                </a:r>
              </a:p>
            </p:txBody>
          </p:sp>
        </mc:Fallback>
      </mc:AlternateContent>
      <p:sp>
        <p:nvSpPr>
          <p:cNvPr id="11" name="אליפסה 10">
            <a:extLst>
              <a:ext uri="{FF2B5EF4-FFF2-40B4-BE49-F238E27FC236}">
                <a16:creationId xmlns:a16="http://schemas.microsoft.com/office/drawing/2014/main" id="{68C43D8B-B183-604C-575E-15C747045FB2}"/>
              </a:ext>
            </a:extLst>
          </p:cNvPr>
          <p:cNvSpPr/>
          <p:nvPr/>
        </p:nvSpPr>
        <p:spPr>
          <a:xfrm>
            <a:off x="466105" y="3738282"/>
            <a:ext cx="1264024" cy="161364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12" name="תיבת טקסט 11">
                <a:extLst>
                  <a:ext uri="{FF2B5EF4-FFF2-40B4-BE49-F238E27FC236}">
                    <a16:creationId xmlns:a16="http://schemas.microsoft.com/office/drawing/2014/main" id="{36D667CC-70FC-02CC-D3E4-2ADAABACD3C6}"/>
                  </a:ext>
                </a:extLst>
              </p:cNvPr>
              <p:cNvSpPr txBox="1"/>
              <p:nvPr/>
            </p:nvSpPr>
            <p:spPr>
              <a:xfrm>
                <a:off x="5472953" y="1631304"/>
                <a:ext cx="4141694" cy="660630"/>
              </a:xfrm>
              <a:prstGeom prst="rect">
                <a:avLst/>
              </a:prstGeom>
              <a:noFill/>
            </p:spPr>
            <p:txBody>
              <a:bodyPr wrap="square" rtlCol="0">
                <a:spAutoFit/>
              </a:bodyPr>
              <a:lstStyle/>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𝐶𝑇𝐴𝑇</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𝐸𝐵</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oMath>
                </a14:m>
                <a:r>
                  <a:rPr lang="en-US" sz="2400" dirty="0"/>
                  <a:t>  </a:t>
                </a:r>
                <a14:m>
                  <m:oMath xmlns:m="http://schemas.openxmlformats.org/officeDocument/2006/math">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𝐶𝑇𝐴𝑇</m:t>
                        </m:r>
                        <m:r>
                          <a:rPr lang="en-US" sz="2400" b="0" i="1" dirty="0" smtClean="0">
                            <a:latin typeface="Cambria Math" panose="02040503050406030204" pitchFamily="18" charset="0"/>
                          </a:rPr>
                          <m:t> </m:t>
                        </m:r>
                        <m:r>
                          <a:rPr lang="en-US" sz="2400" b="0" i="1" dirty="0" smtClean="0">
                            <a:latin typeface="Cambria Math" panose="02040503050406030204" pitchFamily="18" charset="0"/>
                          </a:rPr>
                          <m:t>𝑐𝑢𝑟𝑟𝑒𝑛𝑡</m:t>
                        </m:r>
                      </m:e>
                    </m:d>
                  </m:oMath>
                </a14:m>
                <a:endParaRPr lang="en-IL" sz="2400" dirty="0"/>
              </a:p>
            </p:txBody>
          </p:sp>
        </mc:Choice>
        <mc:Fallback xmlns="">
          <p:sp>
            <p:nvSpPr>
              <p:cNvPr id="12" name="תיבת טקסט 11">
                <a:extLst>
                  <a:ext uri="{FF2B5EF4-FFF2-40B4-BE49-F238E27FC236}">
                    <a16:creationId xmlns:a16="http://schemas.microsoft.com/office/drawing/2014/main" id="{36D667CC-70FC-02CC-D3E4-2ADAABACD3C6}"/>
                  </a:ext>
                </a:extLst>
              </p:cNvPr>
              <p:cNvSpPr txBox="1">
                <a:spLocks noRot="1" noChangeAspect="1" noMove="1" noResize="1" noEditPoints="1" noAdjustHandles="1" noChangeArrowheads="1" noChangeShapeType="1" noTextEdit="1"/>
              </p:cNvSpPr>
              <p:nvPr/>
            </p:nvSpPr>
            <p:spPr>
              <a:xfrm>
                <a:off x="5472953" y="1631304"/>
                <a:ext cx="4141694" cy="660630"/>
              </a:xfrm>
              <a:prstGeom prst="rect">
                <a:avLst/>
              </a:prstGeom>
              <a:blipFill>
                <a:blip r:embed="rId11"/>
                <a:stretch>
                  <a:fillRect/>
                </a:stretch>
              </a:blipFill>
            </p:spPr>
            <p:txBody>
              <a:bodyPr/>
              <a:lstStyle/>
              <a:p>
                <a:r>
                  <a:rPr lang="en-IL">
                    <a:noFill/>
                  </a:rPr>
                  <a:t> </a:t>
                </a:r>
              </a:p>
            </p:txBody>
          </p:sp>
        </mc:Fallback>
      </mc:AlternateContent>
      <p:sp>
        <p:nvSpPr>
          <p:cNvPr id="14" name="מלבן 13">
            <a:extLst>
              <a:ext uri="{FF2B5EF4-FFF2-40B4-BE49-F238E27FC236}">
                <a16:creationId xmlns:a16="http://schemas.microsoft.com/office/drawing/2014/main" id="{E857877C-01E5-AAF2-EA92-EB95B2069D79}"/>
              </a:ext>
            </a:extLst>
          </p:cNvPr>
          <p:cNvSpPr/>
          <p:nvPr/>
        </p:nvSpPr>
        <p:spPr>
          <a:xfrm>
            <a:off x="1250518" y="3119718"/>
            <a:ext cx="753094" cy="36555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cxnSp>
        <p:nvCxnSpPr>
          <p:cNvPr id="16" name="מחבר חץ ישר 15">
            <a:extLst>
              <a:ext uri="{FF2B5EF4-FFF2-40B4-BE49-F238E27FC236}">
                <a16:creationId xmlns:a16="http://schemas.microsoft.com/office/drawing/2014/main" id="{227B2CCC-4256-87AD-0DA0-2CFD34E04000}"/>
              </a:ext>
            </a:extLst>
          </p:cNvPr>
          <p:cNvCxnSpPr>
            <a:cxnSpLocks/>
            <a:stCxn id="14" idx="3"/>
          </p:cNvCxnSpPr>
          <p:nvPr/>
        </p:nvCxnSpPr>
        <p:spPr>
          <a:xfrm>
            <a:off x="2003612" y="3302496"/>
            <a:ext cx="518497" cy="2747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אליפסה 23">
            <a:extLst>
              <a:ext uri="{FF2B5EF4-FFF2-40B4-BE49-F238E27FC236}">
                <a16:creationId xmlns:a16="http://schemas.microsoft.com/office/drawing/2014/main" id="{220E81E5-6E79-A154-5C00-2B6B595F33D0}"/>
              </a:ext>
            </a:extLst>
          </p:cNvPr>
          <p:cNvSpPr/>
          <p:nvPr/>
        </p:nvSpPr>
        <p:spPr>
          <a:xfrm>
            <a:off x="2522109" y="2970892"/>
            <a:ext cx="1217696" cy="228390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9" name="מחבר חץ ישר 28">
            <a:extLst>
              <a:ext uri="{FF2B5EF4-FFF2-40B4-BE49-F238E27FC236}">
                <a16:creationId xmlns:a16="http://schemas.microsoft.com/office/drawing/2014/main" id="{0C2B8E57-3E99-9B4B-443B-0B76BBE0E5FE}"/>
              </a:ext>
            </a:extLst>
          </p:cNvPr>
          <p:cNvCxnSpPr>
            <a:cxnSpLocks/>
          </p:cNvCxnSpPr>
          <p:nvPr/>
        </p:nvCxnSpPr>
        <p:spPr>
          <a:xfrm flipV="1">
            <a:off x="1730129" y="4114316"/>
            <a:ext cx="753094" cy="2747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חץ: ימינה 31">
            <a:extLst>
              <a:ext uri="{FF2B5EF4-FFF2-40B4-BE49-F238E27FC236}">
                <a16:creationId xmlns:a16="http://schemas.microsoft.com/office/drawing/2014/main" id="{6D0BED11-DF74-98C9-0C6A-57B49841D659}"/>
              </a:ext>
            </a:extLst>
          </p:cNvPr>
          <p:cNvSpPr/>
          <p:nvPr/>
        </p:nvSpPr>
        <p:spPr>
          <a:xfrm>
            <a:off x="5472953" y="2417839"/>
            <a:ext cx="946566" cy="64780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L"/>
          </a:p>
        </p:txBody>
      </p:sp>
      <p:sp>
        <p:nvSpPr>
          <p:cNvPr id="33" name="חץ: מעוקל למעלה 32">
            <a:extLst>
              <a:ext uri="{FF2B5EF4-FFF2-40B4-BE49-F238E27FC236}">
                <a16:creationId xmlns:a16="http://schemas.microsoft.com/office/drawing/2014/main" id="{B351F236-D374-37D1-C5F7-286FCF5BD0CC}"/>
              </a:ext>
            </a:extLst>
          </p:cNvPr>
          <p:cNvSpPr/>
          <p:nvPr/>
        </p:nvSpPr>
        <p:spPr>
          <a:xfrm rot="15913384">
            <a:off x="2191242" y="3513172"/>
            <a:ext cx="675065" cy="25690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solidFill>
                <a:schemeClr val="tx1"/>
              </a:solidFill>
            </a:endParaRPr>
          </a:p>
        </p:txBody>
      </p:sp>
      <p:sp>
        <p:nvSpPr>
          <p:cNvPr id="34" name="חץ: ימינה 33">
            <a:extLst>
              <a:ext uri="{FF2B5EF4-FFF2-40B4-BE49-F238E27FC236}">
                <a16:creationId xmlns:a16="http://schemas.microsoft.com/office/drawing/2014/main" id="{847DEDC6-DE8E-2347-D544-8921F7050F17}"/>
              </a:ext>
            </a:extLst>
          </p:cNvPr>
          <p:cNvSpPr/>
          <p:nvPr/>
        </p:nvSpPr>
        <p:spPr>
          <a:xfrm>
            <a:off x="5521212" y="4151219"/>
            <a:ext cx="946566" cy="64780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L"/>
          </a:p>
        </p:txBody>
      </p:sp>
      <p:sp>
        <p:nvSpPr>
          <p:cNvPr id="37" name="אליפסה 36">
            <a:extLst>
              <a:ext uri="{FF2B5EF4-FFF2-40B4-BE49-F238E27FC236}">
                <a16:creationId xmlns:a16="http://schemas.microsoft.com/office/drawing/2014/main" id="{5A600BF5-8C8B-0B0B-9CB7-A220CD65BB62}"/>
              </a:ext>
            </a:extLst>
          </p:cNvPr>
          <p:cNvSpPr/>
          <p:nvPr/>
        </p:nvSpPr>
        <p:spPr>
          <a:xfrm>
            <a:off x="3754318" y="2435273"/>
            <a:ext cx="1217696" cy="2283904"/>
          </a:xfrm>
          <a:prstGeom prst="ellipse">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4125105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1"/>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4"/>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6"/>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29"/>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33"/>
                                        </p:tgtEl>
                                        <p:attrNameLst>
                                          <p:attrName>style.visibility</p:attrName>
                                        </p:attrNameLst>
                                      </p:cBhvr>
                                      <p:to>
                                        <p:strVal val="hidden"/>
                                      </p:to>
                                    </p:set>
                                  </p:childTnLst>
                                </p:cTn>
                              </p:par>
                            </p:childTnLst>
                          </p:cTn>
                        </p:par>
                        <p:par>
                          <p:cTn id="53" fill="hold">
                            <p:stCondLst>
                              <p:cond delay="0"/>
                            </p:stCondLst>
                            <p:childTnLst>
                              <p:par>
                                <p:cTn id="54" presetID="1" presetClass="entr" presetSubtype="0" fill="hold" nodeType="afterEffect">
                                  <p:stCondLst>
                                    <p:cond delay="0"/>
                                  </p:stCondLst>
                                  <p:childTnLst>
                                    <p:set>
                                      <p:cBhvr>
                                        <p:cTn id="55" dur="1" fill="hold">
                                          <p:stCondLst>
                                            <p:cond delay="0"/>
                                          </p:stCondLst>
                                        </p:cTn>
                                        <p:tgtEl>
                                          <p:spTgt spid="21"/>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1" grpId="1" animBg="1"/>
      <p:bldP spid="12" grpId="0"/>
      <p:bldP spid="14" grpId="0" animBg="1"/>
      <p:bldP spid="14" grpId="1" animBg="1"/>
      <p:bldP spid="24" grpId="0" animBg="1"/>
      <p:bldP spid="24" grpId="1" animBg="1"/>
      <p:bldP spid="32" grpId="0" animBg="1"/>
      <p:bldP spid="33" grpId="0" animBg="1"/>
      <p:bldP spid="33" grpId="1" animBg="1"/>
      <p:bldP spid="34" grpId="0" animBg="1"/>
      <p:bldP spid="3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9A516-749F-271D-AFEB-2E396D0A57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A0A8D7-3C99-A7E5-D04A-DDF5E8252522}"/>
              </a:ext>
            </a:extLst>
          </p:cNvPr>
          <p:cNvSpPr>
            <a:spLocks noGrp="1"/>
          </p:cNvSpPr>
          <p:nvPr>
            <p:ph type="title"/>
          </p:nvPr>
        </p:nvSpPr>
        <p:spPr>
          <a:xfrm>
            <a:off x="2751690" y="327260"/>
            <a:ext cx="8074325" cy="575154"/>
          </a:xfrm>
        </p:spPr>
        <p:txBody>
          <a:bodyPr>
            <a:normAutofit fontScale="90000"/>
          </a:bodyPr>
          <a:lstStyle/>
          <a:p>
            <a:pPr algn="ctr"/>
            <a:r>
              <a:rPr lang="en-US" b="1" dirty="0"/>
              <a:t>The Role of the OTA in Our Design</a:t>
            </a:r>
          </a:p>
        </p:txBody>
      </p:sp>
      <p:pic>
        <p:nvPicPr>
          <p:cNvPr id="6" name="Picture 5">
            <a:extLst>
              <a:ext uri="{FF2B5EF4-FFF2-40B4-BE49-F238E27FC236}">
                <a16:creationId xmlns:a16="http://schemas.microsoft.com/office/drawing/2014/main" id="{28A58A2F-5AA2-CC97-AF06-52C5463A1B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023A59EE-8090-F242-D785-977121AD102B}"/>
              </a:ext>
            </a:extLst>
          </p:cNvPr>
          <p:cNvSpPr>
            <a:spLocks noGrp="1"/>
          </p:cNvSpPr>
          <p:nvPr>
            <p:ph type="dt" sz="half" idx="10"/>
          </p:nvPr>
        </p:nvSpPr>
        <p:spPr/>
        <p:txBody>
          <a:bodyPr/>
          <a:lstStyle/>
          <a:p>
            <a:r>
              <a:rPr lang="en-US"/>
              <a:t>28/07/25</a:t>
            </a:r>
            <a:endParaRPr lang="en-US" dirty="0"/>
          </a:p>
        </p:txBody>
      </p:sp>
      <p:sp>
        <p:nvSpPr>
          <p:cNvPr id="9" name="Slide Number Placeholder 8">
            <a:extLst>
              <a:ext uri="{FF2B5EF4-FFF2-40B4-BE49-F238E27FC236}">
                <a16:creationId xmlns:a16="http://schemas.microsoft.com/office/drawing/2014/main" id="{6ADD2D1A-B506-50BB-2FCA-213A85299B08}"/>
              </a:ext>
            </a:extLst>
          </p:cNvPr>
          <p:cNvSpPr>
            <a:spLocks noGrp="1"/>
          </p:cNvSpPr>
          <p:nvPr>
            <p:ph type="sldNum" sz="quarter" idx="12"/>
          </p:nvPr>
        </p:nvSpPr>
        <p:spPr/>
        <p:txBody>
          <a:bodyPr/>
          <a:lstStyle/>
          <a:p>
            <a:fld id="{397A11E8-8F25-49C3-8F7D-865FECFDFD18}" type="slidenum">
              <a:rPr lang="en-US" smtClean="0"/>
              <a:t>14</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1FFAE83-136B-A5C7-9612-F420EDEDF359}"/>
                  </a:ext>
                </a:extLst>
              </p:cNvPr>
              <p:cNvSpPr txBox="1"/>
              <p:nvPr/>
            </p:nvSpPr>
            <p:spPr>
              <a:xfrm>
                <a:off x="267419" y="1461331"/>
                <a:ext cx="11477270" cy="3170099"/>
              </a:xfrm>
              <a:prstGeom prst="rect">
                <a:avLst/>
              </a:prstGeom>
              <a:noFill/>
            </p:spPr>
            <p:txBody>
              <a:bodyPr wrap="square" rtlCol="0">
                <a:spAutoFit/>
              </a:bodyPr>
              <a:lstStyle/>
              <a:p>
                <a:r>
                  <a:rPr lang="en-US" sz="2000" dirty="0"/>
                  <a:t>A </a:t>
                </a:r>
                <a:r>
                  <a:rPr lang="en-US" sz="2000" b="1" dirty="0"/>
                  <a:t>high-gain amplifier </a:t>
                </a:r>
                <a:r>
                  <a:rPr lang="en-US" sz="2000" dirty="0"/>
                  <a:t>is essential to:</a:t>
                </a:r>
              </a:p>
              <a:p>
                <a:pPr marL="342900" indent="-342900">
                  <a:buFont typeface="Wingdings" panose="05000000000000000000" pitchFamily="2" charset="2"/>
                  <a:buChar char="§"/>
                </a:pPr>
                <a:r>
                  <a:rPr lang="en-US" sz="2000" dirty="0"/>
                  <a:t>Stabilize output voltage via current modulation (in LDO)</a:t>
                </a:r>
              </a:p>
              <a:p>
                <a:pPr marL="342900" indent="-342900">
                  <a:buFont typeface="Wingdings" panose="05000000000000000000" pitchFamily="2" charset="2"/>
                  <a:buChar char="§"/>
                </a:pPr>
                <a:r>
                  <a:rPr lang="en-US" sz="2000" dirty="0"/>
                  <a:t>Produce a PTAT current for temperature compensation (in BGR)</a:t>
                </a:r>
              </a:p>
              <a:p>
                <a:pPr marL="342900" indent="-342900">
                  <a:buFont typeface="Wingdings" panose="05000000000000000000" pitchFamily="2" charset="2"/>
                  <a:buChar char="§"/>
                </a:pPr>
                <a:r>
                  <a:rPr lang="en-US" sz="2000" dirty="0"/>
                  <a:t>Reject supply variations in low frequencies (PSRR)</a:t>
                </a:r>
                <a:endParaRPr lang="he-IL" sz="2000" dirty="0"/>
              </a:p>
              <a:p>
                <a:pPr marL="342900" indent="-342900">
                  <a:buFont typeface="Wingdings" panose="05000000000000000000" pitchFamily="2" charset="2"/>
                  <a:buChar char="§"/>
                </a:pPr>
                <a:endParaRPr lang="en-US" sz="2000" dirty="0"/>
              </a:p>
              <a:p>
                <a:r>
                  <a:rPr lang="en-US" sz="2000" dirty="0"/>
                  <a:t>The amplifier compares:</a:t>
                </a:r>
              </a:p>
              <a:p>
                <a:pPr marL="342900" indent="-342900">
                  <a:buFont typeface="Wingdings" panose="05000000000000000000" pitchFamily="2" charset="2"/>
                  <a:buChar char="§"/>
                </a:pPr>
                <a:r>
                  <a:rPr lang="en-US" sz="2000" u="sng" dirty="0"/>
                  <a:t>In the </a:t>
                </a:r>
                <a:r>
                  <a:rPr lang="en-US" sz="2000" b="1" u="sng" dirty="0"/>
                  <a:t>LDO</a:t>
                </a:r>
                <a:r>
                  <a:rPr lang="en-US" sz="2000" dirty="0"/>
                  <a:t>: scaled output voltage vs. reference voltage</a:t>
                </a:r>
              </a:p>
              <a:p>
                <a:pPr marL="342900" indent="-342900">
                  <a:buFont typeface="Wingdings" panose="05000000000000000000" pitchFamily="2" charset="2"/>
                  <a:buChar char="§"/>
                </a:pPr>
                <a:r>
                  <a:rPr lang="en-US" sz="2000" u="sng" dirty="0"/>
                  <a:t>In the </a:t>
                </a:r>
                <a:r>
                  <a:rPr lang="en-US" sz="2000" b="1" u="sng" dirty="0"/>
                  <a:t>BGR</a:t>
                </a:r>
                <a:r>
                  <a:rPr lang="en-US" sz="2000" dirty="0"/>
                  <a:t>: matched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𝑉</m:t>
                        </m:r>
                      </m:e>
                      <m:sub>
                        <m:r>
                          <a:rPr lang="en-US" sz="2000" i="1" dirty="0" smtClean="0">
                            <a:latin typeface="Cambria Math" panose="02040503050406030204" pitchFamily="18" charset="0"/>
                          </a:rPr>
                          <m:t>𝐵𝐸</m:t>
                        </m:r>
                      </m:sub>
                    </m:sSub>
                    <m:r>
                      <a:rPr lang="en-US" sz="2000" i="1" dirty="0" smtClean="0">
                        <a:latin typeface="Cambria Math" panose="02040503050406030204" pitchFamily="18" charset="0"/>
                      </a:rPr>
                      <m:t> </m:t>
                    </m:r>
                  </m:oMath>
                </a14:m>
                <a:r>
                  <a:rPr lang="en-US" sz="2000" dirty="0"/>
                  <a:t>voltages</a:t>
                </a:r>
              </a:p>
              <a:p>
                <a:r>
                  <a:rPr lang="en-US" sz="2000" dirty="0"/>
                  <a:t>In both cases, the amplifier's output drives a MOS gate.</a:t>
                </a:r>
              </a:p>
              <a:p>
                <a:endParaRPr lang="en-US" sz="2000" dirty="0"/>
              </a:p>
            </p:txBody>
          </p:sp>
        </mc:Choice>
        <mc:Fallback xmlns="">
          <p:sp>
            <p:nvSpPr>
              <p:cNvPr id="2" name="TextBox 1">
                <a:extLst>
                  <a:ext uri="{FF2B5EF4-FFF2-40B4-BE49-F238E27FC236}">
                    <a16:creationId xmlns:a16="http://schemas.microsoft.com/office/drawing/2014/main" id="{31FFAE83-136B-A5C7-9612-F420EDEDF359}"/>
                  </a:ext>
                </a:extLst>
              </p:cNvPr>
              <p:cNvSpPr txBox="1">
                <a:spLocks noRot="1" noChangeAspect="1" noMove="1" noResize="1" noEditPoints="1" noAdjustHandles="1" noChangeArrowheads="1" noChangeShapeType="1" noTextEdit="1"/>
              </p:cNvSpPr>
              <p:nvPr/>
            </p:nvSpPr>
            <p:spPr>
              <a:xfrm>
                <a:off x="267419" y="1461331"/>
                <a:ext cx="11477270" cy="3170099"/>
              </a:xfrm>
              <a:prstGeom prst="rect">
                <a:avLst/>
              </a:prstGeom>
              <a:blipFill>
                <a:blip r:embed="rId4"/>
                <a:stretch>
                  <a:fillRect l="-584" t="-1154"/>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82FCA2D-6D35-7BC2-C8D1-EAFA476D3B41}"/>
              </a:ext>
            </a:extLst>
          </p:cNvPr>
          <p:cNvPicPr>
            <a:picLocks noChangeAspect="1"/>
          </p:cNvPicPr>
          <p:nvPr/>
        </p:nvPicPr>
        <p:blipFill>
          <a:blip r:embed="rId5"/>
          <a:stretch>
            <a:fillRect/>
          </a:stretch>
        </p:blipFill>
        <p:spPr>
          <a:xfrm>
            <a:off x="10893991" y="77582"/>
            <a:ext cx="942788" cy="877475"/>
          </a:xfrm>
          <a:prstGeom prst="rect">
            <a:avLst/>
          </a:prstGeom>
        </p:spPr>
      </p:pic>
      <p:pic>
        <p:nvPicPr>
          <p:cNvPr id="1028" name="Picture 4" descr="Single-Stage Differential Amplifier. | Download Scientific Diagram">
            <a:extLst>
              <a:ext uri="{FF2B5EF4-FFF2-40B4-BE49-F238E27FC236}">
                <a16:creationId xmlns:a16="http://schemas.microsoft.com/office/drawing/2014/main" id="{F4894AAC-FC91-2217-1481-5B7E791BA7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73605" y="1797848"/>
            <a:ext cx="3691780" cy="36408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hlinkClick r:id="rId7"/>
            <a:extLst>
              <a:ext uri="{FF2B5EF4-FFF2-40B4-BE49-F238E27FC236}">
                <a16:creationId xmlns:a16="http://schemas.microsoft.com/office/drawing/2014/main" id="{2B8CB2EB-9C55-1AA0-AEEF-CF01DEC271C8}"/>
              </a:ext>
            </a:extLst>
          </p:cNvPr>
          <p:cNvPicPr>
            <a:picLocks noChangeAspect="1"/>
          </p:cNvPicPr>
          <p:nvPr/>
        </p:nvPicPr>
        <p:blipFill>
          <a:blip r:embed="rId8"/>
          <a:stretch>
            <a:fillRect/>
          </a:stretch>
        </p:blipFill>
        <p:spPr>
          <a:xfrm>
            <a:off x="7466571" y="1797848"/>
            <a:ext cx="4105848" cy="3886742"/>
          </a:xfrm>
          <a:prstGeom prst="rect">
            <a:avLst/>
          </a:prstGeom>
        </p:spPr>
      </p:pic>
      <p:sp>
        <p:nvSpPr>
          <p:cNvPr id="11" name="TextBox 10">
            <a:extLst>
              <a:ext uri="{FF2B5EF4-FFF2-40B4-BE49-F238E27FC236}">
                <a16:creationId xmlns:a16="http://schemas.microsoft.com/office/drawing/2014/main" id="{8DF50C28-3DDE-6BF2-C13F-4107B721A429}"/>
              </a:ext>
            </a:extLst>
          </p:cNvPr>
          <p:cNvSpPr txBox="1"/>
          <p:nvPr/>
        </p:nvSpPr>
        <p:spPr>
          <a:xfrm>
            <a:off x="267418" y="4399040"/>
            <a:ext cx="6719729" cy="1200329"/>
          </a:xfrm>
          <a:prstGeom prst="rect">
            <a:avLst/>
          </a:prstGeom>
          <a:noFill/>
        </p:spPr>
        <p:txBody>
          <a:bodyPr wrap="square">
            <a:spAutoFit/>
          </a:bodyPr>
          <a:lstStyle/>
          <a:p>
            <a:r>
              <a:rPr lang="en-US" sz="1800" dirty="0"/>
              <a:t>Why the </a:t>
            </a:r>
            <a:r>
              <a:rPr lang="en-US" sz="1800" b="1" dirty="0"/>
              <a:t>two-stage Miller OTA </a:t>
            </a:r>
            <a:r>
              <a:rPr lang="en-US" sz="1800" dirty="0"/>
              <a:t>topology?</a:t>
            </a:r>
          </a:p>
          <a:p>
            <a:pPr marL="342900" indent="-342900">
              <a:buFont typeface="Arial" panose="020B0604020202020204" pitchFamily="34" charset="0"/>
              <a:buChar char="•"/>
            </a:pPr>
            <a:r>
              <a:rPr lang="en-US" sz="1800" dirty="0"/>
              <a:t>High DC gain required (&gt;70dB) – single-stage OTA insufficient.</a:t>
            </a:r>
          </a:p>
          <a:p>
            <a:pPr marL="342900" indent="-342900">
              <a:buFont typeface="Arial" panose="020B0604020202020204" pitchFamily="34" charset="0"/>
              <a:buChar char="•"/>
            </a:pPr>
            <a:r>
              <a:rPr lang="en-US" sz="1800" dirty="0"/>
              <a:t>Large output swing needed – telescopic </a:t>
            </a:r>
            <a:r>
              <a:rPr lang="en-US" sz="1800" dirty="0" err="1"/>
              <a:t>cascode</a:t>
            </a:r>
            <a:r>
              <a:rPr lang="en-US" sz="1800" dirty="0"/>
              <a:t> unsuitable.</a:t>
            </a:r>
          </a:p>
          <a:p>
            <a:pPr marL="342900" indent="-342900">
              <a:buFont typeface="Arial" panose="020B0604020202020204" pitchFamily="34" charset="0"/>
              <a:buChar char="•"/>
            </a:pPr>
            <a:r>
              <a:rPr lang="en-US" sz="1800" dirty="0"/>
              <a:t>No longer one-pole system, compensation is essential for stability.</a:t>
            </a:r>
          </a:p>
        </p:txBody>
      </p:sp>
      <p:pic>
        <p:nvPicPr>
          <p:cNvPr id="13" name="Picture 12">
            <a:extLst>
              <a:ext uri="{FF2B5EF4-FFF2-40B4-BE49-F238E27FC236}">
                <a16:creationId xmlns:a16="http://schemas.microsoft.com/office/drawing/2014/main" id="{DA900683-0A84-14BB-94B1-8BAB4DD5B8A4}"/>
              </a:ext>
            </a:extLst>
          </p:cNvPr>
          <p:cNvPicPr>
            <a:picLocks noChangeAspect="1"/>
          </p:cNvPicPr>
          <p:nvPr/>
        </p:nvPicPr>
        <p:blipFill>
          <a:blip r:embed="rId9"/>
          <a:stretch>
            <a:fillRect/>
          </a:stretch>
        </p:blipFill>
        <p:spPr>
          <a:xfrm>
            <a:off x="7141411" y="1716937"/>
            <a:ext cx="4756167" cy="4048564"/>
          </a:xfrm>
          <a:prstGeom prst="rect">
            <a:avLst/>
          </a:prstGeom>
        </p:spPr>
      </p:pic>
      <p:pic>
        <p:nvPicPr>
          <p:cNvPr id="15" name="Picture 14">
            <a:extLst>
              <a:ext uri="{FF2B5EF4-FFF2-40B4-BE49-F238E27FC236}">
                <a16:creationId xmlns:a16="http://schemas.microsoft.com/office/drawing/2014/main" id="{49B06514-655E-BB55-662E-FE57BBC642CE}"/>
              </a:ext>
            </a:extLst>
          </p:cNvPr>
          <p:cNvPicPr>
            <a:picLocks noChangeAspect="1"/>
          </p:cNvPicPr>
          <p:nvPr/>
        </p:nvPicPr>
        <p:blipFill>
          <a:blip r:embed="rId10"/>
          <a:srcRect r="412" b="958"/>
          <a:stretch>
            <a:fillRect/>
          </a:stretch>
        </p:blipFill>
        <p:spPr>
          <a:xfrm>
            <a:off x="218928" y="1277810"/>
            <a:ext cx="11643409" cy="4700049"/>
          </a:xfrm>
          <a:prstGeom prst="rect">
            <a:avLst/>
          </a:prstGeom>
        </p:spPr>
      </p:pic>
    </p:spTree>
    <p:extLst>
      <p:ext uri="{BB962C8B-B14F-4D97-AF65-F5344CB8AC3E}">
        <p14:creationId xmlns:p14="http://schemas.microsoft.com/office/powerpoint/2010/main" val="390753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CB85F-B925-CCC7-6EA4-37D3065457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DD5EA0-CE14-1BF1-975F-CCE5C96F45CB}"/>
              </a:ext>
            </a:extLst>
          </p:cNvPr>
          <p:cNvSpPr>
            <a:spLocks noGrp="1"/>
          </p:cNvSpPr>
          <p:nvPr>
            <p:ph type="title"/>
          </p:nvPr>
        </p:nvSpPr>
        <p:spPr>
          <a:xfrm>
            <a:off x="2744637" y="228742"/>
            <a:ext cx="6702725" cy="575154"/>
          </a:xfrm>
        </p:spPr>
        <p:txBody>
          <a:bodyPr>
            <a:normAutofit fontScale="90000"/>
          </a:bodyPr>
          <a:lstStyle/>
          <a:p>
            <a:pPr algn="ctr"/>
            <a:r>
              <a:rPr lang="en-US" b="1" dirty="0"/>
              <a:t>Two-Stage Miller OTA</a:t>
            </a:r>
          </a:p>
        </p:txBody>
      </p:sp>
      <p:pic>
        <p:nvPicPr>
          <p:cNvPr id="6" name="Picture 5">
            <a:extLst>
              <a:ext uri="{FF2B5EF4-FFF2-40B4-BE49-F238E27FC236}">
                <a16:creationId xmlns:a16="http://schemas.microsoft.com/office/drawing/2014/main" id="{78CF8EE9-2EE3-AFD2-4D57-7D7F37C042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2938FE29-31F0-A603-34CA-6B605314CA0C}"/>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5BE66CE9-601D-7413-A901-3F55573C5897}"/>
              </a:ext>
            </a:extLst>
          </p:cNvPr>
          <p:cNvSpPr>
            <a:spLocks noGrp="1"/>
          </p:cNvSpPr>
          <p:nvPr>
            <p:ph type="sldNum" sz="quarter" idx="12"/>
          </p:nvPr>
        </p:nvSpPr>
        <p:spPr>
          <a:xfrm>
            <a:off x="8610600" y="6356350"/>
            <a:ext cx="2743200" cy="365125"/>
          </a:xfrm>
        </p:spPr>
        <p:txBody>
          <a:bodyPr/>
          <a:lstStyle/>
          <a:p>
            <a:fld id="{397A11E8-8F25-49C3-8F7D-865FECFDFD18}" type="slidenum">
              <a:rPr lang="en-US" smtClean="0"/>
              <a:t>15</a:t>
            </a:fld>
            <a:endParaRPr lang="en-US"/>
          </a:p>
        </p:txBody>
      </p:sp>
      <p:pic>
        <p:nvPicPr>
          <p:cNvPr id="7" name="Picture 6">
            <a:extLst>
              <a:ext uri="{FF2B5EF4-FFF2-40B4-BE49-F238E27FC236}">
                <a16:creationId xmlns:a16="http://schemas.microsoft.com/office/drawing/2014/main" id="{5B7AB129-C3FD-36B9-DCF7-71E08F6019D3}"/>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3" name="Picture 2" descr="A diagram of a circuit&#10;&#10;AI-generated content may be incorrect.">
            <a:extLst>
              <a:ext uri="{FF2B5EF4-FFF2-40B4-BE49-F238E27FC236}">
                <a16:creationId xmlns:a16="http://schemas.microsoft.com/office/drawing/2014/main" id="{FC71B723-F857-0CEB-2E0C-08E203D1FD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37" y="1391386"/>
            <a:ext cx="5113654" cy="4513857"/>
          </a:xfrm>
          <a:prstGeom prst="rect">
            <a:avLst/>
          </a:prstGeom>
        </p:spPr>
      </p:pic>
      <p:pic>
        <p:nvPicPr>
          <p:cNvPr id="13" name="Picture 12">
            <a:extLst>
              <a:ext uri="{FF2B5EF4-FFF2-40B4-BE49-F238E27FC236}">
                <a16:creationId xmlns:a16="http://schemas.microsoft.com/office/drawing/2014/main" id="{4D44B5B0-1C40-8CAE-7ABF-CB34573327EA}"/>
              </a:ext>
            </a:extLst>
          </p:cNvPr>
          <p:cNvPicPr>
            <a:picLocks noChangeAspect="1"/>
          </p:cNvPicPr>
          <p:nvPr/>
        </p:nvPicPr>
        <p:blipFill>
          <a:blip r:embed="rId6"/>
          <a:stretch>
            <a:fillRect/>
          </a:stretch>
        </p:blipFill>
        <p:spPr>
          <a:xfrm>
            <a:off x="3581400" y="3110812"/>
            <a:ext cx="640224" cy="435691"/>
          </a:xfrm>
          <a:prstGeom prst="rect">
            <a:avLst/>
          </a:prstGeom>
        </p:spPr>
      </p:pic>
      <mc:AlternateContent xmlns:mc="http://schemas.openxmlformats.org/markup-compatibility/2006" xmlns:a14="http://schemas.microsoft.com/office/drawing/2010/main">
        <mc:Choice Requires="a14">
          <p:sp>
            <p:nvSpPr>
              <p:cNvPr id="2" name="תיבת טקסט 1">
                <a:extLst>
                  <a:ext uri="{FF2B5EF4-FFF2-40B4-BE49-F238E27FC236}">
                    <a16:creationId xmlns:a16="http://schemas.microsoft.com/office/drawing/2014/main" id="{41BE2D67-2759-7E8E-D88E-DEB1FDD8ED01}"/>
                  </a:ext>
                </a:extLst>
              </p:cNvPr>
              <p:cNvSpPr txBox="1"/>
              <p:nvPr/>
            </p:nvSpPr>
            <p:spPr>
              <a:xfrm>
                <a:off x="6011598" y="1178926"/>
                <a:ext cx="5568107" cy="1822102"/>
              </a:xfrm>
              <a:prstGeom prst="rect">
                <a:avLst/>
              </a:prstGeom>
              <a:noFill/>
            </p:spPr>
            <p:txBody>
              <a:bodyPr wrap="square" rtlCol="0">
                <a:spAutoFit/>
              </a:bodyPr>
              <a:lstStyle/>
              <a:p>
                <a:pPr algn="ctr"/>
                <a:r>
                  <a:rPr lang="en-US" b="1" dirty="0"/>
                  <a:t> </a:t>
                </a:r>
                <a:r>
                  <a:rPr lang="en-US" b="1" u="sng" dirty="0"/>
                  <a:t>High Gain </a:t>
                </a:r>
                <a:r>
                  <a:rPr lang="en-US" b="1" dirty="0"/>
                  <a:t> </a:t>
                </a:r>
                <a:br>
                  <a:rPr lang="en-US" b="1" dirty="0"/>
                </a:br>
                <a14:m>
                  <m:oMathPara xmlns:m="http://schemas.openxmlformats.org/officeDocument/2006/math">
                    <m:oMathParaPr>
                      <m:jc m:val="left"/>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𝒗</m:t>
                          </m:r>
                          <m:r>
                            <a:rPr lang="en-US" b="1" i="1" smtClean="0">
                              <a:latin typeface="Cambria Math" panose="02040503050406030204" pitchFamily="18" charset="0"/>
                            </a:rPr>
                            <m:t>𝟏</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𝑚</m:t>
                          </m:r>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𝑟</m:t>
                              </m:r>
                            </m:e>
                            <m:sub>
                              <m:r>
                                <a:rPr lang="en-US" b="0" i="1" smtClean="0">
                                  <a:latin typeface="Cambria Math" panose="02040503050406030204" pitchFamily="18" charset="0"/>
                                </a:rPr>
                                <m:t>𝑑𝑠</m:t>
                              </m:r>
                            </m:sub>
                          </m:sSub>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𝑑𝑠</m:t>
                              </m:r>
                            </m:sub>
                          </m:sSub>
                        </m:e>
                        <m:sub>
                          <m:r>
                            <a:rPr lang="en-US" b="0" i="1" smtClean="0">
                              <a:latin typeface="Cambria Math" panose="02040503050406030204" pitchFamily="18" charset="0"/>
                            </a:rPr>
                            <m:t>4</m:t>
                          </m:r>
                        </m:sub>
                      </m:sSub>
                      <m:r>
                        <a:rPr lang="en-US" b="0" i="1" smtClean="0">
                          <a:latin typeface="Cambria Math" panose="02040503050406030204" pitchFamily="18" charset="0"/>
                        </a:rPr>
                        <m:t>)  </m:t>
                      </m:r>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𝑨</m:t>
                          </m:r>
                        </m:e>
                        <m:sub>
                          <m:r>
                            <a:rPr lang="en-US" b="1" i="1">
                              <a:latin typeface="Cambria Math" panose="02040503050406030204" pitchFamily="18" charset="0"/>
                            </a:rPr>
                            <m:t>𝒗</m:t>
                          </m:r>
                          <m:r>
                            <a:rPr lang="en-US" b="1" i="1" smtClean="0">
                              <a:latin typeface="Cambria Math" panose="02040503050406030204" pitchFamily="18" charset="0"/>
                            </a:rPr>
                            <m:t>𝟐</m:t>
                          </m:r>
                        </m:sub>
                      </m:sSub>
                      <m:r>
                        <a:rPr lang="en-US" b="1"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𝑔</m:t>
                          </m:r>
                        </m:e>
                        <m:sub>
                          <m:r>
                            <a:rPr lang="en-US" b="0" i="1">
                              <a:latin typeface="Cambria Math" panose="02040503050406030204" pitchFamily="18" charset="0"/>
                            </a:rPr>
                            <m:t>𝑚</m:t>
                          </m:r>
                          <m:r>
                            <a:rPr lang="en-US" b="0" i="1" smtClean="0">
                              <a:latin typeface="Cambria Math" panose="02040503050406030204" pitchFamily="18" charset="0"/>
                            </a:rPr>
                            <m:t>6</m:t>
                          </m:r>
                        </m:sub>
                      </m:sSub>
                      <m:r>
                        <a:rPr lang="en-US" b="0"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b="0" i="1">
                                  <a:latin typeface="Cambria Math" panose="02040503050406030204" pitchFamily="18" charset="0"/>
                                </a:rPr>
                                <m:t>(</m:t>
                              </m:r>
                              <m:r>
                                <a:rPr lang="en-US" b="0" i="1">
                                  <a:latin typeface="Cambria Math" panose="02040503050406030204" pitchFamily="18" charset="0"/>
                                </a:rPr>
                                <m:t>𝑟</m:t>
                              </m:r>
                            </m:e>
                            <m:sub>
                              <m:r>
                                <a:rPr lang="en-US" b="0" i="1">
                                  <a:latin typeface="Cambria Math" panose="02040503050406030204" pitchFamily="18" charset="0"/>
                                </a:rPr>
                                <m:t>𝑑𝑠</m:t>
                              </m:r>
                            </m:sub>
                          </m:sSub>
                        </m:e>
                        <m:sub>
                          <m:r>
                            <a:rPr lang="en-US" b="0" i="1" smtClean="0">
                              <a:latin typeface="Cambria Math" panose="02040503050406030204" pitchFamily="18" charset="0"/>
                            </a:rPr>
                            <m:t>6</m:t>
                          </m:r>
                        </m:sub>
                      </m:sSub>
                      <m:r>
                        <a:rPr lang="en-US" b="0"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b="0" i="1">
                                  <a:latin typeface="Cambria Math" panose="02040503050406030204" pitchFamily="18" charset="0"/>
                                </a:rPr>
                                <m:t>𝑟</m:t>
                              </m:r>
                            </m:e>
                            <m:sub>
                              <m:r>
                                <a:rPr lang="en-US" b="0" i="1">
                                  <a:latin typeface="Cambria Math" panose="02040503050406030204" pitchFamily="18" charset="0"/>
                                </a:rPr>
                                <m:t>𝑑𝑠</m:t>
                              </m:r>
                            </m:sub>
                          </m:sSub>
                        </m:e>
                        <m:sub>
                          <m:r>
                            <a:rPr lang="en-US" b="0" i="1" smtClean="0">
                              <a:latin typeface="Cambria Math" panose="02040503050406030204" pitchFamily="18" charset="0"/>
                            </a:rPr>
                            <m:t>7</m:t>
                          </m:r>
                        </m:sub>
                      </m:sSub>
                      <m:r>
                        <a:rPr lang="en-US" b="0" i="1">
                          <a:latin typeface="Cambria Math" panose="02040503050406030204" pitchFamily="18" charset="0"/>
                        </a:rPr>
                        <m:t>)</m:t>
                      </m:r>
                    </m:oMath>
                  </m:oMathPara>
                </a14:m>
                <a:endParaRPr lang="en-US" dirty="0"/>
              </a:p>
              <a:p>
                <a:pPr algn="ctr"/>
                <a:endParaRPr lang="en-US" b="1" dirty="0"/>
              </a:p>
              <a:p>
                <a:pPr/>
                <a14:m>
                  <m:oMathPara xmlns:m="http://schemas.openxmlformats.org/officeDocument/2006/math">
                    <m:oMathParaPr>
                      <m:jc m:val="centerGroup"/>
                    </m:oMathParaPr>
                    <m:oMath xmlns:m="http://schemas.openxmlformats.org/officeDocument/2006/math">
                      <m:r>
                        <a:rPr lang="en-IL"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𝑨</m:t>
                          </m:r>
                        </m:e>
                        <m:sub>
                          <m:r>
                            <a:rPr lang="en-US" b="1" i="1" smtClean="0">
                              <a:latin typeface="Cambria Math" panose="02040503050406030204" pitchFamily="18" charset="0"/>
                              <a:ea typeface="Cambria Math" panose="02040503050406030204" pitchFamily="18" charset="0"/>
                            </a:rPr>
                            <m:t>𝒕𝒐𝒕</m:t>
                          </m:r>
                        </m:sub>
                      </m:sSub>
                      <m:r>
                        <a:rPr lang="en-US" b="1"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rPr>
                          </m:ctrlPr>
                        </m:sSubPr>
                        <m:e>
                          <m:r>
                            <a:rPr lang="en-US" b="0" i="1">
                              <a:latin typeface="Cambria Math" panose="02040503050406030204" pitchFamily="18" charset="0"/>
                            </a:rPr>
                            <m:t>𝑔</m:t>
                          </m:r>
                        </m:e>
                        <m:sub>
                          <m:r>
                            <a:rPr lang="en-US" b="0" i="1">
                              <a:latin typeface="Cambria Math" panose="02040503050406030204" pitchFamily="18" charset="0"/>
                            </a:rPr>
                            <m:t>𝑚</m:t>
                          </m:r>
                          <m:r>
                            <a:rPr lang="en-US" b="0" i="1">
                              <a:latin typeface="Cambria Math" panose="02040503050406030204" pitchFamily="18" charset="0"/>
                            </a:rPr>
                            <m:t>2</m:t>
                          </m:r>
                        </m:sub>
                      </m:sSub>
                      <m:r>
                        <a:rPr lang="en-US" b="0"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b="0" i="1">
                                  <a:latin typeface="Cambria Math" panose="02040503050406030204" pitchFamily="18" charset="0"/>
                                </a:rPr>
                                <m:t>(</m:t>
                              </m:r>
                              <m:r>
                                <a:rPr lang="en-US" b="0" i="1">
                                  <a:latin typeface="Cambria Math" panose="02040503050406030204" pitchFamily="18" charset="0"/>
                                </a:rPr>
                                <m:t>𝑟</m:t>
                              </m:r>
                            </m:e>
                            <m:sub>
                              <m:r>
                                <a:rPr lang="en-US" b="0" i="1">
                                  <a:latin typeface="Cambria Math" panose="02040503050406030204" pitchFamily="18" charset="0"/>
                                </a:rPr>
                                <m:t>𝑑𝑠</m:t>
                              </m:r>
                            </m:sub>
                          </m:sSub>
                        </m:e>
                        <m:sub>
                          <m:r>
                            <a:rPr lang="en-US" b="0" i="1">
                              <a:latin typeface="Cambria Math" panose="02040503050406030204" pitchFamily="18" charset="0"/>
                            </a:rPr>
                            <m:t>2</m:t>
                          </m:r>
                        </m:sub>
                      </m:sSub>
                      <m:r>
                        <a:rPr lang="en-US" b="0"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b="0" i="1">
                                  <a:latin typeface="Cambria Math" panose="02040503050406030204" pitchFamily="18" charset="0"/>
                                </a:rPr>
                                <m:t>𝑟</m:t>
                              </m:r>
                            </m:e>
                            <m:sub>
                              <m:r>
                                <a:rPr lang="en-US" b="0" i="1">
                                  <a:latin typeface="Cambria Math" panose="02040503050406030204" pitchFamily="18" charset="0"/>
                                </a:rPr>
                                <m:t>𝑑𝑠</m:t>
                              </m:r>
                            </m:sub>
                          </m:sSub>
                        </m:e>
                        <m:sub>
                          <m:r>
                            <a:rPr lang="en-US" b="0" i="1">
                              <a:latin typeface="Cambria Math" panose="02040503050406030204" pitchFamily="18" charset="0"/>
                            </a:rPr>
                            <m:t>4</m:t>
                          </m:r>
                        </m:sub>
                      </m:sSub>
                      <m:r>
                        <a:rPr lang="en-US" b="0"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𝑔</m:t>
                          </m:r>
                        </m:e>
                        <m:sub>
                          <m:r>
                            <a:rPr lang="en-US" b="0" i="1">
                              <a:latin typeface="Cambria Math" panose="02040503050406030204" pitchFamily="18" charset="0"/>
                            </a:rPr>
                            <m:t>𝑚</m:t>
                          </m:r>
                          <m:r>
                            <a:rPr lang="en-US" b="0" i="1">
                              <a:latin typeface="Cambria Math" panose="02040503050406030204" pitchFamily="18" charset="0"/>
                            </a:rPr>
                            <m:t>6</m:t>
                          </m:r>
                        </m:sub>
                      </m:sSub>
                      <m:r>
                        <a:rPr lang="en-US" b="0"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b="0" i="1">
                                  <a:latin typeface="Cambria Math" panose="02040503050406030204" pitchFamily="18" charset="0"/>
                                </a:rPr>
                                <m:t>(</m:t>
                              </m:r>
                              <m:r>
                                <a:rPr lang="en-US" b="0" i="1">
                                  <a:latin typeface="Cambria Math" panose="02040503050406030204" pitchFamily="18" charset="0"/>
                                </a:rPr>
                                <m:t>𝑟</m:t>
                              </m:r>
                            </m:e>
                            <m:sub>
                              <m:r>
                                <a:rPr lang="en-US" b="0" i="1">
                                  <a:latin typeface="Cambria Math" panose="02040503050406030204" pitchFamily="18" charset="0"/>
                                </a:rPr>
                                <m:t>𝑑𝑠</m:t>
                              </m:r>
                            </m:sub>
                          </m:sSub>
                        </m:e>
                        <m:sub>
                          <m:r>
                            <a:rPr lang="en-US" b="0" i="1">
                              <a:latin typeface="Cambria Math" panose="02040503050406030204" pitchFamily="18" charset="0"/>
                            </a:rPr>
                            <m:t>6</m:t>
                          </m:r>
                        </m:sub>
                      </m:sSub>
                      <m:r>
                        <a:rPr lang="en-US" b="0"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b="0" i="1">
                                  <a:latin typeface="Cambria Math" panose="02040503050406030204" pitchFamily="18" charset="0"/>
                                </a:rPr>
                                <m:t>𝑟</m:t>
                              </m:r>
                            </m:e>
                            <m:sub>
                              <m:r>
                                <a:rPr lang="en-US" b="0" i="1">
                                  <a:latin typeface="Cambria Math" panose="02040503050406030204" pitchFamily="18" charset="0"/>
                                </a:rPr>
                                <m:t>𝑑𝑠</m:t>
                              </m:r>
                            </m:sub>
                          </m:sSub>
                        </m:e>
                        <m:sub>
                          <m:r>
                            <a:rPr lang="en-US" b="0" i="1">
                              <a:latin typeface="Cambria Math" panose="02040503050406030204" pitchFamily="18" charset="0"/>
                            </a:rPr>
                            <m:t>7</m:t>
                          </m:r>
                        </m:sub>
                      </m:sSub>
                      <m:r>
                        <a:rPr lang="en-US" b="0" i="1">
                          <a:latin typeface="Cambria Math" panose="02040503050406030204" pitchFamily="18" charset="0"/>
                        </a:rPr>
                        <m:t>)</m:t>
                      </m:r>
                    </m:oMath>
                  </m:oMathPara>
                </a14:m>
                <a:endParaRPr lang="en-US" dirty="0"/>
              </a:p>
              <a:p>
                <a:endParaRPr lang="en-US" b="1" dirty="0"/>
              </a:p>
              <a:p>
                <a14:m>
                  <m:oMath xmlns:m="http://schemas.openxmlformats.org/officeDocument/2006/math">
                    <m:d>
                      <m:dPr>
                        <m:ctrlPr>
                          <a:rPr lang="he-IL" b="1" i="1" smtClean="0">
                            <a:latin typeface="Cambria Math" panose="02040503050406030204" pitchFamily="18" charset="0"/>
                          </a:rPr>
                        </m:ctrlPr>
                      </m:dPr>
                      <m:e>
                        <m:r>
                          <a:rPr lang="he-IL" b="1" i="1" smtClean="0">
                            <a:latin typeface="Cambria Math" panose="02040503050406030204" pitchFamily="18" charset="0"/>
                          </a:rPr>
                          <m:t>∗</m:t>
                        </m:r>
                      </m:e>
                    </m:d>
                    <m:r>
                      <a:rPr lang="he-IL" b="1" i="1" smtClean="0">
                        <a:latin typeface="Cambria Math" panose="02040503050406030204" pitchFamily="18" charset="0"/>
                      </a:rPr>
                      <m:t> </m:t>
                    </m:r>
                    <m:r>
                      <a:rPr lang="en-US" b="1" i="1" smtClean="0">
                        <a:latin typeface="Cambria Math" panose="02040503050406030204" pitchFamily="18" charset="0"/>
                      </a:rPr>
                      <m:t> </m:t>
                    </m:r>
                  </m:oMath>
                </a14:m>
                <a:r>
                  <a:rPr lang="en-US" b="1" dirty="0"/>
                  <a:t>for</a:t>
                </a:r>
                <a14:m>
                  <m:oMath xmlns:m="http://schemas.openxmlformats.org/officeDocument/2006/math">
                    <m:sSub>
                      <m:sSubPr>
                        <m:ctrlPr>
                          <a:rPr lang="en-US" b="1" i="1">
                            <a:latin typeface="Cambria Math" panose="02040503050406030204" pitchFamily="18" charset="0"/>
                          </a:rPr>
                        </m:ctrlPr>
                      </m:sSubPr>
                      <m:e>
                        <m:r>
                          <a:rPr lang="en-US" b="1" i="1" smtClean="0">
                            <a:latin typeface="Cambria Math" panose="02040503050406030204" pitchFamily="18" charset="0"/>
                          </a:rPr>
                          <m:t>  </m:t>
                        </m:r>
                        <m:r>
                          <a:rPr lang="en-US" b="1" i="1">
                            <a:latin typeface="Cambria Math" panose="02040503050406030204" pitchFamily="18" charset="0"/>
                          </a:rPr>
                          <m:t>𝑨</m:t>
                        </m:r>
                      </m:e>
                      <m:sub>
                        <m:r>
                          <a:rPr lang="en-US" b="1" i="1">
                            <a:latin typeface="Cambria Math" panose="02040503050406030204" pitchFamily="18" charset="0"/>
                          </a:rPr>
                          <m:t>𝒗</m:t>
                        </m:r>
                        <m:r>
                          <a:rPr lang="en-US" b="1" i="1">
                            <a:latin typeface="Cambria Math" panose="02040503050406030204" pitchFamily="18" charset="0"/>
                          </a:rPr>
                          <m:t>𝟏</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𝑨</m:t>
                        </m:r>
                      </m:e>
                      <m:sub>
                        <m:r>
                          <a:rPr lang="en-US" b="1" i="1">
                            <a:latin typeface="Cambria Math" panose="02040503050406030204" pitchFamily="18" charset="0"/>
                          </a:rPr>
                          <m:t>𝒗</m:t>
                        </m:r>
                        <m:r>
                          <a:rPr lang="en-US" b="1" i="1" smtClean="0">
                            <a:latin typeface="Cambria Math" panose="02040503050406030204" pitchFamily="18" charset="0"/>
                          </a:rPr>
                          <m:t>𝟐</m:t>
                        </m:r>
                      </m:sub>
                    </m:sSub>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𝑪𝑺</m:t>
                        </m:r>
                      </m:sub>
                    </m:sSub>
                  </m:oMath>
                </a14:m>
                <a:r>
                  <a:rPr lang="en-US" b="1" dirty="0"/>
                  <a:t>   ,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𝒕𝒐𝒕</m:t>
                        </m:r>
                      </m:sub>
                    </m:sSub>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d>
                          <m:dPr>
                            <m:ctrlPr>
                              <a:rPr lang="en-US" b="1" i="1" smtClean="0">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𝑨</m:t>
                                </m:r>
                              </m:e>
                              <m:sub>
                                <m:r>
                                  <a:rPr lang="en-US" b="1" i="1">
                                    <a:latin typeface="Cambria Math" panose="02040503050406030204" pitchFamily="18" charset="0"/>
                                  </a:rPr>
                                  <m:t>𝑪𝑺</m:t>
                                </m:r>
                              </m:sub>
                            </m:sSub>
                          </m:e>
                        </m:d>
                      </m:e>
                      <m:sup>
                        <m:r>
                          <a:rPr lang="en-US" b="1" i="1" smtClean="0">
                            <a:latin typeface="Cambria Math" panose="02040503050406030204" pitchFamily="18" charset="0"/>
                          </a:rPr>
                          <m:t>𝟐</m:t>
                        </m:r>
                      </m:sup>
                    </m:sSup>
                  </m:oMath>
                </a14:m>
                <a:endParaRPr lang="en-IL" b="1" dirty="0"/>
              </a:p>
            </p:txBody>
          </p:sp>
        </mc:Choice>
        <mc:Fallback xmlns="">
          <p:sp>
            <p:nvSpPr>
              <p:cNvPr id="2" name="תיבת טקסט 1">
                <a:extLst>
                  <a:ext uri="{FF2B5EF4-FFF2-40B4-BE49-F238E27FC236}">
                    <a16:creationId xmlns:a16="http://schemas.microsoft.com/office/drawing/2014/main" id="{41BE2D67-2759-7E8E-D88E-DEB1FDD8ED01}"/>
                  </a:ext>
                </a:extLst>
              </p:cNvPr>
              <p:cNvSpPr txBox="1">
                <a:spLocks noRot="1" noChangeAspect="1" noMove="1" noResize="1" noEditPoints="1" noAdjustHandles="1" noChangeArrowheads="1" noChangeShapeType="1" noTextEdit="1"/>
              </p:cNvSpPr>
              <p:nvPr/>
            </p:nvSpPr>
            <p:spPr>
              <a:xfrm>
                <a:off x="6011598" y="1178926"/>
                <a:ext cx="5568107" cy="1822102"/>
              </a:xfrm>
              <a:prstGeom prst="rect">
                <a:avLst/>
              </a:prstGeom>
              <a:blipFill>
                <a:blip r:embed="rId7"/>
                <a:stretch>
                  <a:fillRect t="-1672" b="-46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תיבת טקסט 9">
                <a:extLst>
                  <a:ext uri="{FF2B5EF4-FFF2-40B4-BE49-F238E27FC236}">
                    <a16:creationId xmlns:a16="http://schemas.microsoft.com/office/drawing/2014/main" id="{6CA93393-340F-71E7-4892-B90A8CAF900C}"/>
                  </a:ext>
                </a:extLst>
              </p:cNvPr>
              <p:cNvSpPr txBox="1"/>
              <p:nvPr/>
            </p:nvSpPr>
            <p:spPr>
              <a:xfrm>
                <a:off x="6070221" y="2993784"/>
                <a:ext cx="6121779" cy="2469650"/>
              </a:xfrm>
              <a:prstGeom prst="rect">
                <a:avLst/>
              </a:prstGeom>
              <a:noFill/>
            </p:spPr>
            <p:txBody>
              <a:bodyPr wrap="square" rtlCol="0">
                <a:spAutoFit/>
              </a:bodyPr>
              <a:lstStyle/>
              <a:p>
                <a:pPr algn="ctr"/>
                <a:r>
                  <a:rPr lang="en-US" b="1" u="sng" dirty="0"/>
                  <a:t>Frequency compensation and stability</a:t>
                </a:r>
              </a:p>
              <a:p>
                <a:pPr algn="ct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1</m:t>
                          </m:r>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𝑜𝑢𝑡</m:t>
                              </m:r>
                              <m:r>
                                <a:rPr lang="en-US" b="0" i="1" smtClean="0">
                                  <a:latin typeface="Cambria Math" panose="02040503050406030204" pitchFamily="18" charset="0"/>
                                </a:rPr>
                                <m:t>1</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𝑡𝑜𝑡</m:t>
                              </m:r>
                            </m:sub>
                          </m:sSub>
                          <m:r>
                            <a:rPr lang="en-US" b="0" i="1" dirty="0">
                              <a:latin typeface="Cambria Math" panose="02040503050406030204" pitchFamily="18" charset="0"/>
                            </a:rPr>
                            <m:t>⋅</m:t>
                          </m:r>
                          <m:sSub>
                            <m:sSubPr>
                              <m:ctrlPr>
                                <a:rPr lang="en-US" i="1" smtClean="0">
                                  <a:solidFill>
                                    <a:srgbClr val="FF0000"/>
                                  </a:solidFill>
                                  <a:highlight>
                                    <a:srgbClr val="FFFF00"/>
                                  </a:highlight>
                                  <a:latin typeface="Cambria Math" panose="02040503050406030204" pitchFamily="18" charset="0"/>
                                </a:rPr>
                              </m:ctrlPr>
                            </m:sSubPr>
                            <m:e>
                              <m:r>
                                <a:rPr lang="en-US" b="0" i="1">
                                  <a:solidFill>
                                    <a:srgbClr val="FF0000"/>
                                  </a:solidFill>
                                  <a:highlight>
                                    <a:srgbClr val="FFFF00"/>
                                  </a:highlight>
                                  <a:latin typeface="Cambria Math" panose="02040503050406030204" pitchFamily="18" charset="0"/>
                                </a:rPr>
                                <m:t>𝐶</m:t>
                              </m:r>
                            </m:e>
                            <m:sub>
                              <m:r>
                                <a:rPr lang="en-US" b="0" i="1">
                                  <a:solidFill>
                                    <a:srgbClr val="FF0000"/>
                                  </a:solidFill>
                                  <a:highlight>
                                    <a:srgbClr val="FFFF00"/>
                                  </a:highlight>
                                  <a:latin typeface="Cambria Math" panose="02040503050406030204" pitchFamily="18" charset="0"/>
                                </a:rPr>
                                <m:t>𝑐</m:t>
                              </m:r>
                            </m:sub>
                          </m:sSub>
                        </m:den>
                      </m:f>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𝐺𝐵𝑊</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𝐴</m:t>
                          </m:r>
                        </m:e>
                        <m:sub>
                          <m:r>
                            <a:rPr lang="en-US" b="0" i="1" smtClean="0">
                              <a:solidFill>
                                <a:schemeClr val="tx1"/>
                              </a:solidFill>
                              <a:latin typeface="Cambria Math" panose="02040503050406030204" pitchFamily="18" charset="0"/>
                            </a:rPr>
                            <m:t>𝐷𝐶</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𝑝</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𝑔</m:t>
                              </m:r>
                            </m:e>
                            <m:sub>
                              <m:r>
                                <a:rPr lang="en-US" b="0" i="1" smtClean="0">
                                  <a:solidFill>
                                    <a:schemeClr val="tx1"/>
                                  </a:solidFill>
                                  <a:latin typeface="Cambria Math" panose="02040503050406030204" pitchFamily="18" charset="0"/>
                                </a:rPr>
                                <m:t>𝑚</m:t>
                              </m:r>
                              <m:r>
                                <a:rPr lang="en-US" b="0" i="1" smtClean="0">
                                  <a:solidFill>
                                    <a:schemeClr val="tx1"/>
                                  </a:solidFill>
                                  <a:latin typeface="Cambria Math" panose="02040503050406030204" pitchFamily="18" charset="0"/>
                                </a:rPr>
                                <m:t>1</m:t>
                              </m:r>
                            </m:sub>
                          </m:sSub>
                        </m:num>
                        <m:den>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𝐶</m:t>
                              </m:r>
                            </m:e>
                            <m:sub>
                              <m:r>
                                <a:rPr lang="en-US" b="0" i="1" smtClean="0">
                                  <a:solidFill>
                                    <a:schemeClr val="tx1"/>
                                  </a:solidFill>
                                  <a:latin typeface="Cambria Math" panose="02040503050406030204" pitchFamily="18" charset="0"/>
                                </a:rPr>
                                <m:t>𝐶</m:t>
                              </m:r>
                            </m:sub>
                          </m:sSub>
                        </m:den>
                      </m:f>
                    </m:oMath>
                  </m:oMathPara>
                </a14:m>
                <a:endParaRPr lang="en-US" dirty="0"/>
              </a:p>
              <a:p>
                <a:pPr algn="ctr"/>
                <a:endParaRPr lang="en-US" dirty="0"/>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𝑔</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6</m:t>
                                </m:r>
                              </m:sub>
                            </m:sSub>
                            <m:r>
                              <m:rPr>
                                <m:lit/>
                              </m:rPr>
                              <a:rPr lang="en-US" b="0" i="1" smtClean="0">
                                <a:latin typeface="Cambria Math" panose="02040503050406030204" pitchFamily="18" charset="0"/>
                              </a:rPr>
                              <m:t> </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𝐿</m:t>
                            </m:r>
                          </m:sub>
                        </m:sSub>
                      </m:den>
                    </m:f>
                  </m:oMath>
                </a14:m>
                <a:r>
                  <a:rPr lang="en-US" dirty="0"/>
                  <a:t> </a:t>
                </a:r>
              </a:p>
              <a:p>
                <a:endParaRPr lang="en-US" dirty="0"/>
              </a:p>
              <a:p>
                <a:r>
                  <a:rPr lang="en-US" dirty="0"/>
                  <a:t>     </a:t>
                </a:r>
              </a:p>
              <a:p>
                <a:pPr algn="ctr"/>
                <a:endParaRPr lang="en-US" b="1" dirty="0"/>
              </a:p>
            </p:txBody>
          </p:sp>
        </mc:Choice>
        <mc:Fallback xmlns="">
          <p:sp>
            <p:nvSpPr>
              <p:cNvPr id="5" name="תיבת טקסט 9">
                <a:extLst>
                  <a:ext uri="{FF2B5EF4-FFF2-40B4-BE49-F238E27FC236}">
                    <a16:creationId xmlns:a16="http://schemas.microsoft.com/office/drawing/2014/main" id="{6CA93393-340F-71E7-4892-B90A8CAF900C}"/>
                  </a:ext>
                </a:extLst>
              </p:cNvPr>
              <p:cNvSpPr txBox="1">
                <a:spLocks noRot="1" noChangeAspect="1" noMove="1" noResize="1" noEditPoints="1" noAdjustHandles="1" noChangeArrowheads="1" noChangeShapeType="1" noTextEdit="1"/>
              </p:cNvSpPr>
              <p:nvPr/>
            </p:nvSpPr>
            <p:spPr>
              <a:xfrm>
                <a:off x="6070221" y="2993784"/>
                <a:ext cx="6121779" cy="2469650"/>
              </a:xfrm>
              <a:prstGeom prst="rect">
                <a:avLst/>
              </a:prstGeom>
              <a:blipFill>
                <a:blip r:embed="rId8"/>
                <a:stretch>
                  <a:fillRect t="-1235"/>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DE1B4A89-72F1-0475-9D86-48DF0BBC724F}"/>
              </a:ext>
            </a:extLst>
          </p:cNvPr>
          <p:cNvPicPr>
            <a:picLocks noChangeAspect="1"/>
          </p:cNvPicPr>
          <p:nvPr/>
        </p:nvPicPr>
        <p:blipFill>
          <a:blip r:embed="rId9"/>
          <a:stretch>
            <a:fillRect/>
          </a:stretch>
        </p:blipFill>
        <p:spPr>
          <a:xfrm>
            <a:off x="3508310" y="2953032"/>
            <a:ext cx="1497920" cy="746782"/>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686590F-E958-C13D-5927-9199A0ECA77E}"/>
                  </a:ext>
                </a:extLst>
              </p:cNvPr>
              <p:cNvSpPr txBox="1"/>
              <p:nvPr/>
            </p:nvSpPr>
            <p:spPr>
              <a:xfrm>
                <a:off x="3508310" y="4815886"/>
                <a:ext cx="6097554" cy="6229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𝑧</m:t>
                      </m:r>
                      <m:r>
                        <a:rPr lang="en-US" b="0" i="1" smtClean="0">
                          <a:latin typeface="Cambria Math" panose="02040503050406030204" pitchFamily="18" charset="0"/>
                        </a:rPr>
                        <m:t>≈</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𝑔</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6</m:t>
                                  </m:r>
                                </m:sub>
                              </m:sSub>
                              <m:r>
                                <m:rPr>
                                  <m:lit/>
                                </m:rPr>
                                <a:rPr lang="en-US" b="0" i="1" smtClean="0">
                                  <a:latin typeface="Cambria Math" panose="02040503050406030204" pitchFamily="18" charset="0"/>
                                </a:rPr>
                                <m:t> </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𝐶</m:t>
                              </m:r>
                            </m:sub>
                          </m:sSub>
                        </m:den>
                      </m:f>
                    </m:oMath>
                  </m:oMathPara>
                </a14:m>
                <a:endParaRPr lang="en-US" dirty="0"/>
              </a:p>
            </p:txBody>
          </p:sp>
        </mc:Choice>
        <mc:Fallback xmlns="">
          <p:sp>
            <p:nvSpPr>
              <p:cNvPr id="14" name="TextBox 13">
                <a:extLst>
                  <a:ext uri="{FF2B5EF4-FFF2-40B4-BE49-F238E27FC236}">
                    <a16:creationId xmlns:a16="http://schemas.microsoft.com/office/drawing/2014/main" id="{4686590F-E958-C13D-5927-9199A0ECA77E}"/>
                  </a:ext>
                </a:extLst>
              </p:cNvPr>
              <p:cNvSpPr txBox="1">
                <a:spLocks noRot="1" noChangeAspect="1" noMove="1" noResize="1" noEditPoints="1" noAdjustHandles="1" noChangeArrowheads="1" noChangeShapeType="1" noTextEdit="1"/>
              </p:cNvSpPr>
              <p:nvPr/>
            </p:nvSpPr>
            <p:spPr>
              <a:xfrm>
                <a:off x="3508310" y="4815886"/>
                <a:ext cx="6097554" cy="622991"/>
              </a:xfrm>
              <a:prstGeom prst="rect">
                <a:avLst/>
              </a:prstGeom>
              <a:blipFill>
                <a:blip r:embed="rId10"/>
                <a:stretch>
                  <a:fillRect/>
                </a:stretch>
              </a:blipFill>
            </p:spPr>
            <p:txBody>
              <a:bodyPr/>
              <a:lstStyle/>
              <a:p>
                <a:r>
                  <a:rPr lang="en-US">
                    <a:noFill/>
                  </a:rPr>
                  <a:t> </a:t>
                </a:r>
              </a:p>
            </p:txBody>
          </p:sp>
        </mc:Fallback>
      </mc:AlternateContent>
      <p:pic>
        <p:nvPicPr>
          <p:cNvPr id="20" name="Picture 19">
            <a:extLst>
              <a:ext uri="{FF2B5EF4-FFF2-40B4-BE49-F238E27FC236}">
                <a16:creationId xmlns:a16="http://schemas.microsoft.com/office/drawing/2014/main" id="{8282820B-DB4C-DCEB-CDFB-E5994361D557}"/>
              </a:ext>
            </a:extLst>
          </p:cNvPr>
          <p:cNvPicPr>
            <a:picLocks noChangeAspect="1"/>
          </p:cNvPicPr>
          <p:nvPr/>
        </p:nvPicPr>
        <p:blipFill>
          <a:blip r:embed="rId11"/>
          <a:stretch>
            <a:fillRect/>
          </a:stretch>
        </p:blipFill>
        <p:spPr>
          <a:xfrm>
            <a:off x="6095999" y="4707388"/>
            <a:ext cx="4686954" cy="971686"/>
          </a:xfrm>
          <a:prstGeom prst="rect">
            <a:avLst/>
          </a:prstGeom>
        </p:spPr>
      </p:pic>
    </p:spTree>
    <p:extLst>
      <p:ext uri="{BB962C8B-B14F-4D97-AF65-F5344CB8AC3E}">
        <p14:creationId xmlns:p14="http://schemas.microsoft.com/office/powerpoint/2010/main" val="53758273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E6636-B7CC-4A52-3BE8-BA4A88DE94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DC2DF8-2957-A786-FB54-D7E76AA67C90}"/>
              </a:ext>
            </a:extLst>
          </p:cNvPr>
          <p:cNvSpPr>
            <a:spLocks noGrp="1"/>
          </p:cNvSpPr>
          <p:nvPr>
            <p:ph type="title"/>
          </p:nvPr>
        </p:nvSpPr>
        <p:spPr>
          <a:xfrm>
            <a:off x="3040939" y="356745"/>
            <a:ext cx="8074325" cy="575154"/>
          </a:xfrm>
        </p:spPr>
        <p:txBody>
          <a:bodyPr>
            <a:normAutofit fontScale="90000"/>
          </a:bodyPr>
          <a:lstStyle/>
          <a:p>
            <a:pPr algn="ctr"/>
            <a:r>
              <a:rPr lang="en-US" b="1" dirty="0"/>
              <a:t>From Schematic to Layout</a:t>
            </a:r>
          </a:p>
        </p:txBody>
      </p:sp>
      <p:pic>
        <p:nvPicPr>
          <p:cNvPr id="6" name="Picture 5">
            <a:extLst>
              <a:ext uri="{FF2B5EF4-FFF2-40B4-BE49-F238E27FC236}">
                <a16:creationId xmlns:a16="http://schemas.microsoft.com/office/drawing/2014/main" id="{7D181D51-7636-C723-B67A-B23DCC541B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454963E5-5DA2-23AD-8C5B-8B6315E4B4CE}"/>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A4BC15C7-B509-A6D8-439C-7CEBCDDC9CD4}"/>
              </a:ext>
            </a:extLst>
          </p:cNvPr>
          <p:cNvSpPr>
            <a:spLocks noGrp="1"/>
          </p:cNvSpPr>
          <p:nvPr>
            <p:ph type="sldNum" sz="quarter" idx="12"/>
          </p:nvPr>
        </p:nvSpPr>
        <p:spPr/>
        <p:txBody>
          <a:bodyPr/>
          <a:lstStyle/>
          <a:p>
            <a:fld id="{397A11E8-8F25-49C3-8F7D-865FECFDFD18}" type="slidenum">
              <a:rPr lang="en-US" smtClean="0"/>
              <a:t>16</a:t>
            </a:fld>
            <a:endParaRPr lang="en-US"/>
          </a:p>
        </p:txBody>
      </p:sp>
      <p:sp>
        <p:nvSpPr>
          <p:cNvPr id="2" name="TextBox 1">
            <a:extLst>
              <a:ext uri="{FF2B5EF4-FFF2-40B4-BE49-F238E27FC236}">
                <a16:creationId xmlns:a16="http://schemas.microsoft.com/office/drawing/2014/main" id="{9B0716AD-6B91-1CA9-86FC-F7357A168F87}"/>
              </a:ext>
            </a:extLst>
          </p:cNvPr>
          <p:cNvSpPr txBox="1"/>
          <p:nvPr/>
        </p:nvSpPr>
        <p:spPr>
          <a:xfrm>
            <a:off x="267419" y="1461331"/>
            <a:ext cx="11477270" cy="4524315"/>
          </a:xfrm>
          <a:prstGeom prst="rect">
            <a:avLst/>
          </a:prstGeom>
          <a:noFill/>
        </p:spPr>
        <p:txBody>
          <a:bodyPr wrap="square" rtlCol="0">
            <a:spAutoFit/>
          </a:bodyPr>
          <a:lstStyle/>
          <a:p>
            <a:r>
              <a:rPr lang="en-US" sz="2400" dirty="0"/>
              <a:t>Once the schematic design was finalized and verified through simulations, the circuit was implemented in physical layout using </a:t>
            </a:r>
            <a:r>
              <a:rPr lang="en-US" sz="2400" b="1" dirty="0"/>
              <a:t>TSMC 28nm CMOS technology</a:t>
            </a:r>
            <a:r>
              <a:rPr lang="en-US" sz="2400" dirty="0"/>
              <a:t>.</a:t>
            </a:r>
            <a:endParaRPr lang="he-IL" sz="2400" dirty="0"/>
          </a:p>
          <a:p>
            <a:endParaRPr lang="en-US" sz="2400" dirty="0"/>
          </a:p>
          <a:p>
            <a:r>
              <a:rPr lang="en-US" sz="2400" dirty="0"/>
              <a:t>Layout quality directly affects:</a:t>
            </a:r>
          </a:p>
          <a:p>
            <a:pPr lvl="1"/>
            <a:r>
              <a:rPr lang="en-US" sz="2400" dirty="0"/>
              <a:t>✅ Performance (gain, matching, </a:t>
            </a:r>
            <a:r>
              <a:rPr lang="en-US" sz="2400" dirty="0" err="1"/>
              <a:t>parasitics</a:t>
            </a:r>
            <a:r>
              <a:rPr lang="en-US" sz="2400" dirty="0"/>
              <a:t>)</a:t>
            </a:r>
          </a:p>
          <a:p>
            <a:pPr lvl="1"/>
            <a:r>
              <a:rPr lang="en-US" sz="2400" dirty="0"/>
              <a:t>✅ Area and density</a:t>
            </a:r>
          </a:p>
          <a:p>
            <a:pPr lvl="1"/>
            <a:r>
              <a:rPr lang="en-US" sz="2400" dirty="0"/>
              <a:t>✅ Noise and stability</a:t>
            </a:r>
          </a:p>
          <a:p>
            <a:r>
              <a:rPr lang="en-US" sz="2400" dirty="0"/>
              <a:t>Special attention was given to:</a:t>
            </a:r>
          </a:p>
          <a:p>
            <a:r>
              <a:rPr lang="en-US" sz="2400" dirty="0"/>
              <a:t>Symmetry in analog blocks (e.g., OTA differential pair)</a:t>
            </a:r>
          </a:p>
          <a:p>
            <a:r>
              <a:rPr lang="en-US" sz="2400" dirty="0"/>
              <a:t>Matching techniques for current mirrors and resistors</a:t>
            </a:r>
          </a:p>
          <a:p>
            <a:r>
              <a:rPr lang="en-US" sz="2400" dirty="0"/>
              <a:t>Routing of sensitive nodes (e.g., BGR core, OTA outputs)</a:t>
            </a:r>
          </a:p>
          <a:p>
            <a:r>
              <a:rPr lang="en-US" sz="2400" dirty="0"/>
              <a:t>Minimization of IR drop through metal stacking</a:t>
            </a:r>
          </a:p>
        </p:txBody>
      </p:sp>
      <p:pic>
        <p:nvPicPr>
          <p:cNvPr id="7" name="Picture 6">
            <a:extLst>
              <a:ext uri="{FF2B5EF4-FFF2-40B4-BE49-F238E27FC236}">
                <a16:creationId xmlns:a16="http://schemas.microsoft.com/office/drawing/2014/main" id="{CBF7775C-5657-0FFD-E04A-3D615711B041}"/>
              </a:ext>
            </a:extLst>
          </p:cNvPr>
          <p:cNvPicPr>
            <a:picLocks noChangeAspect="1"/>
          </p:cNvPicPr>
          <p:nvPr/>
        </p:nvPicPr>
        <p:blipFill>
          <a:blip r:embed="rId4"/>
          <a:stretch>
            <a:fillRect/>
          </a:stretch>
        </p:blipFill>
        <p:spPr>
          <a:xfrm>
            <a:off x="10893991" y="77582"/>
            <a:ext cx="942788" cy="877475"/>
          </a:xfrm>
          <a:prstGeom prst="rect">
            <a:avLst/>
          </a:prstGeom>
        </p:spPr>
      </p:pic>
    </p:spTree>
    <p:extLst>
      <p:ext uri="{BB962C8B-B14F-4D97-AF65-F5344CB8AC3E}">
        <p14:creationId xmlns:p14="http://schemas.microsoft.com/office/powerpoint/2010/main" val="2743365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BD606-58E5-5CBC-D361-530C5E95B0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8B41FA-EE55-9196-8795-0CBB123890B7}"/>
              </a:ext>
            </a:extLst>
          </p:cNvPr>
          <p:cNvSpPr>
            <a:spLocks noGrp="1"/>
          </p:cNvSpPr>
          <p:nvPr>
            <p:ph type="title"/>
          </p:nvPr>
        </p:nvSpPr>
        <p:spPr>
          <a:xfrm>
            <a:off x="728867" y="666531"/>
            <a:ext cx="10734265" cy="575154"/>
          </a:xfrm>
        </p:spPr>
        <p:txBody>
          <a:bodyPr>
            <a:noAutofit/>
          </a:bodyPr>
          <a:lstStyle/>
          <a:p>
            <a:pPr algn="ctr"/>
            <a:r>
              <a:rPr lang="en-US" b="1" dirty="0"/>
              <a:t>Layout – It’s All About Matching</a:t>
            </a:r>
            <a:br>
              <a:rPr lang="en-US" dirty="0"/>
            </a:br>
            <a:endParaRPr lang="en-US" b="1" dirty="0"/>
          </a:p>
        </p:txBody>
      </p:sp>
      <p:sp>
        <p:nvSpPr>
          <p:cNvPr id="8" name="Date Placeholder 7">
            <a:extLst>
              <a:ext uri="{FF2B5EF4-FFF2-40B4-BE49-F238E27FC236}">
                <a16:creationId xmlns:a16="http://schemas.microsoft.com/office/drawing/2014/main" id="{C5D1BC70-96EF-0D34-FEF6-339B6C6B61E7}"/>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94C3E387-190B-674B-131D-17BD644DE7AB}"/>
              </a:ext>
            </a:extLst>
          </p:cNvPr>
          <p:cNvSpPr>
            <a:spLocks noGrp="1"/>
          </p:cNvSpPr>
          <p:nvPr>
            <p:ph type="sldNum" sz="quarter" idx="12"/>
          </p:nvPr>
        </p:nvSpPr>
        <p:spPr/>
        <p:txBody>
          <a:bodyPr/>
          <a:lstStyle/>
          <a:p>
            <a:fld id="{397A11E8-8F25-49C3-8F7D-865FECFDFD18}" type="slidenum">
              <a:rPr lang="en-US" smtClean="0"/>
              <a:t>17</a:t>
            </a:fld>
            <a:endParaRPr lang="en-US"/>
          </a:p>
        </p:txBody>
      </p:sp>
      <p:sp>
        <p:nvSpPr>
          <p:cNvPr id="2" name="TextBox 1">
            <a:extLst>
              <a:ext uri="{FF2B5EF4-FFF2-40B4-BE49-F238E27FC236}">
                <a16:creationId xmlns:a16="http://schemas.microsoft.com/office/drawing/2014/main" id="{78D0CBFA-4592-B473-A4EA-88408BCB42A1}"/>
              </a:ext>
            </a:extLst>
          </p:cNvPr>
          <p:cNvSpPr txBox="1"/>
          <p:nvPr/>
        </p:nvSpPr>
        <p:spPr>
          <a:xfrm>
            <a:off x="267419" y="1461331"/>
            <a:ext cx="11477270" cy="4154984"/>
          </a:xfrm>
          <a:prstGeom prst="rect">
            <a:avLst/>
          </a:prstGeom>
          <a:noFill/>
        </p:spPr>
        <p:txBody>
          <a:bodyPr wrap="square" rtlCol="0">
            <a:spAutoFit/>
          </a:bodyPr>
          <a:lstStyle/>
          <a:p>
            <a:r>
              <a:rPr lang="en-US" sz="2400" dirty="0"/>
              <a:t>In analog layout, </a:t>
            </a:r>
            <a:r>
              <a:rPr lang="en-US" sz="2400" b="1" dirty="0"/>
              <a:t>perfect interconnects don't exist</a:t>
            </a:r>
            <a:r>
              <a:rPr lang="en-US" sz="2400" dirty="0"/>
              <a:t> —</a:t>
            </a:r>
            <a:br>
              <a:rPr lang="en-US" sz="2400" dirty="0"/>
            </a:br>
            <a:r>
              <a:rPr lang="en-US" sz="2400" dirty="0"/>
              <a:t>Parasitic </a:t>
            </a:r>
            <a:r>
              <a:rPr lang="en-US" sz="2400" b="1" dirty="0"/>
              <a:t>capacitances</a:t>
            </a:r>
            <a:r>
              <a:rPr lang="he-IL" sz="2400" b="1" dirty="0"/>
              <a:t>&amp;</a:t>
            </a:r>
            <a:r>
              <a:rPr lang="en-US" sz="2400" b="1" dirty="0"/>
              <a:t>resistances</a:t>
            </a:r>
            <a:r>
              <a:rPr lang="he-IL" sz="2400" b="1" dirty="0"/>
              <a:t> </a:t>
            </a:r>
            <a:r>
              <a:rPr lang="en-US" sz="2400" dirty="0"/>
              <a:t>will always be there.</a:t>
            </a:r>
          </a:p>
          <a:p>
            <a:r>
              <a:rPr lang="en-US" sz="2400" u="sng" dirty="0"/>
              <a:t>The key idea</a:t>
            </a:r>
            <a:r>
              <a:rPr lang="en-US" sz="2400" b="1" dirty="0"/>
              <a:t> </a:t>
            </a:r>
            <a:r>
              <a:rPr lang="en-US" sz="2400" dirty="0"/>
              <a:t>behind </a:t>
            </a:r>
            <a:r>
              <a:rPr lang="en-US" sz="2400" b="1" dirty="0"/>
              <a:t>matching</a:t>
            </a:r>
            <a:r>
              <a:rPr lang="en-US" sz="2400" dirty="0"/>
              <a:t> is not to eliminate these effects,</a:t>
            </a:r>
            <a:br>
              <a:rPr lang="en-US" sz="2400" dirty="0"/>
            </a:br>
            <a:r>
              <a:rPr lang="en-US" sz="2400" dirty="0"/>
              <a:t>but to ensure they impact all matched devices </a:t>
            </a:r>
            <a:r>
              <a:rPr lang="en-US" sz="2400" b="1" dirty="0"/>
              <a:t>equally</a:t>
            </a:r>
            <a:r>
              <a:rPr lang="en-US" sz="2400" dirty="0"/>
              <a:t>.</a:t>
            </a:r>
            <a:endParaRPr lang="he-IL" sz="2400" dirty="0"/>
          </a:p>
          <a:p>
            <a:endParaRPr lang="en-US" sz="2400" dirty="0"/>
          </a:p>
          <a:p>
            <a:r>
              <a:rPr lang="en-US" sz="2400" dirty="0"/>
              <a:t>Techniques we applied:</a:t>
            </a:r>
          </a:p>
          <a:p>
            <a:pPr lvl="1"/>
            <a:r>
              <a:rPr lang="en-US" sz="2400" dirty="0"/>
              <a:t>✅ </a:t>
            </a:r>
            <a:r>
              <a:rPr lang="en-US" sz="2400" b="1" dirty="0"/>
              <a:t>Common-centroid</a:t>
            </a:r>
            <a:r>
              <a:rPr lang="en-US" sz="2400" dirty="0"/>
              <a:t> layout for critical pairs</a:t>
            </a:r>
          </a:p>
          <a:p>
            <a:pPr lvl="1"/>
            <a:r>
              <a:rPr lang="en-US" sz="2400" dirty="0"/>
              <a:t>✅ </a:t>
            </a:r>
            <a:r>
              <a:rPr lang="en-US" sz="2400" b="1" dirty="0"/>
              <a:t>Dummy devices</a:t>
            </a:r>
            <a:r>
              <a:rPr lang="en-US" sz="2400" dirty="0"/>
              <a:t> to minimize edge mismatches</a:t>
            </a:r>
          </a:p>
          <a:p>
            <a:pPr lvl="1"/>
            <a:r>
              <a:rPr lang="en-US" sz="2400" dirty="0"/>
              <a:t>✅ </a:t>
            </a:r>
            <a:r>
              <a:rPr lang="en-US" sz="2400" b="1" dirty="0"/>
              <a:t>Guard rings</a:t>
            </a:r>
            <a:r>
              <a:rPr lang="en-US" sz="2400" dirty="0"/>
              <a:t> around sensitive transistor clusters to isolate substrate noise</a:t>
            </a:r>
          </a:p>
          <a:p>
            <a:pPr lvl="1"/>
            <a:r>
              <a:rPr lang="en-US" sz="2400" dirty="0"/>
              <a:t>✅ </a:t>
            </a:r>
            <a:r>
              <a:rPr lang="en-US" sz="2400" b="1" dirty="0"/>
              <a:t>Symmetric routing</a:t>
            </a:r>
            <a:r>
              <a:rPr lang="en-US" sz="2400" dirty="0"/>
              <a:t> to balance </a:t>
            </a:r>
            <a:r>
              <a:rPr lang="en-US" sz="2400" dirty="0" err="1"/>
              <a:t>parasitics</a:t>
            </a:r>
            <a:endParaRPr lang="en-US" sz="2400" dirty="0"/>
          </a:p>
          <a:p>
            <a:endParaRPr lang="en-US" sz="2400" dirty="0"/>
          </a:p>
        </p:txBody>
      </p:sp>
    </p:spTree>
    <p:extLst>
      <p:ext uri="{BB962C8B-B14F-4D97-AF65-F5344CB8AC3E}">
        <p14:creationId xmlns:p14="http://schemas.microsoft.com/office/powerpoint/2010/main" val="99429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A8987-79A2-FF29-B634-FE0697299D30}"/>
            </a:ext>
          </a:extLst>
        </p:cNvPr>
        <p:cNvGrpSpPr/>
        <p:nvPr/>
      </p:nvGrpSpPr>
      <p:grpSpPr>
        <a:xfrm>
          <a:off x="0" y="0"/>
          <a:ext cx="0" cy="0"/>
          <a:chOff x="0" y="0"/>
          <a:chExt cx="0" cy="0"/>
        </a:xfrm>
      </p:grpSpPr>
      <p:pic>
        <p:nvPicPr>
          <p:cNvPr id="3" name="Picture 2" descr="A diagram of a circuit&#10;&#10;AI-generated content may be incorrect.">
            <a:extLst>
              <a:ext uri="{FF2B5EF4-FFF2-40B4-BE49-F238E27FC236}">
                <a16:creationId xmlns:a16="http://schemas.microsoft.com/office/drawing/2014/main" id="{9F6D5ED3-15D4-D750-FAFB-5F49768056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37" y="1391386"/>
            <a:ext cx="5113654" cy="4513857"/>
          </a:xfrm>
          <a:prstGeom prst="rect">
            <a:avLst/>
          </a:prstGeom>
        </p:spPr>
      </p:pic>
      <p:pic>
        <p:nvPicPr>
          <p:cNvPr id="10" name="Picture 9" descr="A screenshot of a video game&#10;&#10;AI-generated content may be incorrect.">
            <a:extLst>
              <a:ext uri="{FF2B5EF4-FFF2-40B4-BE49-F238E27FC236}">
                <a16:creationId xmlns:a16="http://schemas.microsoft.com/office/drawing/2014/main" id="{0FF98D66-786E-F7D5-6F32-E9D9D409DF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32739" y="2302151"/>
            <a:ext cx="7181192" cy="3946322"/>
          </a:xfrm>
          <a:prstGeom prst="rect">
            <a:avLst/>
          </a:prstGeom>
        </p:spPr>
      </p:pic>
      <p:sp>
        <p:nvSpPr>
          <p:cNvPr id="4" name="Title 3">
            <a:extLst>
              <a:ext uri="{FF2B5EF4-FFF2-40B4-BE49-F238E27FC236}">
                <a16:creationId xmlns:a16="http://schemas.microsoft.com/office/drawing/2014/main" id="{2E882518-F8C7-C021-4164-884E1569B9B9}"/>
              </a:ext>
            </a:extLst>
          </p:cNvPr>
          <p:cNvSpPr>
            <a:spLocks noGrp="1"/>
          </p:cNvSpPr>
          <p:nvPr>
            <p:ph type="title"/>
          </p:nvPr>
        </p:nvSpPr>
        <p:spPr>
          <a:xfrm>
            <a:off x="2063479" y="356745"/>
            <a:ext cx="8074325" cy="575154"/>
          </a:xfrm>
        </p:spPr>
        <p:txBody>
          <a:bodyPr>
            <a:normAutofit fontScale="90000"/>
          </a:bodyPr>
          <a:lstStyle/>
          <a:p>
            <a:pPr algn="ctr"/>
            <a:r>
              <a:rPr lang="en-US" b="1" dirty="0"/>
              <a:t>For Example 1 </a:t>
            </a:r>
          </a:p>
        </p:txBody>
      </p:sp>
      <p:pic>
        <p:nvPicPr>
          <p:cNvPr id="6" name="Picture 5">
            <a:extLst>
              <a:ext uri="{FF2B5EF4-FFF2-40B4-BE49-F238E27FC236}">
                <a16:creationId xmlns:a16="http://schemas.microsoft.com/office/drawing/2014/main" id="{E8D6715D-6CC2-93B7-DC9C-72B96316A06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6429EA45-EABF-E385-5FF2-8297C537C34F}"/>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CC952719-A933-B4FC-E2EE-0F4A9F09D1DB}"/>
              </a:ext>
            </a:extLst>
          </p:cNvPr>
          <p:cNvSpPr>
            <a:spLocks noGrp="1"/>
          </p:cNvSpPr>
          <p:nvPr>
            <p:ph type="sldNum" sz="quarter" idx="12"/>
          </p:nvPr>
        </p:nvSpPr>
        <p:spPr/>
        <p:txBody>
          <a:bodyPr/>
          <a:lstStyle/>
          <a:p>
            <a:fld id="{397A11E8-8F25-49C3-8F7D-865FECFDFD18}" type="slidenum">
              <a:rPr lang="en-US" smtClean="0"/>
              <a:t>18</a:t>
            </a:fld>
            <a:endParaRPr lang="en-US"/>
          </a:p>
        </p:txBody>
      </p:sp>
      <p:pic>
        <p:nvPicPr>
          <p:cNvPr id="7" name="Picture 6">
            <a:extLst>
              <a:ext uri="{FF2B5EF4-FFF2-40B4-BE49-F238E27FC236}">
                <a16:creationId xmlns:a16="http://schemas.microsoft.com/office/drawing/2014/main" id="{22EAD067-DE24-99DA-CE57-C490C7B0A718}"/>
              </a:ext>
            </a:extLst>
          </p:cNvPr>
          <p:cNvPicPr>
            <a:picLocks noChangeAspect="1"/>
          </p:cNvPicPr>
          <p:nvPr/>
        </p:nvPicPr>
        <p:blipFill>
          <a:blip r:embed="rId6"/>
          <a:stretch>
            <a:fillRect/>
          </a:stretch>
        </p:blipFill>
        <p:spPr>
          <a:xfrm>
            <a:off x="10893991" y="77582"/>
            <a:ext cx="942788" cy="877475"/>
          </a:xfrm>
          <a:prstGeom prst="rect">
            <a:avLst/>
          </a:prstGeom>
        </p:spPr>
      </p:pic>
      <p:sp>
        <p:nvSpPr>
          <p:cNvPr id="5" name="מלבן 4">
            <a:extLst>
              <a:ext uri="{FF2B5EF4-FFF2-40B4-BE49-F238E27FC236}">
                <a16:creationId xmlns:a16="http://schemas.microsoft.com/office/drawing/2014/main" id="{78DD88A1-41E2-E34B-61B9-492D5F782192}"/>
              </a:ext>
            </a:extLst>
          </p:cNvPr>
          <p:cNvSpPr/>
          <p:nvPr/>
        </p:nvSpPr>
        <p:spPr>
          <a:xfrm>
            <a:off x="1730129" y="1987819"/>
            <a:ext cx="1639614" cy="8933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15" name="תיבת טקסט 14">
                <a:extLst>
                  <a:ext uri="{FF2B5EF4-FFF2-40B4-BE49-F238E27FC236}">
                    <a16:creationId xmlns:a16="http://schemas.microsoft.com/office/drawing/2014/main" id="{7FF075D4-2684-8024-5224-418DA8D40425}"/>
                  </a:ext>
                </a:extLst>
              </p:cNvPr>
              <p:cNvSpPr txBox="1"/>
              <p:nvPr/>
            </p:nvSpPr>
            <p:spPr>
              <a:xfrm>
                <a:off x="5896303" y="1391386"/>
                <a:ext cx="5580994" cy="1200329"/>
              </a:xfrm>
              <a:prstGeom prst="rect">
                <a:avLst/>
              </a:prstGeom>
              <a:noFill/>
            </p:spPr>
            <p:txBody>
              <a:bodyPr wrap="square" rtlCol="0">
                <a:spAutoFit/>
              </a:bodyPr>
              <a:lstStyle/>
              <a:p>
                <a:r>
                  <a:rPr lang="en-US" b="1" dirty="0"/>
                  <a:t>PMOS load pair in OTA's differential stage</a:t>
                </a:r>
                <a:r>
                  <a:rPr lang="he-IL" b="1" dirty="0"/>
                  <a:t> </a:t>
                </a:r>
                <a:r>
                  <a:rPr lang="en-US" b="1" dirty="0"/>
                  <a:t> (M3&amp;M4) </a:t>
                </a:r>
              </a:p>
              <a:p>
                <a:r>
                  <a:rPr lang="en-US" dirty="0"/>
                  <a:t>Function: </a:t>
                </a:r>
                <a:r>
                  <a:rPr lang="en-US" b="1" dirty="0"/>
                  <a:t>compare mirrored currents</a:t>
                </a:r>
              </a:p>
              <a:p>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Matching is critical for gain and offset stability</a:t>
                </a:r>
              </a:p>
              <a:p>
                <a:endParaRPr lang="en-IL" dirty="0"/>
              </a:p>
            </p:txBody>
          </p:sp>
        </mc:Choice>
        <mc:Fallback xmlns="">
          <p:sp>
            <p:nvSpPr>
              <p:cNvPr id="15" name="תיבת טקסט 14">
                <a:extLst>
                  <a:ext uri="{FF2B5EF4-FFF2-40B4-BE49-F238E27FC236}">
                    <a16:creationId xmlns:a16="http://schemas.microsoft.com/office/drawing/2014/main" id="{7FF075D4-2684-8024-5224-418DA8D40425}"/>
                  </a:ext>
                </a:extLst>
              </p:cNvPr>
              <p:cNvSpPr txBox="1">
                <a:spLocks noRot="1" noChangeAspect="1" noMove="1" noResize="1" noEditPoints="1" noAdjustHandles="1" noChangeArrowheads="1" noChangeShapeType="1" noTextEdit="1"/>
              </p:cNvSpPr>
              <p:nvPr/>
            </p:nvSpPr>
            <p:spPr>
              <a:xfrm>
                <a:off x="5896303" y="1391386"/>
                <a:ext cx="5580994" cy="1200329"/>
              </a:xfrm>
              <a:prstGeom prst="rect">
                <a:avLst/>
              </a:prstGeom>
              <a:blipFill>
                <a:blip r:embed="rId7"/>
                <a:stretch>
                  <a:fillRect l="-873" t="-3046"/>
                </a:stretch>
              </a:blipFill>
            </p:spPr>
            <p:txBody>
              <a:bodyPr/>
              <a:lstStyle/>
              <a:p>
                <a:r>
                  <a:rPr lang="en-IL">
                    <a:noFill/>
                  </a:rPr>
                  <a:t> </a:t>
                </a:r>
              </a:p>
            </p:txBody>
          </p:sp>
        </mc:Fallback>
      </mc:AlternateContent>
      <p:sp>
        <p:nvSpPr>
          <p:cNvPr id="19" name="בועת דיבור: מלבן 18">
            <a:extLst>
              <a:ext uri="{FF2B5EF4-FFF2-40B4-BE49-F238E27FC236}">
                <a16:creationId xmlns:a16="http://schemas.microsoft.com/office/drawing/2014/main" id="{95BD390E-E883-3846-FF24-2291570A2F5F}"/>
              </a:ext>
            </a:extLst>
          </p:cNvPr>
          <p:cNvSpPr/>
          <p:nvPr/>
        </p:nvSpPr>
        <p:spPr>
          <a:xfrm>
            <a:off x="2250972" y="1292772"/>
            <a:ext cx="2925420" cy="777766"/>
          </a:xfrm>
          <a:prstGeom prst="wedgeRectCallout">
            <a:avLst>
              <a:gd name="adj1" fmla="val 15916"/>
              <a:gd name="adj2" fmla="val 2601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Dummy devices</a:t>
            </a:r>
            <a:r>
              <a:rPr lang="en-US" dirty="0"/>
              <a:t> to minimize edge mismatches</a:t>
            </a:r>
            <a:endParaRPr lang="en-IL" dirty="0"/>
          </a:p>
        </p:txBody>
      </p:sp>
      <p:cxnSp>
        <p:nvCxnSpPr>
          <p:cNvPr id="21" name="מחבר חץ ישר 20">
            <a:extLst>
              <a:ext uri="{FF2B5EF4-FFF2-40B4-BE49-F238E27FC236}">
                <a16:creationId xmlns:a16="http://schemas.microsoft.com/office/drawing/2014/main" id="{C8BD903F-C9EA-97F3-BB9B-657615D9670E}"/>
              </a:ext>
            </a:extLst>
          </p:cNvPr>
          <p:cNvCxnSpPr>
            <a:cxnSpLocks/>
          </p:cNvCxnSpPr>
          <p:nvPr/>
        </p:nvCxnSpPr>
        <p:spPr>
          <a:xfrm>
            <a:off x="4603531" y="2070538"/>
            <a:ext cx="572860" cy="7041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מחבר חץ ישר 21">
            <a:extLst>
              <a:ext uri="{FF2B5EF4-FFF2-40B4-BE49-F238E27FC236}">
                <a16:creationId xmlns:a16="http://schemas.microsoft.com/office/drawing/2014/main" id="{95F4CFCF-FE06-5DC3-B8EE-916576142644}"/>
              </a:ext>
            </a:extLst>
          </p:cNvPr>
          <p:cNvCxnSpPr>
            <a:cxnSpLocks/>
          </p:cNvCxnSpPr>
          <p:nvPr/>
        </p:nvCxnSpPr>
        <p:spPr>
          <a:xfrm>
            <a:off x="4296105" y="2070538"/>
            <a:ext cx="880286" cy="15777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מחבר חץ ישר 24">
            <a:extLst>
              <a:ext uri="{FF2B5EF4-FFF2-40B4-BE49-F238E27FC236}">
                <a16:creationId xmlns:a16="http://schemas.microsoft.com/office/drawing/2014/main" id="{D640D6C8-FA89-7C46-6AE0-5A4B4437AA85}"/>
              </a:ext>
            </a:extLst>
          </p:cNvPr>
          <p:cNvCxnSpPr>
            <a:cxnSpLocks/>
          </p:cNvCxnSpPr>
          <p:nvPr/>
        </p:nvCxnSpPr>
        <p:spPr>
          <a:xfrm>
            <a:off x="3739035" y="2055760"/>
            <a:ext cx="1437356" cy="25898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מחבר חץ ישר 26">
            <a:extLst>
              <a:ext uri="{FF2B5EF4-FFF2-40B4-BE49-F238E27FC236}">
                <a16:creationId xmlns:a16="http://schemas.microsoft.com/office/drawing/2014/main" id="{AB3C006A-01DE-9628-21F6-FCB1DF308ED2}"/>
              </a:ext>
            </a:extLst>
          </p:cNvPr>
          <p:cNvCxnSpPr>
            <a:cxnSpLocks/>
          </p:cNvCxnSpPr>
          <p:nvPr/>
        </p:nvCxnSpPr>
        <p:spPr>
          <a:xfrm>
            <a:off x="3128089" y="1851045"/>
            <a:ext cx="2184936" cy="40541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מחבר חץ ישר 33">
            <a:extLst>
              <a:ext uri="{FF2B5EF4-FFF2-40B4-BE49-F238E27FC236}">
                <a16:creationId xmlns:a16="http://schemas.microsoft.com/office/drawing/2014/main" id="{E7CA047D-665F-553E-0FE1-0422588F2A75}"/>
              </a:ext>
            </a:extLst>
          </p:cNvPr>
          <p:cNvCxnSpPr>
            <a:cxnSpLocks/>
          </p:cNvCxnSpPr>
          <p:nvPr/>
        </p:nvCxnSpPr>
        <p:spPr>
          <a:xfrm>
            <a:off x="5969876" y="2614575"/>
            <a:ext cx="0" cy="274243"/>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מחבר חץ ישר 35">
            <a:extLst>
              <a:ext uri="{FF2B5EF4-FFF2-40B4-BE49-F238E27FC236}">
                <a16:creationId xmlns:a16="http://schemas.microsoft.com/office/drawing/2014/main" id="{9E695375-2504-5E6F-D447-2E946CB425D8}"/>
              </a:ext>
            </a:extLst>
          </p:cNvPr>
          <p:cNvCxnSpPr>
            <a:cxnSpLocks/>
          </p:cNvCxnSpPr>
          <p:nvPr/>
        </p:nvCxnSpPr>
        <p:spPr>
          <a:xfrm>
            <a:off x="6846176" y="3655934"/>
            <a:ext cx="0" cy="274243"/>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מחבר חץ ישר 36">
            <a:extLst>
              <a:ext uri="{FF2B5EF4-FFF2-40B4-BE49-F238E27FC236}">
                <a16:creationId xmlns:a16="http://schemas.microsoft.com/office/drawing/2014/main" id="{4582365A-F65B-A1CC-FEFD-9BE3E1A42253}"/>
              </a:ext>
            </a:extLst>
          </p:cNvPr>
          <p:cNvCxnSpPr>
            <a:cxnSpLocks/>
          </p:cNvCxnSpPr>
          <p:nvPr/>
        </p:nvCxnSpPr>
        <p:spPr>
          <a:xfrm>
            <a:off x="6846176" y="4715114"/>
            <a:ext cx="0" cy="274243"/>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מחבר חץ ישר 37">
            <a:extLst>
              <a:ext uri="{FF2B5EF4-FFF2-40B4-BE49-F238E27FC236}">
                <a16:creationId xmlns:a16="http://schemas.microsoft.com/office/drawing/2014/main" id="{684F6E5D-B7AD-9B41-2BB9-AC340D21D109}"/>
              </a:ext>
            </a:extLst>
          </p:cNvPr>
          <p:cNvCxnSpPr>
            <a:cxnSpLocks/>
          </p:cNvCxnSpPr>
          <p:nvPr/>
        </p:nvCxnSpPr>
        <p:spPr>
          <a:xfrm>
            <a:off x="5896303" y="5768121"/>
            <a:ext cx="0" cy="274243"/>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מחבר חץ ישר 41">
            <a:extLst>
              <a:ext uri="{FF2B5EF4-FFF2-40B4-BE49-F238E27FC236}">
                <a16:creationId xmlns:a16="http://schemas.microsoft.com/office/drawing/2014/main" id="{8AC52D89-1C89-DF8B-3CC8-AF226909DA85}"/>
              </a:ext>
            </a:extLst>
          </p:cNvPr>
          <p:cNvCxnSpPr>
            <a:cxnSpLocks/>
          </p:cNvCxnSpPr>
          <p:nvPr/>
        </p:nvCxnSpPr>
        <p:spPr>
          <a:xfrm>
            <a:off x="5292531" y="3133635"/>
            <a:ext cx="0" cy="295365"/>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מחבר חץ ישר 44">
            <a:extLst>
              <a:ext uri="{FF2B5EF4-FFF2-40B4-BE49-F238E27FC236}">
                <a16:creationId xmlns:a16="http://schemas.microsoft.com/office/drawing/2014/main" id="{BBAC3BF4-A892-74DB-DF99-5CE0955BA647}"/>
              </a:ext>
            </a:extLst>
          </p:cNvPr>
          <p:cNvCxnSpPr>
            <a:cxnSpLocks/>
          </p:cNvCxnSpPr>
          <p:nvPr/>
        </p:nvCxnSpPr>
        <p:spPr>
          <a:xfrm>
            <a:off x="5324896" y="4174178"/>
            <a:ext cx="0" cy="295365"/>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מחבר חץ ישר 45">
            <a:extLst>
              <a:ext uri="{FF2B5EF4-FFF2-40B4-BE49-F238E27FC236}">
                <a16:creationId xmlns:a16="http://schemas.microsoft.com/office/drawing/2014/main" id="{589BF143-CB87-372C-39F0-CE68DC823226}"/>
              </a:ext>
            </a:extLst>
          </p:cNvPr>
          <p:cNvCxnSpPr>
            <a:cxnSpLocks/>
          </p:cNvCxnSpPr>
          <p:nvPr/>
        </p:nvCxnSpPr>
        <p:spPr>
          <a:xfrm>
            <a:off x="5331032" y="5210498"/>
            <a:ext cx="0" cy="295365"/>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בועת דיבור: מלבן 46">
            <a:extLst>
              <a:ext uri="{FF2B5EF4-FFF2-40B4-BE49-F238E27FC236}">
                <a16:creationId xmlns:a16="http://schemas.microsoft.com/office/drawing/2014/main" id="{84AF2624-F19E-67D0-A4A7-01AADABD09E3}"/>
              </a:ext>
            </a:extLst>
          </p:cNvPr>
          <p:cNvSpPr/>
          <p:nvPr/>
        </p:nvSpPr>
        <p:spPr>
          <a:xfrm>
            <a:off x="1116687" y="4969297"/>
            <a:ext cx="2925420" cy="777766"/>
          </a:xfrm>
          <a:prstGeom prst="wedgeRectCallout">
            <a:avLst>
              <a:gd name="adj1" fmla="val 15916"/>
              <a:gd name="adj2" fmla="val 2601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Symmetric </a:t>
            </a:r>
            <a:r>
              <a:rPr lang="en-US" b="1" dirty="0" err="1"/>
              <a:t>Routing&amp;Placment</a:t>
            </a:r>
            <a:r>
              <a:rPr lang="en-US" b="1" dirty="0"/>
              <a:t> </a:t>
            </a:r>
            <a:endParaRPr lang="en-IL" dirty="0"/>
          </a:p>
        </p:txBody>
      </p:sp>
    </p:spTree>
    <p:extLst>
      <p:ext uri="{BB962C8B-B14F-4D97-AF65-F5344CB8AC3E}">
        <p14:creationId xmlns:p14="http://schemas.microsoft.com/office/powerpoint/2010/main" val="3126491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21"/>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22"/>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25"/>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7"/>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p:bldP spid="19" grpId="0" animBg="1"/>
      <p:bldP spid="4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00ABA-82F7-5B1F-0D4C-8EBBDBFF23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3EC29E-83D8-9CE7-3551-381B6D5FAF4B}"/>
              </a:ext>
            </a:extLst>
          </p:cNvPr>
          <p:cNvSpPr>
            <a:spLocks noGrp="1"/>
          </p:cNvSpPr>
          <p:nvPr>
            <p:ph type="title"/>
          </p:nvPr>
        </p:nvSpPr>
        <p:spPr>
          <a:xfrm>
            <a:off x="2063479" y="356745"/>
            <a:ext cx="8074325" cy="575154"/>
          </a:xfrm>
        </p:spPr>
        <p:txBody>
          <a:bodyPr>
            <a:normAutofit fontScale="90000"/>
          </a:bodyPr>
          <a:lstStyle/>
          <a:p>
            <a:pPr algn="ctr"/>
            <a:r>
              <a:rPr lang="en-US" b="1" dirty="0"/>
              <a:t>For Example 2 </a:t>
            </a:r>
          </a:p>
        </p:txBody>
      </p:sp>
      <p:pic>
        <p:nvPicPr>
          <p:cNvPr id="6" name="Picture 5">
            <a:extLst>
              <a:ext uri="{FF2B5EF4-FFF2-40B4-BE49-F238E27FC236}">
                <a16:creationId xmlns:a16="http://schemas.microsoft.com/office/drawing/2014/main" id="{2B3068F7-AAAE-82BE-0C31-91C838566D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F14FF710-C351-D8FA-00D5-AB9C68EDA2E8}"/>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004D5D91-EFAC-1B9A-D634-3BD3EC360024}"/>
              </a:ext>
            </a:extLst>
          </p:cNvPr>
          <p:cNvSpPr>
            <a:spLocks noGrp="1"/>
          </p:cNvSpPr>
          <p:nvPr>
            <p:ph type="sldNum" sz="quarter" idx="12"/>
          </p:nvPr>
        </p:nvSpPr>
        <p:spPr/>
        <p:txBody>
          <a:bodyPr/>
          <a:lstStyle/>
          <a:p>
            <a:fld id="{397A11E8-8F25-49C3-8F7D-865FECFDFD18}" type="slidenum">
              <a:rPr lang="en-US" smtClean="0"/>
              <a:t>19</a:t>
            </a:fld>
            <a:endParaRPr lang="en-US"/>
          </a:p>
        </p:txBody>
      </p:sp>
      <p:pic>
        <p:nvPicPr>
          <p:cNvPr id="7" name="Picture 6">
            <a:extLst>
              <a:ext uri="{FF2B5EF4-FFF2-40B4-BE49-F238E27FC236}">
                <a16:creationId xmlns:a16="http://schemas.microsoft.com/office/drawing/2014/main" id="{5F93EDAF-BC3B-16FA-EAF5-A84F1F7E28CF}"/>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3" name="Picture 2" descr="A diagram of a circuit&#10;&#10;AI-generated content may be incorrect.">
            <a:extLst>
              <a:ext uri="{FF2B5EF4-FFF2-40B4-BE49-F238E27FC236}">
                <a16:creationId xmlns:a16="http://schemas.microsoft.com/office/drawing/2014/main" id="{2A91692A-CE95-8151-6E99-F3ED6CA0D8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37" y="1391386"/>
            <a:ext cx="5113654" cy="4513857"/>
          </a:xfrm>
          <a:prstGeom prst="rect">
            <a:avLst/>
          </a:prstGeom>
        </p:spPr>
      </p:pic>
      <p:sp>
        <p:nvSpPr>
          <p:cNvPr id="5" name="מלבן 4">
            <a:extLst>
              <a:ext uri="{FF2B5EF4-FFF2-40B4-BE49-F238E27FC236}">
                <a16:creationId xmlns:a16="http://schemas.microsoft.com/office/drawing/2014/main" id="{C4FD0699-CAF7-F467-AFEA-6DD7831A1D47}"/>
              </a:ext>
            </a:extLst>
          </p:cNvPr>
          <p:cNvSpPr/>
          <p:nvPr/>
        </p:nvSpPr>
        <p:spPr>
          <a:xfrm>
            <a:off x="1553225" y="3667777"/>
            <a:ext cx="2028175" cy="8933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תיבת טקסט 14">
            <a:extLst>
              <a:ext uri="{FF2B5EF4-FFF2-40B4-BE49-F238E27FC236}">
                <a16:creationId xmlns:a16="http://schemas.microsoft.com/office/drawing/2014/main" id="{EA0DA143-AB04-390D-8ABA-848153F9B621}"/>
              </a:ext>
            </a:extLst>
          </p:cNvPr>
          <p:cNvSpPr txBox="1"/>
          <p:nvPr/>
        </p:nvSpPr>
        <p:spPr>
          <a:xfrm>
            <a:off x="5772806" y="1391386"/>
            <a:ext cx="5580994" cy="2246769"/>
          </a:xfrm>
          <a:prstGeom prst="rect">
            <a:avLst/>
          </a:prstGeom>
          <a:noFill/>
        </p:spPr>
        <p:txBody>
          <a:bodyPr wrap="square" rtlCol="0">
            <a:spAutoFit/>
          </a:bodyPr>
          <a:lstStyle/>
          <a:p>
            <a:r>
              <a:rPr lang="en-US" sz="2000" b="1" dirty="0"/>
              <a:t>Differential Pair (M1 &amp; M2)</a:t>
            </a:r>
            <a:endParaRPr lang="he-IL" sz="2000" b="1" dirty="0"/>
          </a:p>
          <a:p>
            <a:r>
              <a:rPr lang="en-US" sz="2000" dirty="0"/>
              <a:t>Core of the OTA – compares input voltages</a:t>
            </a:r>
          </a:p>
          <a:p>
            <a:r>
              <a:rPr lang="en-US" sz="2000" dirty="0"/>
              <a:t>Requires excellent symmetry to avoid offset</a:t>
            </a:r>
          </a:p>
          <a:p>
            <a:r>
              <a:rPr lang="en-US" sz="2000" b="1" dirty="0"/>
              <a:t>Implemented using Common-Centroid layout:</a:t>
            </a:r>
          </a:p>
          <a:p>
            <a:r>
              <a:rPr lang="en-US" sz="2000" dirty="0"/>
              <a:t>→ Transistors are placed symmetrically around a center to cancel process gradients</a:t>
            </a:r>
          </a:p>
          <a:p>
            <a:endParaRPr lang="en-IL" sz="2000" b="1" dirty="0"/>
          </a:p>
        </p:txBody>
      </p:sp>
      <p:cxnSp>
        <p:nvCxnSpPr>
          <p:cNvPr id="34" name="מחבר חץ ישר 33">
            <a:extLst>
              <a:ext uri="{FF2B5EF4-FFF2-40B4-BE49-F238E27FC236}">
                <a16:creationId xmlns:a16="http://schemas.microsoft.com/office/drawing/2014/main" id="{9FBE63AA-8F3B-3507-1089-BBCFEAA3AFF7}"/>
              </a:ext>
            </a:extLst>
          </p:cNvPr>
          <p:cNvCxnSpPr>
            <a:cxnSpLocks/>
          </p:cNvCxnSpPr>
          <p:nvPr/>
        </p:nvCxnSpPr>
        <p:spPr>
          <a:xfrm>
            <a:off x="5969876" y="2614575"/>
            <a:ext cx="0" cy="274243"/>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מחבר חץ ישר 35">
            <a:extLst>
              <a:ext uri="{FF2B5EF4-FFF2-40B4-BE49-F238E27FC236}">
                <a16:creationId xmlns:a16="http://schemas.microsoft.com/office/drawing/2014/main" id="{ACAB1941-999D-4FC2-24BA-D96AB390466F}"/>
              </a:ext>
            </a:extLst>
          </p:cNvPr>
          <p:cNvCxnSpPr>
            <a:cxnSpLocks/>
          </p:cNvCxnSpPr>
          <p:nvPr/>
        </p:nvCxnSpPr>
        <p:spPr>
          <a:xfrm>
            <a:off x="6846176" y="3655934"/>
            <a:ext cx="0" cy="274243"/>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מחבר חץ ישר 36">
            <a:extLst>
              <a:ext uri="{FF2B5EF4-FFF2-40B4-BE49-F238E27FC236}">
                <a16:creationId xmlns:a16="http://schemas.microsoft.com/office/drawing/2014/main" id="{A96D6AC3-FD9C-6173-7915-2AA43DC669CE}"/>
              </a:ext>
            </a:extLst>
          </p:cNvPr>
          <p:cNvCxnSpPr>
            <a:cxnSpLocks/>
          </p:cNvCxnSpPr>
          <p:nvPr/>
        </p:nvCxnSpPr>
        <p:spPr>
          <a:xfrm>
            <a:off x="6846176" y="4715114"/>
            <a:ext cx="0" cy="274243"/>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מחבר חץ ישר 37">
            <a:extLst>
              <a:ext uri="{FF2B5EF4-FFF2-40B4-BE49-F238E27FC236}">
                <a16:creationId xmlns:a16="http://schemas.microsoft.com/office/drawing/2014/main" id="{BA15C180-5429-A99F-311B-3D0309B46C42}"/>
              </a:ext>
            </a:extLst>
          </p:cNvPr>
          <p:cNvCxnSpPr>
            <a:cxnSpLocks/>
          </p:cNvCxnSpPr>
          <p:nvPr/>
        </p:nvCxnSpPr>
        <p:spPr>
          <a:xfrm>
            <a:off x="5896303" y="5768121"/>
            <a:ext cx="0" cy="274243"/>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מחבר חץ ישר 41">
            <a:extLst>
              <a:ext uri="{FF2B5EF4-FFF2-40B4-BE49-F238E27FC236}">
                <a16:creationId xmlns:a16="http://schemas.microsoft.com/office/drawing/2014/main" id="{903E8682-F635-EDAE-0FBE-C69A5959A777}"/>
              </a:ext>
            </a:extLst>
          </p:cNvPr>
          <p:cNvCxnSpPr>
            <a:cxnSpLocks/>
          </p:cNvCxnSpPr>
          <p:nvPr/>
        </p:nvCxnSpPr>
        <p:spPr>
          <a:xfrm>
            <a:off x="5292531" y="3133635"/>
            <a:ext cx="0" cy="295365"/>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מחבר חץ ישר 44">
            <a:extLst>
              <a:ext uri="{FF2B5EF4-FFF2-40B4-BE49-F238E27FC236}">
                <a16:creationId xmlns:a16="http://schemas.microsoft.com/office/drawing/2014/main" id="{A06F4DE5-CA6C-AD7A-593A-4EB543C5FFEB}"/>
              </a:ext>
            </a:extLst>
          </p:cNvPr>
          <p:cNvCxnSpPr>
            <a:cxnSpLocks/>
          </p:cNvCxnSpPr>
          <p:nvPr/>
        </p:nvCxnSpPr>
        <p:spPr>
          <a:xfrm>
            <a:off x="5324896" y="4174178"/>
            <a:ext cx="0" cy="295365"/>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מחבר חץ ישר 45">
            <a:extLst>
              <a:ext uri="{FF2B5EF4-FFF2-40B4-BE49-F238E27FC236}">
                <a16:creationId xmlns:a16="http://schemas.microsoft.com/office/drawing/2014/main" id="{3A798020-7591-FA6F-EF90-21CC0A381608}"/>
              </a:ext>
            </a:extLst>
          </p:cNvPr>
          <p:cNvCxnSpPr>
            <a:cxnSpLocks/>
          </p:cNvCxnSpPr>
          <p:nvPr/>
        </p:nvCxnSpPr>
        <p:spPr>
          <a:xfrm>
            <a:off x="5331032" y="5210498"/>
            <a:ext cx="0" cy="295365"/>
          </a:xfrm>
          <a:prstGeom prst="straightConnector1">
            <a:avLst/>
          </a:prstGeom>
          <a:ln w="127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 name="Picture 4" descr="A screenshot of a computer&#10;&#10;AI-generated content may be incorrect.">
            <a:extLst>
              <a:ext uri="{FF2B5EF4-FFF2-40B4-BE49-F238E27FC236}">
                <a16:creationId xmlns:a16="http://schemas.microsoft.com/office/drawing/2014/main" id="{1EDC6317-CE2A-9760-21B9-FA623D798D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31611" y="1755481"/>
            <a:ext cx="8031444" cy="4513857"/>
          </a:xfrm>
          <a:prstGeom prst="rect">
            <a:avLst/>
          </a:prstGeom>
        </p:spPr>
      </p:pic>
      <p:sp>
        <p:nvSpPr>
          <p:cNvPr id="11" name="בועת דיבור: מלבן 10">
            <a:extLst>
              <a:ext uri="{FF2B5EF4-FFF2-40B4-BE49-F238E27FC236}">
                <a16:creationId xmlns:a16="http://schemas.microsoft.com/office/drawing/2014/main" id="{D2835BF4-58D9-9A50-6DD8-B82B264272AA}"/>
              </a:ext>
            </a:extLst>
          </p:cNvPr>
          <p:cNvSpPr/>
          <p:nvPr/>
        </p:nvSpPr>
        <p:spPr>
          <a:xfrm>
            <a:off x="2042739" y="931899"/>
            <a:ext cx="2800621" cy="1391791"/>
          </a:xfrm>
          <a:prstGeom prst="wedgeRectCallout">
            <a:avLst>
              <a:gd name="adj1" fmla="val 143324"/>
              <a:gd name="adj2" fmla="val 1747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High Symmetry routing between the devices</a:t>
            </a:r>
            <a:endParaRPr lang="en-IL" dirty="0"/>
          </a:p>
        </p:txBody>
      </p:sp>
      <p:sp>
        <p:nvSpPr>
          <p:cNvPr id="13" name="אליפסה 12">
            <a:extLst>
              <a:ext uri="{FF2B5EF4-FFF2-40B4-BE49-F238E27FC236}">
                <a16:creationId xmlns:a16="http://schemas.microsoft.com/office/drawing/2014/main" id="{C64E3D63-B546-A763-3762-AC6929EF623C}"/>
              </a:ext>
            </a:extLst>
          </p:cNvPr>
          <p:cNvSpPr/>
          <p:nvPr/>
        </p:nvSpPr>
        <p:spPr>
          <a:xfrm>
            <a:off x="7239000" y="3655934"/>
            <a:ext cx="876300" cy="905222"/>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סימן כפל 15">
            <a:extLst>
              <a:ext uri="{FF2B5EF4-FFF2-40B4-BE49-F238E27FC236}">
                <a16:creationId xmlns:a16="http://schemas.microsoft.com/office/drawing/2014/main" id="{2142AAE4-7D02-E374-E2E5-FA9A6433F58A}"/>
              </a:ext>
            </a:extLst>
          </p:cNvPr>
          <p:cNvSpPr/>
          <p:nvPr/>
        </p:nvSpPr>
        <p:spPr>
          <a:xfrm>
            <a:off x="7052370" y="3449415"/>
            <a:ext cx="1264919" cy="1318260"/>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אליפסה 16">
            <a:extLst>
              <a:ext uri="{FF2B5EF4-FFF2-40B4-BE49-F238E27FC236}">
                <a16:creationId xmlns:a16="http://schemas.microsoft.com/office/drawing/2014/main" id="{E9AEB3D3-5A52-2C0E-3D75-D2AB61C0CF0C}"/>
              </a:ext>
            </a:extLst>
          </p:cNvPr>
          <p:cNvSpPr/>
          <p:nvPr/>
        </p:nvSpPr>
        <p:spPr>
          <a:xfrm flipH="1">
            <a:off x="7581900" y="4036384"/>
            <a:ext cx="194310" cy="1617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בועת דיבור: מלבן 19">
            <a:extLst>
              <a:ext uri="{FF2B5EF4-FFF2-40B4-BE49-F238E27FC236}">
                <a16:creationId xmlns:a16="http://schemas.microsoft.com/office/drawing/2014/main" id="{8A04569A-0A48-908F-844E-676BAD5BBD09}"/>
              </a:ext>
            </a:extLst>
          </p:cNvPr>
          <p:cNvSpPr/>
          <p:nvPr/>
        </p:nvSpPr>
        <p:spPr>
          <a:xfrm>
            <a:off x="2567312" y="4852235"/>
            <a:ext cx="2028175" cy="778945"/>
          </a:xfrm>
          <a:prstGeom prst="wedgeRectCallout">
            <a:avLst>
              <a:gd name="adj1" fmla="val 196326"/>
              <a:gd name="adj2" fmla="val -14097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Common Center for both Transistors</a:t>
            </a:r>
            <a:endParaRPr lang="en-IL" dirty="0"/>
          </a:p>
        </p:txBody>
      </p:sp>
      <p:sp>
        <p:nvSpPr>
          <p:cNvPr id="24" name="בועת דיבור: מלבן 23">
            <a:extLst>
              <a:ext uri="{FF2B5EF4-FFF2-40B4-BE49-F238E27FC236}">
                <a16:creationId xmlns:a16="http://schemas.microsoft.com/office/drawing/2014/main" id="{2B09B502-22D6-1CD9-9703-D1EBD2ADA8F7}"/>
              </a:ext>
            </a:extLst>
          </p:cNvPr>
          <p:cNvSpPr/>
          <p:nvPr/>
        </p:nvSpPr>
        <p:spPr>
          <a:xfrm>
            <a:off x="2040498" y="931899"/>
            <a:ext cx="2800621" cy="1391791"/>
          </a:xfrm>
          <a:prstGeom prst="wedgeRectCallout">
            <a:avLst>
              <a:gd name="adj1" fmla="val 12996"/>
              <a:gd name="adj2" fmla="val 3950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High Symmetry routing between the devices</a:t>
            </a:r>
            <a:endParaRPr lang="en-IL" dirty="0"/>
          </a:p>
        </p:txBody>
      </p:sp>
    </p:spTree>
    <p:extLst>
      <p:ext uri="{BB962C8B-B14F-4D97-AF65-F5344CB8AC3E}">
        <p14:creationId xmlns:p14="http://schemas.microsoft.com/office/powerpoint/2010/main" val="396651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3"/>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1"/>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p:bldP spid="11" grpId="0" animBg="1"/>
      <p:bldP spid="11" grpId="1" animBg="1"/>
      <p:bldP spid="13" grpId="0" animBg="1"/>
      <p:bldP spid="13" grpId="1" animBg="1"/>
      <p:bldP spid="16" grpId="0" animBg="1"/>
      <p:bldP spid="17" grpId="0" animBg="1"/>
      <p:bldP spid="20"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D4D55-D0E2-995F-76CA-000771DFC5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2DCC92-06F8-7969-0215-883B19A3D03F}"/>
              </a:ext>
            </a:extLst>
          </p:cNvPr>
          <p:cNvSpPr>
            <a:spLocks noGrp="1"/>
          </p:cNvSpPr>
          <p:nvPr>
            <p:ph type="title"/>
          </p:nvPr>
        </p:nvSpPr>
        <p:spPr>
          <a:xfrm>
            <a:off x="2209800" y="319335"/>
            <a:ext cx="8074325" cy="575154"/>
          </a:xfrm>
        </p:spPr>
        <p:txBody>
          <a:bodyPr>
            <a:normAutofit fontScale="90000"/>
          </a:bodyPr>
          <a:lstStyle/>
          <a:p>
            <a:pPr algn="ctr"/>
            <a:r>
              <a:rPr lang="en-US" b="1" dirty="0"/>
              <a:t>Final OTA Layout</a:t>
            </a:r>
          </a:p>
        </p:txBody>
      </p:sp>
      <p:pic>
        <p:nvPicPr>
          <p:cNvPr id="6" name="Picture 5">
            <a:extLst>
              <a:ext uri="{FF2B5EF4-FFF2-40B4-BE49-F238E27FC236}">
                <a16:creationId xmlns:a16="http://schemas.microsoft.com/office/drawing/2014/main" id="{661DB226-5B38-C1A3-07ED-1972BB0694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478E45A1-6F0A-1D2F-88E3-1080B62708CE}"/>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B708DC24-DB9A-6FBB-BEC3-D41A01214150}"/>
              </a:ext>
            </a:extLst>
          </p:cNvPr>
          <p:cNvSpPr>
            <a:spLocks noGrp="1"/>
          </p:cNvSpPr>
          <p:nvPr>
            <p:ph type="sldNum" sz="quarter" idx="12"/>
          </p:nvPr>
        </p:nvSpPr>
        <p:spPr/>
        <p:txBody>
          <a:bodyPr/>
          <a:lstStyle/>
          <a:p>
            <a:fld id="{397A11E8-8F25-49C3-8F7D-865FECFDFD18}" type="slidenum">
              <a:rPr lang="en-US" smtClean="0"/>
              <a:t>20</a:t>
            </a:fld>
            <a:endParaRPr lang="en-US"/>
          </a:p>
        </p:txBody>
      </p:sp>
      <p:pic>
        <p:nvPicPr>
          <p:cNvPr id="7" name="Picture 6">
            <a:extLst>
              <a:ext uri="{FF2B5EF4-FFF2-40B4-BE49-F238E27FC236}">
                <a16:creationId xmlns:a16="http://schemas.microsoft.com/office/drawing/2014/main" id="{04CB5968-3E21-03D4-577F-722B38FFD62F}"/>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5" name="תמונה 4" descr="תמונה שמכילה צילום מסך, טקסט, צבעוני, מלבן&#10;&#10;תוכן בינה מלאכותית גנרטיבית עשוי להיות שגוי.">
            <a:extLst>
              <a:ext uri="{FF2B5EF4-FFF2-40B4-BE49-F238E27FC236}">
                <a16:creationId xmlns:a16="http://schemas.microsoft.com/office/drawing/2014/main" id="{1E3118BB-E3A0-7CD9-4B05-629A2439E8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2771" y="1047543"/>
            <a:ext cx="10831286" cy="5575593"/>
          </a:xfrm>
          <a:prstGeom prst="rect">
            <a:avLst/>
          </a:prstGeom>
        </p:spPr>
      </p:pic>
    </p:spTree>
    <p:extLst>
      <p:ext uri="{BB962C8B-B14F-4D97-AF65-F5344CB8AC3E}">
        <p14:creationId xmlns:p14="http://schemas.microsoft.com/office/powerpoint/2010/main" val="4218172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0311E-B373-0306-9CE3-0A2CE1021B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843672-E2C8-5FA3-6386-9FE717C64981}"/>
              </a:ext>
            </a:extLst>
          </p:cNvPr>
          <p:cNvSpPr>
            <a:spLocks noGrp="1"/>
          </p:cNvSpPr>
          <p:nvPr>
            <p:ph type="title"/>
          </p:nvPr>
        </p:nvSpPr>
        <p:spPr>
          <a:xfrm>
            <a:off x="728867" y="273545"/>
            <a:ext cx="10734265" cy="575154"/>
          </a:xfrm>
        </p:spPr>
        <p:txBody>
          <a:bodyPr>
            <a:noAutofit/>
          </a:bodyPr>
          <a:lstStyle/>
          <a:p>
            <a:pPr algn="ctr"/>
            <a:r>
              <a:rPr lang="en-US" b="1" dirty="0"/>
              <a:t> A Bit About IR Drop</a:t>
            </a:r>
          </a:p>
        </p:txBody>
      </p:sp>
      <p:sp>
        <p:nvSpPr>
          <p:cNvPr id="8" name="Date Placeholder 7">
            <a:extLst>
              <a:ext uri="{FF2B5EF4-FFF2-40B4-BE49-F238E27FC236}">
                <a16:creationId xmlns:a16="http://schemas.microsoft.com/office/drawing/2014/main" id="{B4562B4A-53B9-24D2-D0EB-47C1B16970D2}"/>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5B90D3AB-3ED8-1D70-5D9A-A22804C0E68E}"/>
              </a:ext>
            </a:extLst>
          </p:cNvPr>
          <p:cNvSpPr>
            <a:spLocks noGrp="1"/>
          </p:cNvSpPr>
          <p:nvPr>
            <p:ph type="sldNum" sz="quarter" idx="12"/>
          </p:nvPr>
        </p:nvSpPr>
        <p:spPr/>
        <p:txBody>
          <a:bodyPr/>
          <a:lstStyle/>
          <a:p>
            <a:fld id="{397A11E8-8F25-49C3-8F7D-865FECFDFD18}" type="slidenum">
              <a:rPr lang="en-US" smtClean="0"/>
              <a:t>21</a:t>
            </a:fld>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A4AD734-291A-C96B-171F-D0CC40A488D2}"/>
                  </a:ext>
                </a:extLst>
              </p:cNvPr>
              <p:cNvSpPr txBox="1"/>
              <p:nvPr/>
            </p:nvSpPr>
            <p:spPr>
              <a:xfrm>
                <a:off x="267419" y="1461331"/>
                <a:ext cx="11477270" cy="1962653"/>
              </a:xfrm>
              <a:prstGeom prst="rect">
                <a:avLst/>
              </a:prstGeom>
              <a:noFill/>
            </p:spPr>
            <p:txBody>
              <a:bodyPr wrap="square" rtlCol="0">
                <a:spAutoFit/>
              </a:bodyPr>
              <a:lstStyle/>
              <a:p>
                <a:r>
                  <a:rPr lang="en-US" sz="2000" b="1" dirty="0"/>
                  <a:t>IR drop</a:t>
                </a:r>
                <a:r>
                  <a:rPr lang="en-US" sz="2000" dirty="0"/>
                  <a:t> is the voltage loss that occurs when current flows through a resistive path:</a:t>
                </a:r>
                <a:endParaRPr lang="he-IL" sz="2000" dirty="0"/>
              </a:p>
              <a:p>
                <a:endParaRPr lang="en-US" sz="2000" dirty="0"/>
              </a:p>
              <a:p>
                <a:pPr algn="ct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𝑉</m:t>
                          </m:r>
                        </m:e>
                        <m:sub>
                          <m:r>
                            <a:rPr lang="en-US" sz="2000" b="0" i="1" dirty="0" smtClean="0">
                              <a:latin typeface="Cambria Math" panose="02040503050406030204" pitchFamily="18" charset="0"/>
                            </a:rPr>
                            <m:t>𝑑𝑟𝑜𝑝</m:t>
                          </m:r>
                        </m:sub>
                      </m:sSub>
                      <m:r>
                        <a:rPr lang="en-US" sz="2000" b="0" i="1" dirty="0" smtClean="0">
                          <a:latin typeface="Cambria Math" panose="02040503050406030204" pitchFamily="18" charset="0"/>
                        </a:rPr>
                        <m:t>=</m:t>
                      </m:r>
                      <m:r>
                        <a:rPr lang="en-US" sz="2000" b="0" i="1" dirty="0" smtClean="0">
                          <a:latin typeface="Cambria Math" panose="02040503050406030204" pitchFamily="18" charset="0"/>
                        </a:rPr>
                        <m:t>𝐼</m:t>
                      </m:r>
                      <m:r>
                        <a:rPr lang="en-US" sz="2000" b="0" i="1" dirty="0" smtClean="0">
                          <a:latin typeface="Cambria Math" panose="02040503050406030204" pitchFamily="18" charset="0"/>
                        </a:rPr>
                        <m:t>⋅</m:t>
                      </m:r>
                      <m:r>
                        <a:rPr lang="en-US" sz="2000" b="0" i="1" dirty="0" smtClean="0">
                          <a:latin typeface="Cambria Math" panose="02040503050406030204" pitchFamily="18" charset="0"/>
                        </a:rPr>
                        <m:t>𝑅</m:t>
                      </m:r>
                    </m:oMath>
                  </m:oMathPara>
                </a14:m>
                <a:endParaRPr lang="he-IL" sz="2000" b="0" dirty="0"/>
              </a:p>
              <a:p>
                <a:endParaRPr lang="he-IL" sz="2000" dirty="0"/>
              </a:p>
              <a:p>
                <a:endParaRPr lang="en-US" sz="2000" dirty="0"/>
              </a:p>
              <a:p>
                <a:endParaRPr lang="en-US" sz="2000" dirty="0"/>
              </a:p>
            </p:txBody>
          </p:sp>
        </mc:Choice>
        <mc:Fallback xmlns="">
          <p:sp>
            <p:nvSpPr>
              <p:cNvPr id="2" name="TextBox 1">
                <a:extLst>
                  <a:ext uri="{FF2B5EF4-FFF2-40B4-BE49-F238E27FC236}">
                    <a16:creationId xmlns:a16="http://schemas.microsoft.com/office/drawing/2014/main" id="{AA4AD734-291A-C96B-171F-D0CC40A488D2}"/>
                  </a:ext>
                </a:extLst>
              </p:cNvPr>
              <p:cNvSpPr txBox="1">
                <a:spLocks noRot="1" noChangeAspect="1" noMove="1" noResize="1" noEditPoints="1" noAdjustHandles="1" noChangeArrowheads="1" noChangeShapeType="1" noTextEdit="1"/>
              </p:cNvSpPr>
              <p:nvPr/>
            </p:nvSpPr>
            <p:spPr>
              <a:xfrm>
                <a:off x="267419" y="1461331"/>
                <a:ext cx="11477270" cy="1962653"/>
              </a:xfrm>
              <a:prstGeom prst="rect">
                <a:avLst/>
              </a:prstGeom>
              <a:blipFill>
                <a:blip r:embed="rId3"/>
                <a:stretch>
                  <a:fillRect l="-584" t="-1863"/>
                </a:stretch>
              </a:blipFill>
            </p:spPr>
            <p:txBody>
              <a:bodyPr/>
              <a:lstStyle/>
              <a:p>
                <a:r>
                  <a:rPr lang="en-IL">
                    <a:noFill/>
                  </a:rPr>
                  <a:t> </a:t>
                </a:r>
              </a:p>
            </p:txBody>
          </p:sp>
        </mc:Fallback>
      </mc:AlternateContent>
      <p:pic>
        <p:nvPicPr>
          <p:cNvPr id="3" name="Picture 5">
            <a:extLst>
              <a:ext uri="{FF2B5EF4-FFF2-40B4-BE49-F238E27FC236}">
                <a16:creationId xmlns:a16="http://schemas.microsoft.com/office/drawing/2014/main" id="{60530F08-4A47-4BEA-BB8D-F6A67BD797B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pic>
        <p:nvPicPr>
          <p:cNvPr id="5" name="Picture 6">
            <a:extLst>
              <a:ext uri="{FF2B5EF4-FFF2-40B4-BE49-F238E27FC236}">
                <a16:creationId xmlns:a16="http://schemas.microsoft.com/office/drawing/2014/main" id="{9040139F-58F6-FBA5-2906-25EBDC39926A}"/>
              </a:ext>
            </a:extLst>
          </p:cNvPr>
          <p:cNvPicPr>
            <a:picLocks noChangeAspect="1"/>
          </p:cNvPicPr>
          <p:nvPr/>
        </p:nvPicPr>
        <p:blipFill>
          <a:blip r:embed="rId5"/>
          <a:stretch>
            <a:fillRect/>
          </a:stretch>
        </p:blipFill>
        <p:spPr>
          <a:xfrm>
            <a:off x="10893991" y="77582"/>
            <a:ext cx="942788" cy="877475"/>
          </a:xfrm>
          <a:prstGeom prst="rect">
            <a:avLst/>
          </a:prstGeom>
        </p:spPr>
      </p:pic>
      <p:sp>
        <p:nvSpPr>
          <p:cNvPr id="7" name="תיבת טקסט 6">
            <a:extLst>
              <a:ext uri="{FF2B5EF4-FFF2-40B4-BE49-F238E27FC236}">
                <a16:creationId xmlns:a16="http://schemas.microsoft.com/office/drawing/2014/main" id="{2DF6ED8C-11F9-CE0A-CA02-8A7983B55B13}"/>
              </a:ext>
            </a:extLst>
          </p:cNvPr>
          <p:cNvSpPr txBox="1"/>
          <p:nvPr/>
        </p:nvSpPr>
        <p:spPr>
          <a:xfrm>
            <a:off x="267419" y="3864429"/>
            <a:ext cx="10080171" cy="2246769"/>
          </a:xfrm>
          <a:prstGeom prst="rect">
            <a:avLst/>
          </a:prstGeom>
          <a:noFill/>
        </p:spPr>
        <p:txBody>
          <a:bodyPr wrap="square" rtlCol="0">
            <a:spAutoFit/>
          </a:bodyPr>
          <a:lstStyle/>
          <a:p>
            <a:r>
              <a:rPr lang="en-US" sz="2000" dirty="0"/>
              <a:t>This affects the </a:t>
            </a:r>
            <a:r>
              <a:rPr lang="en-US" sz="2000" b="1" dirty="0"/>
              <a:t>actual voltage delivered </a:t>
            </a:r>
            <a:r>
              <a:rPr lang="en-US" sz="2000" dirty="0"/>
              <a:t>to the load, especially in analog blocks.</a:t>
            </a:r>
          </a:p>
          <a:p>
            <a:r>
              <a:rPr lang="en-US" sz="2000" dirty="0"/>
              <a:t>To ensure proper LDO operation at </a:t>
            </a:r>
            <a:r>
              <a:rPr lang="en-US" sz="2000" b="1" dirty="0"/>
              <a:t>60 mA load</a:t>
            </a:r>
            <a:r>
              <a:rPr lang="en-US" sz="2000" dirty="0"/>
              <a:t>, careful layout planning was required:</a:t>
            </a:r>
          </a:p>
          <a:p>
            <a:r>
              <a:rPr lang="en-US" sz="2000" dirty="0"/>
              <a:t>📏 </a:t>
            </a:r>
            <a:r>
              <a:rPr lang="en-US" sz="2000" b="1" dirty="0"/>
              <a:t>Wire width and spacing </a:t>
            </a:r>
            <a:r>
              <a:rPr lang="en-US" sz="2000" dirty="0"/>
              <a:t>calculated according to PDK to pass DRC</a:t>
            </a:r>
          </a:p>
          <a:p>
            <a:r>
              <a:rPr lang="en-US" sz="2000" dirty="0"/>
              <a:t>🧱 </a:t>
            </a:r>
            <a:r>
              <a:rPr lang="en-US" sz="2000" b="1" dirty="0"/>
              <a:t>Multiple metal layers </a:t>
            </a:r>
            <a:r>
              <a:rPr lang="en-US" sz="2000" dirty="0"/>
              <a:t>selected based on current density</a:t>
            </a:r>
          </a:p>
          <a:p>
            <a:r>
              <a:rPr lang="en-US" sz="2000" dirty="0"/>
              <a:t>🪜 </a:t>
            </a:r>
            <a:r>
              <a:rPr lang="en-US" sz="2000" b="1" dirty="0"/>
              <a:t>Metal stacking </a:t>
            </a:r>
            <a:r>
              <a:rPr lang="en-US" sz="2000" dirty="0"/>
              <a:t>used to distribute current across layers to further minimize resistance</a:t>
            </a:r>
          </a:p>
          <a:p>
            <a:r>
              <a:rPr lang="en-US" sz="2000" dirty="0"/>
              <a:t>🔗 </a:t>
            </a:r>
            <a:r>
              <a:rPr lang="en-US" sz="2000" b="1" dirty="0"/>
              <a:t>Segmented connections </a:t>
            </a:r>
            <a:r>
              <a:rPr lang="en-US" sz="2000" dirty="0"/>
              <a:t>made to match physical transistor layout</a:t>
            </a:r>
          </a:p>
          <a:p>
            <a:endParaRPr lang="en-IL" sz="2000" dirty="0"/>
          </a:p>
        </p:txBody>
      </p:sp>
      <p:pic>
        <p:nvPicPr>
          <p:cNvPr id="11" name="תמונה 10" descr="תמונה שמכילה טקסט, חשמל, צילום מסך, תצוגה&#10;&#10;תוכן בינה מלאכותית גנרטיבית עשוי להיות שגוי.">
            <a:extLst>
              <a:ext uri="{FF2B5EF4-FFF2-40B4-BE49-F238E27FC236}">
                <a16:creationId xmlns:a16="http://schemas.microsoft.com/office/drawing/2014/main" id="{813E399F-6359-C7A2-D944-6B90F2200E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47848" y="1208426"/>
            <a:ext cx="8364238" cy="2664220"/>
          </a:xfrm>
          <a:prstGeom prst="rect">
            <a:avLst/>
          </a:prstGeom>
        </p:spPr>
      </p:pic>
    </p:spTree>
    <p:extLst>
      <p:ext uri="{BB962C8B-B14F-4D97-AF65-F5344CB8AC3E}">
        <p14:creationId xmlns:p14="http://schemas.microsoft.com/office/powerpoint/2010/main" val="1814077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F8BC1-A279-E2B0-C007-911C68C039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D13D28-0663-7550-AE05-3195F33C611B}"/>
              </a:ext>
            </a:extLst>
          </p:cNvPr>
          <p:cNvSpPr>
            <a:spLocks noGrp="1"/>
          </p:cNvSpPr>
          <p:nvPr>
            <p:ph type="title"/>
          </p:nvPr>
        </p:nvSpPr>
        <p:spPr>
          <a:xfrm>
            <a:off x="403259" y="228742"/>
            <a:ext cx="10734265" cy="575154"/>
          </a:xfrm>
        </p:spPr>
        <p:txBody>
          <a:bodyPr>
            <a:noAutofit/>
          </a:bodyPr>
          <a:lstStyle/>
          <a:p>
            <a:pPr algn="ctr"/>
            <a:r>
              <a:rPr lang="en-US" b="1" dirty="0"/>
              <a:t>Final Layout </a:t>
            </a:r>
          </a:p>
        </p:txBody>
      </p:sp>
      <p:sp>
        <p:nvSpPr>
          <p:cNvPr id="8" name="Date Placeholder 7">
            <a:extLst>
              <a:ext uri="{FF2B5EF4-FFF2-40B4-BE49-F238E27FC236}">
                <a16:creationId xmlns:a16="http://schemas.microsoft.com/office/drawing/2014/main" id="{37000A5D-F850-A8B4-6CCA-FA6F33C5C10F}"/>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453B4310-CFBB-7B8A-FE07-3FB23673B4EA}"/>
              </a:ext>
            </a:extLst>
          </p:cNvPr>
          <p:cNvSpPr>
            <a:spLocks noGrp="1"/>
          </p:cNvSpPr>
          <p:nvPr>
            <p:ph type="sldNum" sz="quarter" idx="12"/>
          </p:nvPr>
        </p:nvSpPr>
        <p:spPr/>
        <p:txBody>
          <a:bodyPr/>
          <a:lstStyle/>
          <a:p>
            <a:fld id="{397A11E8-8F25-49C3-8F7D-865FECFDFD18}" type="slidenum">
              <a:rPr lang="en-US" smtClean="0"/>
              <a:t>22</a:t>
            </a:fld>
            <a:endParaRPr lang="en-US"/>
          </a:p>
        </p:txBody>
      </p:sp>
      <p:pic>
        <p:nvPicPr>
          <p:cNvPr id="3" name="Picture 5">
            <a:extLst>
              <a:ext uri="{FF2B5EF4-FFF2-40B4-BE49-F238E27FC236}">
                <a16:creationId xmlns:a16="http://schemas.microsoft.com/office/drawing/2014/main" id="{4E9B3F93-B448-AF51-EC9E-7FE26F0196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pic>
        <p:nvPicPr>
          <p:cNvPr id="5" name="Picture 6">
            <a:extLst>
              <a:ext uri="{FF2B5EF4-FFF2-40B4-BE49-F238E27FC236}">
                <a16:creationId xmlns:a16="http://schemas.microsoft.com/office/drawing/2014/main" id="{4A47063F-7918-5896-5F03-053E4B2E6E71}"/>
              </a:ext>
            </a:extLst>
          </p:cNvPr>
          <p:cNvPicPr>
            <a:picLocks noChangeAspect="1"/>
          </p:cNvPicPr>
          <p:nvPr/>
        </p:nvPicPr>
        <p:blipFill>
          <a:blip r:embed="rId4"/>
          <a:stretch>
            <a:fillRect/>
          </a:stretch>
        </p:blipFill>
        <p:spPr>
          <a:xfrm>
            <a:off x="10893991" y="77582"/>
            <a:ext cx="942788" cy="877475"/>
          </a:xfrm>
          <a:prstGeom prst="rect">
            <a:avLst/>
          </a:prstGeom>
        </p:spPr>
      </p:pic>
      <p:graphicFrame>
        <p:nvGraphicFramePr>
          <p:cNvPr id="7" name="אובייקט 6">
            <a:hlinkClick r:id="" action="ppaction://ole?verb=0"/>
            <a:extLst>
              <a:ext uri="{FF2B5EF4-FFF2-40B4-BE49-F238E27FC236}">
                <a16:creationId xmlns:a16="http://schemas.microsoft.com/office/drawing/2014/main" id="{8BBA7611-DBAB-7C8B-D9F3-2E0A4B330AF6}"/>
              </a:ext>
            </a:extLst>
          </p:cNvPr>
          <p:cNvGraphicFramePr>
            <a:graphicFrameLocks noChangeAspect="1"/>
          </p:cNvGraphicFramePr>
          <p:nvPr>
            <p:extLst>
              <p:ext uri="{D42A27DB-BD31-4B8C-83A1-F6EECF244321}">
                <p14:modId xmlns:p14="http://schemas.microsoft.com/office/powerpoint/2010/main" val="1920987563"/>
              </p:ext>
            </p:extLst>
          </p:nvPr>
        </p:nvGraphicFramePr>
        <p:xfrm>
          <a:off x="893344" y="882147"/>
          <a:ext cx="10000647" cy="5625364"/>
        </p:xfrm>
        <a:graphic>
          <a:graphicData uri="http://schemas.openxmlformats.org/presentationml/2006/ole">
            <mc:AlternateContent xmlns:mc="http://schemas.openxmlformats.org/markup-compatibility/2006">
              <mc:Choice xmlns:v="urn:schemas-microsoft-com:vml" Requires="v">
                <p:oleObj name="Presentation" r:id="rId5" imgW="6096296" imgH="3429229" progId="PowerPoint.Show.12">
                  <p:embed/>
                </p:oleObj>
              </mc:Choice>
              <mc:Fallback>
                <p:oleObj name="Presentation" r:id="rId5" imgW="6096296" imgH="3429229" progId="PowerPoint.Show.12">
                  <p:embed/>
                  <p:pic>
                    <p:nvPicPr>
                      <p:cNvPr id="0" name=""/>
                      <p:cNvPicPr/>
                      <p:nvPr/>
                    </p:nvPicPr>
                    <p:blipFill>
                      <a:blip r:embed="rId6"/>
                      <a:stretch>
                        <a:fillRect/>
                      </a:stretch>
                    </p:blipFill>
                    <p:spPr>
                      <a:xfrm>
                        <a:off x="893344" y="882147"/>
                        <a:ext cx="10000647" cy="5625364"/>
                      </a:xfrm>
                      <a:prstGeom prst="rect">
                        <a:avLst/>
                      </a:prstGeom>
                    </p:spPr>
                  </p:pic>
                </p:oleObj>
              </mc:Fallback>
            </mc:AlternateContent>
          </a:graphicData>
        </a:graphic>
      </p:graphicFrame>
    </p:spTree>
    <p:extLst>
      <p:ext uri="{BB962C8B-B14F-4D97-AF65-F5344CB8AC3E}">
        <p14:creationId xmlns:p14="http://schemas.microsoft.com/office/powerpoint/2010/main" val="2187331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732DF-1EAA-EB33-D796-30DF03EA9CF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5FE5DE9-124A-B538-B1C7-85E429F344C8}"/>
              </a:ext>
            </a:extLst>
          </p:cNvPr>
          <p:cNvSpPr>
            <a:spLocks noGrp="1"/>
          </p:cNvSpPr>
          <p:nvPr>
            <p:ph type="title"/>
          </p:nvPr>
        </p:nvSpPr>
        <p:spPr>
          <a:xfrm>
            <a:off x="3040939" y="356745"/>
            <a:ext cx="8074325" cy="575154"/>
          </a:xfrm>
        </p:spPr>
        <p:txBody>
          <a:bodyPr>
            <a:normAutofit fontScale="90000"/>
          </a:bodyPr>
          <a:lstStyle/>
          <a:p>
            <a:pPr algn="ctr"/>
            <a:r>
              <a:rPr lang="en-US" b="1" dirty="0"/>
              <a:t>OTA - Schematic</a:t>
            </a:r>
          </a:p>
        </p:txBody>
      </p:sp>
      <p:pic>
        <p:nvPicPr>
          <p:cNvPr id="6" name="Picture 5">
            <a:extLst>
              <a:ext uri="{FF2B5EF4-FFF2-40B4-BE49-F238E27FC236}">
                <a16:creationId xmlns:a16="http://schemas.microsoft.com/office/drawing/2014/main" id="{FE1881A0-E790-30E6-E189-6645C083BB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D70B0B24-094E-5E0C-80E9-E4EC1687217B}"/>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213A6EA0-2D3E-7866-90FB-E984FFC854DA}"/>
              </a:ext>
            </a:extLst>
          </p:cNvPr>
          <p:cNvSpPr>
            <a:spLocks noGrp="1"/>
          </p:cNvSpPr>
          <p:nvPr>
            <p:ph type="sldNum" sz="quarter" idx="12"/>
          </p:nvPr>
        </p:nvSpPr>
        <p:spPr/>
        <p:txBody>
          <a:bodyPr/>
          <a:lstStyle/>
          <a:p>
            <a:fld id="{397A11E8-8F25-49C3-8F7D-865FECFDFD18}" type="slidenum">
              <a:rPr lang="en-US" smtClean="0"/>
              <a:t>23</a:t>
            </a:fld>
            <a:endParaRPr lang="en-US"/>
          </a:p>
        </p:txBody>
      </p:sp>
      <p:pic>
        <p:nvPicPr>
          <p:cNvPr id="7" name="Picture 6">
            <a:extLst>
              <a:ext uri="{FF2B5EF4-FFF2-40B4-BE49-F238E27FC236}">
                <a16:creationId xmlns:a16="http://schemas.microsoft.com/office/drawing/2014/main" id="{0F9BB0A3-5FB9-35F9-71D4-B661596D4D06}"/>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3" name="Picture 6" descr="A computer screen shot of a computer&#10;&#10;AI-generated content may be incorrect.">
            <a:extLst>
              <a:ext uri="{FF2B5EF4-FFF2-40B4-BE49-F238E27FC236}">
                <a16:creationId xmlns:a16="http://schemas.microsoft.com/office/drawing/2014/main" id="{FCE33BC5-4258-BDE4-A115-92C7D58AB5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248" y="1015099"/>
            <a:ext cx="10263016" cy="5071846"/>
          </a:xfrm>
          <a:prstGeom prst="rect">
            <a:avLst/>
          </a:prstGeom>
        </p:spPr>
      </p:pic>
    </p:spTree>
    <p:extLst>
      <p:ext uri="{BB962C8B-B14F-4D97-AF65-F5344CB8AC3E}">
        <p14:creationId xmlns:p14="http://schemas.microsoft.com/office/powerpoint/2010/main" val="4238252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1F7CF-E06A-7FF6-17E0-5C084F4D49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44918A-9084-DB8C-3B14-B250A713B1F6}"/>
              </a:ext>
            </a:extLst>
          </p:cNvPr>
          <p:cNvSpPr>
            <a:spLocks noGrp="1"/>
          </p:cNvSpPr>
          <p:nvPr>
            <p:ph type="title"/>
          </p:nvPr>
        </p:nvSpPr>
        <p:spPr>
          <a:xfrm>
            <a:off x="2724539" y="356745"/>
            <a:ext cx="8390725" cy="575154"/>
          </a:xfrm>
        </p:spPr>
        <p:txBody>
          <a:bodyPr>
            <a:noAutofit/>
          </a:bodyPr>
          <a:lstStyle/>
          <a:p>
            <a:pPr algn="ctr"/>
            <a:r>
              <a:rPr lang="en-US" sz="3600" b="1" dirty="0"/>
              <a:t>OTA – Frequency Response (Post Layout)</a:t>
            </a:r>
          </a:p>
        </p:txBody>
      </p:sp>
      <p:pic>
        <p:nvPicPr>
          <p:cNvPr id="6" name="Picture 5">
            <a:extLst>
              <a:ext uri="{FF2B5EF4-FFF2-40B4-BE49-F238E27FC236}">
                <a16:creationId xmlns:a16="http://schemas.microsoft.com/office/drawing/2014/main" id="{011792AB-7852-1DB1-2D53-F2D124C0DE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6CE7033D-3D42-46FD-BDD0-00DDC1479669}"/>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F32283B4-4EE2-F36C-83FA-1EDAA9CBF97B}"/>
              </a:ext>
            </a:extLst>
          </p:cNvPr>
          <p:cNvSpPr>
            <a:spLocks noGrp="1"/>
          </p:cNvSpPr>
          <p:nvPr>
            <p:ph type="sldNum" sz="quarter" idx="12"/>
          </p:nvPr>
        </p:nvSpPr>
        <p:spPr/>
        <p:txBody>
          <a:bodyPr/>
          <a:lstStyle/>
          <a:p>
            <a:fld id="{397A11E8-8F25-49C3-8F7D-865FECFDFD18}" type="slidenum">
              <a:rPr lang="en-US" smtClean="0"/>
              <a:t>24</a:t>
            </a:fld>
            <a:endParaRPr lang="en-US"/>
          </a:p>
        </p:txBody>
      </p:sp>
      <p:pic>
        <p:nvPicPr>
          <p:cNvPr id="7" name="Picture 6">
            <a:extLst>
              <a:ext uri="{FF2B5EF4-FFF2-40B4-BE49-F238E27FC236}">
                <a16:creationId xmlns:a16="http://schemas.microsoft.com/office/drawing/2014/main" id="{1E5F0C57-6C0C-8C0E-64F2-2F1D96C22612}"/>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10" name="תמונה 9" descr="תמונה שמכילה צילום מסך, קו&#10;&#10;תוכן בינה מלאכותית גנרטיבית עשוי להיות שגוי.">
            <a:extLst>
              <a:ext uri="{FF2B5EF4-FFF2-40B4-BE49-F238E27FC236}">
                <a16:creationId xmlns:a16="http://schemas.microsoft.com/office/drawing/2014/main" id="{DCD21F74-F7AE-6532-15ED-23C853A3A7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1047587"/>
            <a:ext cx="11047445" cy="5072983"/>
          </a:xfrm>
          <a:prstGeom prst="rect">
            <a:avLst/>
          </a:prstGeom>
        </p:spPr>
      </p:pic>
      <p:sp>
        <p:nvSpPr>
          <p:cNvPr id="11" name="אליפסה 10">
            <a:extLst>
              <a:ext uri="{FF2B5EF4-FFF2-40B4-BE49-F238E27FC236}">
                <a16:creationId xmlns:a16="http://schemas.microsoft.com/office/drawing/2014/main" id="{F29542A6-544F-25C2-2001-147718E4D984}"/>
              </a:ext>
            </a:extLst>
          </p:cNvPr>
          <p:cNvSpPr/>
          <p:nvPr/>
        </p:nvSpPr>
        <p:spPr>
          <a:xfrm>
            <a:off x="838200" y="1147665"/>
            <a:ext cx="915955" cy="447870"/>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בועת דיבור: מלבן 11">
            <a:extLst>
              <a:ext uri="{FF2B5EF4-FFF2-40B4-BE49-F238E27FC236}">
                <a16:creationId xmlns:a16="http://schemas.microsoft.com/office/drawing/2014/main" id="{DD99C048-F9F9-5948-FD83-DBF958D25E41}"/>
              </a:ext>
            </a:extLst>
          </p:cNvPr>
          <p:cNvSpPr/>
          <p:nvPr/>
        </p:nvSpPr>
        <p:spPr>
          <a:xfrm>
            <a:off x="904292" y="2239348"/>
            <a:ext cx="1978868" cy="597159"/>
          </a:xfrm>
          <a:prstGeom prst="wedgeRectCallout">
            <a:avLst>
              <a:gd name="adj1" fmla="val -27918"/>
              <a:gd name="adj2" fmla="val -143750"/>
            </a:avLst>
          </a:prstGeom>
          <a:noFill/>
          <a:ln w="28575">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a:solidFill>
                  <a:schemeClr val="bg1"/>
                </a:solidFill>
              </a:rPr>
              <a:t>High Gain Amp. </a:t>
            </a:r>
            <a:br>
              <a:rPr lang="en-US" b="1" i="1" dirty="0">
                <a:solidFill>
                  <a:schemeClr val="bg1"/>
                </a:solidFill>
              </a:rPr>
            </a:br>
            <a:r>
              <a:rPr lang="en-US" b="1" i="1" dirty="0">
                <a:solidFill>
                  <a:schemeClr val="bg1"/>
                </a:solidFill>
              </a:rPr>
              <a:t>To meet the specs</a:t>
            </a:r>
            <a:endParaRPr lang="en-IL" b="1" i="1" dirty="0">
              <a:solidFill>
                <a:schemeClr val="bg1"/>
              </a:solidFill>
            </a:endParaRPr>
          </a:p>
        </p:txBody>
      </p:sp>
      <p:sp>
        <p:nvSpPr>
          <p:cNvPr id="13" name="בועת דיבור: מלבן 12">
            <a:extLst>
              <a:ext uri="{FF2B5EF4-FFF2-40B4-BE49-F238E27FC236}">
                <a16:creationId xmlns:a16="http://schemas.microsoft.com/office/drawing/2014/main" id="{52C7A349-84C7-4F09-E707-F4FA6997EA46}"/>
              </a:ext>
            </a:extLst>
          </p:cNvPr>
          <p:cNvSpPr/>
          <p:nvPr/>
        </p:nvSpPr>
        <p:spPr>
          <a:xfrm>
            <a:off x="904292" y="2239348"/>
            <a:ext cx="1978868" cy="597159"/>
          </a:xfrm>
          <a:prstGeom prst="wedgeRectCallout">
            <a:avLst>
              <a:gd name="adj1" fmla="val -25560"/>
              <a:gd name="adj2" fmla="val -42188"/>
            </a:avLst>
          </a:prstGeom>
          <a:noFill/>
          <a:ln w="28575">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a:solidFill>
                  <a:schemeClr val="bg1"/>
                </a:solidFill>
              </a:rPr>
              <a:t>High Gain Amp. </a:t>
            </a:r>
            <a:br>
              <a:rPr lang="en-US" b="1" i="1" dirty="0">
                <a:solidFill>
                  <a:schemeClr val="bg1"/>
                </a:solidFill>
              </a:rPr>
            </a:br>
            <a:r>
              <a:rPr lang="en-US" b="1" i="1" dirty="0">
                <a:solidFill>
                  <a:schemeClr val="bg1"/>
                </a:solidFill>
              </a:rPr>
              <a:t>To meet the specs</a:t>
            </a:r>
            <a:endParaRPr lang="en-IL" b="1" i="1" dirty="0">
              <a:solidFill>
                <a:schemeClr val="bg1"/>
              </a:solidFill>
            </a:endParaRPr>
          </a:p>
        </p:txBody>
      </p:sp>
      <p:sp>
        <p:nvSpPr>
          <p:cNvPr id="15" name="אליפסה 14">
            <a:extLst>
              <a:ext uri="{FF2B5EF4-FFF2-40B4-BE49-F238E27FC236}">
                <a16:creationId xmlns:a16="http://schemas.microsoft.com/office/drawing/2014/main" id="{C726F9DC-1702-9858-22D4-CE66144E1219}"/>
              </a:ext>
            </a:extLst>
          </p:cNvPr>
          <p:cNvSpPr/>
          <p:nvPr/>
        </p:nvSpPr>
        <p:spPr>
          <a:xfrm>
            <a:off x="1730129" y="1521278"/>
            <a:ext cx="915955" cy="447870"/>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7" name="מחבר חץ ישר 16">
            <a:extLst>
              <a:ext uri="{FF2B5EF4-FFF2-40B4-BE49-F238E27FC236}">
                <a16:creationId xmlns:a16="http://schemas.microsoft.com/office/drawing/2014/main" id="{0E93894C-8148-D685-E963-1D08B18761EE}"/>
              </a:ext>
            </a:extLst>
          </p:cNvPr>
          <p:cNvCxnSpPr>
            <a:cxnSpLocks/>
          </p:cNvCxnSpPr>
          <p:nvPr/>
        </p:nvCxnSpPr>
        <p:spPr>
          <a:xfrm>
            <a:off x="1607474" y="1390181"/>
            <a:ext cx="395097" cy="262193"/>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בועת דיבור: מלבן 19">
                <a:extLst>
                  <a:ext uri="{FF2B5EF4-FFF2-40B4-BE49-F238E27FC236}">
                    <a16:creationId xmlns:a16="http://schemas.microsoft.com/office/drawing/2014/main" id="{B741E5A0-4FCB-E2CB-4DD5-7B6450E017E0}"/>
                  </a:ext>
                </a:extLst>
              </p:cNvPr>
              <p:cNvSpPr/>
              <p:nvPr/>
            </p:nvSpPr>
            <p:spPr>
              <a:xfrm>
                <a:off x="3435998" y="1978480"/>
                <a:ext cx="1978868" cy="597159"/>
              </a:xfrm>
              <a:prstGeom prst="wedgeRectCallout">
                <a:avLst>
                  <a:gd name="adj1" fmla="val -87328"/>
                  <a:gd name="adj2" fmla="val -76563"/>
                </a:avLst>
              </a:prstGeom>
              <a:noFill/>
              <a:ln w="28575">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a:solidFill>
                      <a:schemeClr val="bg1"/>
                    </a:solidFill>
                  </a:rPr>
                  <a:t>Common Trade-off</a:t>
                </a:r>
                <a:br>
                  <a:rPr lang="en-US" b="1" i="1" dirty="0">
                    <a:solidFill>
                      <a:schemeClr val="bg1"/>
                    </a:solidFill>
                  </a:rPr>
                </a:br>
                <a14:m>
                  <m:oMathPara xmlns:m="http://schemas.openxmlformats.org/officeDocument/2006/math">
                    <m:oMathParaPr>
                      <m:jc m:val="centerGroup"/>
                    </m:oMathParaPr>
                    <m:oMath xmlns:m="http://schemas.openxmlformats.org/officeDocument/2006/math">
                      <m:r>
                        <a:rPr lang="en-US" b="1" i="1" smtClean="0">
                          <a:solidFill>
                            <a:schemeClr val="bg1"/>
                          </a:solidFill>
                          <a:latin typeface="Cambria Math" panose="02040503050406030204" pitchFamily="18" charset="0"/>
                        </a:rPr>
                        <m:t>𝑮𝒂𝒊𝒏</m:t>
                      </m:r>
                      <m:r>
                        <a:rPr lang="en-US" b="1" i="1" smtClean="0">
                          <a:solidFill>
                            <a:schemeClr val="bg1"/>
                          </a:solidFill>
                          <a:latin typeface="Cambria Math" panose="02040503050406030204" pitchFamily="18" charset="0"/>
                        </a:rPr>
                        <m:t> ⟷</m:t>
                      </m:r>
                      <m:r>
                        <a:rPr lang="en-US" b="1" i="1" smtClean="0">
                          <a:solidFill>
                            <a:schemeClr val="bg1"/>
                          </a:solidFill>
                          <a:latin typeface="Cambria Math" panose="02040503050406030204" pitchFamily="18" charset="0"/>
                          <a:ea typeface="Cambria Math" panose="02040503050406030204" pitchFamily="18" charset="0"/>
                        </a:rPr>
                        <m:t>𝑩</m:t>
                      </m:r>
                      <m:r>
                        <a:rPr lang="en-US" b="1" i="1" smtClean="0">
                          <a:solidFill>
                            <a:schemeClr val="bg1"/>
                          </a:solidFill>
                          <a:latin typeface="Cambria Math" panose="02040503050406030204" pitchFamily="18" charset="0"/>
                          <a:ea typeface="Cambria Math" panose="02040503050406030204" pitchFamily="18" charset="0"/>
                        </a:rPr>
                        <m:t>.</m:t>
                      </m:r>
                      <m:r>
                        <a:rPr lang="en-US" b="1" i="1" smtClean="0">
                          <a:solidFill>
                            <a:schemeClr val="bg1"/>
                          </a:solidFill>
                          <a:latin typeface="Cambria Math" panose="02040503050406030204" pitchFamily="18" charset="0"/>
                          <a:ea typeface="Cambria Math" panose="02040503050406030204" pitchFamily="18" charset="0"/>
                        </a:rPr>
                        <m:t>𝑾</m:t>
                      </m:r>
                      <m:r>
                        <a:rPr lang="en-US" b="1" i="1" smtClean="0">
                          <a:solidFill>
                            <a:schemeClr val="bg1"/>
                          </a:solidFill>
                          <a:latin typeface="Cambria Math" panose="02040503050406030204" pitchFamily="18" charset="0"/>
                          <a:ea typeface="Cambria Math" panose="02040503050406030204" pitchFamily="18" charset="0"/>
                        </a:rPr>
                        <m:t>.</m:t>
                      </m:r>
                    </m:oMath>
                  </m:oMathPara>
                </a14:m>
                <a:endParaRPr lang="en-IL" b="1" i="1" dirty="0">
                  <a:solidFill>
                    <a:schemeClr val="bg1"/>
                  </a:solidFill>
                </a:endParaRPr>
              </a:p>
            </p:txBody>
          </p:sp>
        </mc:Choice>
        <mc:Fallback xmlns="">
          <p:sp>
            <p:nvSpPr>
              <p:cNvPr id="20" name="בועת דיבור: מלבן 19">
                <a:extLst>
                  <a:ext uri="{FF2B5EF4-FFF2-40B4-BE49-F238E27FC236}">
                    <a16:creationId xmlns:a16="http://schemas.microsoft.com/office/drawing/2014/main" id="{B741E5A0-4FCB-E2CB-4DD5-7B6450E017E0}"/>
                  </a:ext>
                </a:extLst>
              </p:cNvPr>
              <p:cNvSpPr>
                <a:spLocks noRot="1" noChangeAspect="1" noMove="1" noResize="1" noEditPoints="1" noAdjustHandles="1" noChangeArrowheads="1" noChangeShapeType="1" noTextEdit="1"/>
              </p:cNvSpPr>
              <p:nvPr/>
            </p:nvSpPr>
            <p:spPr>
              <a:xfrm>
                <a:off x="3435998" y="1978480"/>
                <a:ext cx="1978868" cy="597159"/>
              </a:xfrm>
              <a:prstGeom prst="wedgeRectCallout">
                <a:avLst>
                  <a:gd name="adj1" fmla="val -87328"/>
                  <a:gd name="adj2" fmla="val -76563"/>
                </a:avLst>
              </a:prstGeom>
              <a:blipFill>
                <a:blip r:embed="rId6"/>
                <a:stretch>
                  <a:fillRect r="-1071"/>
                </a:stretch>
              </a:blipFill>
              <a:ln w="28575">
                <a:solidFill>
                  <a:schemeClr val="bg1"/>
                </a:solidFill>
              </a:ln>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21" name="בועת דיבור: מלבן 20">
                <a:extLst>
                  <a:ext uri="{FF2B5EF4-FFF2-40B4-BE49-F238E27FC236}">
                    <a16:creationId xmlns:a16="http://schemas.microsoft.com/office/drawing/2014/main" id="{1566B3A7-A05D-0B3B-EAD2-9ED89CDA4FD7}"/>
                  </a:ext>
                </a:extLst>
              </p:cNvPr>
              <p:cNvSpPr/>
              <p:nvPr/>
            </p:nvSpPr>
            <p:spPr>
              <a:xfrm>
                <a:off x="3435998" y="1969148"/>
                <a:ext cx="1978868" cy="597159"/>
              </a:xfrm>
              <a:prstGeom prst="wedgeRectCallout">
                <a:avLst>
                  <a:gd name="adj1" fmla="val -3870"/>
                  <a:gd name="adj2" fmla="val -43750"/>
                </a:avLst>
              </a:prstGeom>
              <a:noFill/>
              <a:ln w="28575">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a:solidFill>
                      <a:schemeClr val="bg1"/>
                    </a:solidFill>
                  </a:rPr>
                  <a:t>Common Trade-off</a:t>
                </a:r>
                <a:br>
                  <a:rPr lang="en-US" b="1" i="1" dirty="0">
                    <a:solidFill>
                      <a:schemeClr val="bg1"/>
                    </a:solidFill>
                  </a:rPr>
                </a:br>
                <a14:m>
                  <m:oMathPara xmlns:m="http://schemas.openxmlformats.org/officeDocument/2006/math">
                    <m:oMathParaPr>
                      <m:jc m:val="centerGroup"/>
                    </m:oMathParaPr>
                    <m:oMath xmlns:m="http://schemas.openxmlformats.org/officeDocument/2006/math">
                      <m:r>
                        <a:rPr lang="en-US" b="1" i="1" smtClean="0">
                          <a:solidFill>
                            <a:schemeClr val="bg1"/>
                          </a:solidFill>
                          <a:latin typeface="Cambria Math" panose="02040503050406030204" pitchFamily="18" charset="0"/>
                        </a:rPr>
                        <m:t>𝑮𝒂𝒊𝒏</m:t>
                      </m:r>
                      <m:r>
                        <a:rPr lang="en-US" b="1" i="1" smtClean="0">
                          <a:solidFill>
                            <a:schemeClr val="bg1"/>
                          </a:solidFill>
                          <a:latin typeface="Cambria Math" panose="02040503050406030204" pitchFamily="18" charset="0"/>
                        </a:rPr>
                        <m:t> ⟷</m:t>
                      </m:r>
                      <m:r>
                        <a:rPr lang="en-US" b="1" i="1" smtClean="0">
                          <a:solidFill>
                            <a:schemeClr val="bg1"/>
                          </a:solidFill>
                          <a:latin typeface="Cambria Math" panose="02040503050406030204" pitchFamily="18" charset="0"/>
                          <a:ea typeface="Cambria Math" panose="02040503050406030204" pitchFamily="18" charset="0"/>
                        </a:rPr>
                        <m:t>𝑩</m:t>
                      </m:r>
                      <m:r>
                        <a:rPr lang="en-US" b="1" i="1" smtClean="0">
                          <a:solidFill>
                            <a:schemeClr val="bg1"/>
                          </a:solidFill>
                          <a:latin typeface="Cambria Math" panose="02040503050406030204" pitchFamily="18" charset="0"/>
                          <a:ea typeface="Cambria Math" panose="02040503050406030204" pitchFamily="18" charset="0"/>
                        </a:rPr>
                        <m:t>.</m:t>
                      </m:r>
                      <m:r>
                        <a:rPr lang="en-US" b="1" i="1" smtClean="0">
                          <a:solidFill>
                            <a:schemeClr val="bg1"/>
                          </a:solidFill>
                          <a:latin typeface="Cambria Math" panose="02040503050406030204" pitchFamily="18" charset="0"/>
                          <a:ea typeface="Cambria Math" panose="02040503050406030204" pitchFamily="18" charset="0"/>
                        </a:rPr>
                        <m:t>𝑾</m:t>
                      </m:r>
                      <m:r>
                        <a:rPr lang="en-US" b="1" i="1" smtClean="0">
                          <a:solidFill>
                            <a:schemeClr val="bg1"/>
                          </a:solidFill>
                          <a:latin typeface="Cambria Math" panose="02040503050406030204" pitchFamily="18" charset="0"/>
                          <a:ea typeface="Cambria Math" panose="02040503050406030204" pitchFamily="18" charset="0"/>
                        </a:rPr>
                        <m:t>.</m:t>
                      </m:r>
                    </m:oMath>
                  </m:oMathPara>
                </a14:m>
                <a:endParaRPr lang="en-IL" b="1" i="1" dirty="0">
                  <a:solidFill>
                    <a:schemeClr val="bg1"/>
                  </a:solidFill>
                </a:endParaRPr>
              </a:p>
            </p:txBody>
          </p:sp>
        </mc:Choice>
        <mc:Fallback xmlns="">
          <p:sp>
            <p:nvSpPr>
              <p:cNvPr id="21" name="בועת דיבור: מלבן 20">
                <a:extLst>
                  <a:ext uri="{FF2B5EF4-FFF2-40B4-BE49-F238E27FC236}">
                    <a16:creationId xmlns:a16="http://schemas.microsoft.com/office/drawing/2014/main" id="{1566B3A7-A05D-0B3B-EAD2-9ED89CDA4FD7}"/>
                  </a:ext>
                </a:extLst>
              </p:cNvPr>
              <p:cNvSpPr>
                <a:spLocks noRot="1" noChangeAspect="1" noMove="1" noResize="1" noEditPoints="1" noAdjustHandles="1" noChangeArrowheads="1" noChangeShapeType="1" noTextEdit="1"/>
              </p:cNvSpPr>
              <p:nvPr/>
            </p:nvSpPr>
            <p:spPr>
              <a:xfrm>
                <a:off x="3435998" y="1969148"/>
                <a:ext cx="1978868" cy="597159"/>
              </a:xfrm>
              <a:prstGeom prst="wedgeRectCallout">
                <a:avLst>
                  <a:gd name="adj1" fmla="val -3870"/>
                  <a:gd name="adj2" fmla="val -43750"/>
                </a:avLst>
              </a:prstGeom>
              <a:blipFill>
                <a:blip r:embed="rId7"/>
                <a:stretch>
                  <a:fillRect l="-2128" t="-6796" r="-1520"/>
                </a:stretch>
              </a:blipFill>
              <a:ln w="28575">
                <a:solidFill>
                  <a:schemeClr val="bg1"/>
                </a:solidFill>
              </a:ln>
            </p:spPr>
            <p:txBody>
              <a:bodyPr/>
              <a:lstStyle/>
              <a:p>
                <a:r>
                  <a:rPr lang="en-IL">
                    <a:noFill/>
                  </a:rPr>
                  <a:t> </a:t>
                </a:r>
              </a:p>
            </p:txBody>
          </p:sp>
        </mc:Fallback>
      </mc:AlternateContent>
      <p:sp>
        <p:nvSpPr>
          <p:cNvPr id="22" name="אליפסה 21">
            <a:extLst>
              <a:ext uri="{FF2B5EF4-FFF2-40B4-BE49-F238E27FC236}">
                <a16:creationId xmlns:a16="http://schemas.microsoft.com/office/drawing/2014/main" id="{B95CCD18-F18A-E06B-CA22-A71E16553AAF}"/>
              </a:ext>
            </a:extLst>
          </p:cNvPr>
          <p:cNvSpPr/>
          <p:nvPr/>
        </p:nvSpPr>
        <p:spPr>
          <a:xfrm>
            <a:off x="7635163" y="1943101"/>
            <a:ext cx="1517001" cy="1189652"/>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בועת דיבור: מלבן 22">
            <a:extLst>
              <a:ext uri="{FF2B5EF4-FFF2-40B4-BE49-F238E27FC236}">
                <a16:creationId xmlns:a16="http://schemas.microsoft.com/office/drawing/2014/main" id="{9913B58D-6D27-6E2E-1173-3E546AD59A8D}"/>
              </a:ext>
            </a:extLst>
          </p:cNvPr>
          <p:cNvSpPr/>
          <p:nvPr/>
        </p:nvSpPr>
        <p:spPr>
          <a:xfrm>
            <a:off x="4693298" y="3023118"/>
            <a:ext cx="2941865" cy="859539"/>
          </a:xfrm>
          <a:prstGeom prst="wedgeRectCallout">
            <a:avLst>
              <a:gd name="adj1" fmla="val 49354"/>
              <a:gd name="adj2" fmla="val -85476"/>
            </a:avLst>
          </a:prstGeom>
          <a:noFill/>
          <a:ln w="28575">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a:solidFill>
                  <a:schemeClr val="bg1"/>
                </a:solidFill>
              </a:rPr>
              <a:t>Close GBW and UGF → </a:t>
            </a:r>
            <a:endParaRPr lang="he-IL" b="1" i="1" dirty="0">
              <a:solidFill>
                <a:schemeClr val="bg1"/>
              </a:solidFill>
            </a:endParaRPr>
          </a:p>
          <a:p>
            <a:pPr algn="ctr"/>
            <a:r>
              <a:rPr lang="en-US" b="1" i="1" dirty="0">
                <a:solidFill>
                  <a:schemeClr val="bg1"/>
                </a:solidFill>
              </a:rPr>
              <a:t>well-separated poles, ensuring stable operation</a:t>
            </a:r>
            <a:endParaRPr lang="en-IL" b="1" i="1" dirty="0">
              <a:solidFill>
                <a:schemeClr val="bg1"/>
              </a:solidFill>
            </a:endParaRPr>
          </a:p>
        </p:txBody>
      </p:sp>
      <p:sp>
        <p:nvSpPr>
          <p:cNvPr id="24" name="בועת דיבור: מלבן 23">
            <a:extLst>
              <a:ext uri="{FF2B5EF4-FFF2-40B4-BE49-F238E27FC236}">
                <a16:creationId xmlns:a16="http://schemas.microsoft.com/office/drawing/2014/main" id="{C007DCD4-856E-7C23-EA92-208FD32D1C18}"/>
              </a:ext>
            </a:extLst>
          </p:cNvPr>
          <p:cNvSpPr/>
          <p:nvPr/>
        </p:nvSpPr>
        <p:spPr>
          <a:xfrm>
            <a:off x="4696409" y="3032450"/>
            <a:ext cx="2941865" cy="859539"/>
          </a:xfrm>
          <a:prstGeom prst="wedgeRectCallout">
            <a:avLst>
              <a:gd name="adj1" fmla="val -2027"/>
              <a:gd name="adj2" fmla="val -39883"/>
            </a:avLst>
          </a:prstGeom>
          <a:noFill/>
          <a:ln w="28575">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a:solidFill>
                  <a:schemeClr val="bg1"/>
                </a:solidFill>
              </a:rPr>
              <a:t>Close GBW and UGF → </a:t>
            </a:r>
            <a:endParaRPr lang="he-IL" b="1" i="1" dirty="0">
              <a:solidFill>
                <a:schemeClr val="bg1"/>
              </a:solidFill>
            </a:endParaRPr>
          </a:p>
          <a:p>
            <a:pPr algn="ctr"/>
            <a:r>
              <a:rPr lang="en-US" b="1" i="1" dirty="0">
                <a:solidFill>
                  <a:schemeClr val="bg1"/>
                </a:solidFill>
              </a:rPr>
              <a:t>well-separated poles, ensuring stable operation</a:t>
            </a:r>
            <a:endParaRPr lang="en-IL" b="1" i="1" dirty="0">
              <a:solidFill>
                <a:schemeClr val="bg1"/>
              </a:solidFill>
            </a:endParaRPr>
          </a:p>
        </p:txBody>
      </p:sp>
      <p:sp>
        <p:nvSpPr>
          <p:cNvPr id="25" name="אליפסה 24">
            <a:extLst>
              <a:ext uri="{FF2B5EF4-FFF2-40B4-BE49-F238E27FC236}">
                <a16:creationId xmlns:a16="http://schemas.microsoft.com/office/drawing/2014/main" id="{B26D3284-1B48-BFFC-D87F-6FEBA869261A}"/>
              </a:ext>
            </a:extLst>
          </p:cNvPr>
          <p:cNvSpPr/>
          <p:nvPr/>
        </p:nvSpPr>
        <p:spPr>
          <a:xfrm>
            <a:off x="8729955" y="4241541"/>
            <a:ext cx="1517001" cy="1189652"/>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בועת דיבור: מלבן 25">
            <a:extLst>
              <a:ext uri="{FF2B5EF4-FFF2-40B4-BE49-F238E27FC236}">
                <a16:creationId xmlns:a16="http://schemas.microsoft.com/office/drawing/2014/main" id="{6B62087A-FB86-C37B-17BA-39C86E197CA8}"/>
              </a:ext>
            </a:extLst>
          </p:cNvPr>
          <p:cNvSpPr/>
          <p:nvPr/>
        </p:nvSpPr>
        <p:spPr>
          <a:xfrm>
            <a:off x="5318449" y="4362795"/>
            <a:ext cx="2649506" cy="859539"/>
          </a:xfrm>
          <a:prstGeom prst="wedgeRectCallout">
            <a:avLst>
              <a:gd name="adj1" fmla="val 73776"/>
              <a:gd name="adj2" fmla="val -2975"/>
            </a:avLst>
          </a:prstGeom>
          <a:noFill/>
          <a:ln w="28575">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a:solidFill>
                  <a:schemeClr val="bg1"/>
                </a:solidFill>
              </a:rPr>
              <a:t>High Phase Margin </a:t>
            </a:r>
            <a:br>
              <a:rPr lang="en-US" b="1" i="1" dirty="0">
                <a:solidFill>
                  <a:schemeClr val="bg1"/>
                </a:solidFill>
              </a:rPr>
            </a:br>
            <a:r>
              <a:rPr lang="en-US" b="1" i="1" dirty="0">
                <a:solidFill>
                  <a:schemeClr val="bg1"/>
                </a:solidFill>
              </a:rPr>
              <a:t>To Ensure Stability</a:t>
            </a:r>
            <a:endParaRPr lang="en-IL" b="1" i="1" dirty="0">
              <a:solidFill>
                <a:schemeClr val="bg1"/>
              </a:solidFill>
            </a:endParaRPr>
          </a:p>
        </p:txBody>
      </p:sp>
    </p:spTree>
    <p:extLst>
      <p:ext uri="{BB962C8B-B14F-4D97-AF65-F5344CB8AC3E}">
        <p14:creationId xmlns:p14="http://schemas.microsoft.com/office/powerpoint/2010/main" val="90741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2"/>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0"/>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3"/>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2" grpId="1" animBg="1"/>
      <p:bldP spid="13" grpId="0" animBg="1"/>
      <p:bldP spid="15" grpId="0" animBg="1"/>
      <p:bldP spid="20" grpId="0" animBg="1"/>
      <p:bldP spid="20" grpId="1" animBg="1"/>
      <p:bldP spid="21" grpId="0" animBg="1"/>
      <p:bldP spid="22" grpId="0" animBg="1"/>
      <p:bldP spid="23" grpId="0" animBg="1"/>
      <p:bldP spid="23" grpId="1" animBg="1"/>
      <p:bldP spid="24" grpId="0" animBg="1"/>
      <p:bldP spid="25" grpId="0" animBg="1"/>
      <p:bldP spid="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D9AA0-D0E1-4278-2601-AD8E83A3B0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1E9F0F0-2C4B-3528-5CE2-20C4755B93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53A84FE2-5714-AF38-D630-2DEA16F7D6E9}"/>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DAF1E64E-1214-E8E0-89E6-80AA9079BA58}"/>
              </a:ext>
            </a:extLst>
          </p:cNvPr>
          <p:cNvSpPr>
            <a:spLocks noGrp="1"/>
          </p:cNvSpPr>
          <p:nvPr>
            <p:ph type="sldNum" sz="quarter" idx="12"/>
          </p:nvPr>
        </p:nvSpPr>
        <p:spPr/>
        <p:txBody>
          <a:bodyPr/>
          <a:lstStyle/>
          <a:p>
            <a:fld id="{397A11E8-8F25-49C3-8F7D-865FECFDFD18}" type="slidenum">
              <a:rPr lang="en-US" smtClean="0"/>
              <a:t>25</a:t>
            </a:fld>
            <a:endParaRPr lang="en-US"/>
          </a:p>
        </p:txBody>
      </p:sp>
      <p:pic>
        <p:nvPicPr>
          <p:cNvPr id="7" name="Picture 6">
            <a:extLst>
              <a:ext uri="{FF2B5EF4-FFF2-40B4-BE49-F238E27FC236}">
                <a16:creationId xmlns:a16="http://schemas.microsoft.com/office/drawing/2014/main" id="{73B2D773-900F-30E1-C8A1-B9DD5A4BC8BC}"/>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10" name="תמונה 9" descr="תמונה שמכילה צילום מסך, קו&#10;&#10;תוכן בינה מלאכותית גנרטיבית עשוי להיות שגוי.">
            <a:extLst>
              <a:ext uri="{FF2B5EF4-FFF2-40B4-BE49-F238E27FC236}">
                <a16:creationId xmlns:a16="http://schemas.microsoft.com/office/drawing/2014/main" id="{505A188E-165E-77CB-047D-4BB43E9191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1047587"/>
            <a:ext cx="11047445" cy="5072983"/>
          </a:xfrm>
          <a:prstGeom prst="rect">
            <a:avLst/>
          </a:prstGeom>
        </p:spPr>
      </p:pic>
      <p:pic>
        <p:nvPicPr>
          <p:cNvPr id="27" name="Picture 9" descr="A table with numbers and a few tables&#10;&#10;AI-generated content may be incorrect.">
            <a:extLst>
              <a:ext uri="{FF2B5EF4-FFF2-40B4-BE49-F238E27FC236}">
                <a16:creationId xmlns:a16="http://schemas.microsoft.com/office/drawing/2014/main" id="{925C286D-674F-EC25-827F-9494D795E162}"/>
              </a:ext>
            </a:extLst>
          </p:cNvPr>
          <p:cNvPicPr>
            <a:picLocks noChangeAspect="1"/>
          </p:cNvPicPr>
          <p:nvPr/>
        </p:nvPicPr>
        <p:blipFill>
          <a:blip r:embed="rId6">
            <a:extLst>
              <a:ext uri="{28A0092B-C50C-407E-A947-70E740481C1C}">
                <a14:useLocalDpi xmlns:a14="http://schemas.microsoft.com/office/drawing/2010/main" val="0"/>
              </a:ext>
            </a:extLst>
          </a:blip>
          <a:srcRect b="23119"/>
          <a:stretch>
            <a:fillRect/>
          </a:stretch>
        </p:blipFill>
        <p:spPr>
          <a:xfrm>
            <a:off x="2209800" y="2824719"/>
            <a:ext cx="8060794" cy="1518718"/>
          </a:xfrm>
          <a:prstGeom prst="rect">
            <a:avLst/>
          </a:prstGeom>
        </p:spPr>
      </p:pic>
      <p:sp>
        <p:nvSpPr>
          <p:cNvPr id="2" name="מלבן 1">
            <a:extLst>
              <a:ext uri="{FF2B5EF4-FFF2-40B4-BE49-F238E27FC236}">
                <a16:creationId xmlns:a16="http://schemas.microsoft.com/office/drawing/2014/main" id="{F1AB6901-F3A5-2143-1983-9AE845A98367}"/>
              </a:ext>
            </a:extLst>
          </p:cNvPr>
          <p:cNvSpPr/>
          <p:nvPr/>
        </p:nvSpPr>
        <p:spPr>
          <a:xfrm>
            <a:off x="2209800" y="3349690"/>
            <a:ext cx="8060794" cy="76511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 name="מלבן 2">
            <a:extLst>
              <a:ext uri="{FF2B5EF4-FFF2-40B4-BE49-F238E27FC236}">
                <a16:creationId xmlns:a16="http://schemas.microsoft.com/office/drawing/2014/main" id="{97367E18-665A-521D-0CD9-CEB840F78C5B}"/>
              </a:ext>
            </a:extLst>
          </p:cNvPr>
          <p:cNvSpPr/>
          <p:nvPr/>
        </p:nvSpPr>
        <p:spPr>
          <a:xfrm>
            <a:off x="2332653" y="4646645"/>
            <a:ext cx="8561338" cy="606490"/>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UGF and GBW are close – indicating good pole separation and stable OTA behavior.</a:t>
            </a:r>
            <a:br>
              <a:rPr lang="en-US" b="1" dirty="0"/>
            </a:br>
            <a:r>
              <a:rPr lang="en-US" b="1" dirty="0"/>
              <a:t>Main shift expected post-layout is in the first pole, due to parasitic R and C from routing.</a:t>
            </a:r>
            <a:endParaRPr lang="en-IL" b="1" dirty="0"/>
          </a:p>
        </p:txBody>
      </p:sp>
      <p:sp>
        <p:nvSpPr>
          <p:cNvPr id="12" name="Title 3">
            <a:extLst>
              <a:ext uri="{FF2B5EF4-FFF2-40B4-BE49-F238E27FC236}">
                <a16:creationId xmlns:a16="http://schemas.microsoft.com/office/drawing/2014/main" id="{D3D88C57-63FC-8F40-F21E-152FA7691A97}"/>
              </a:ext>
            </a:extLst>
          </p:cNvPr>
          <p:cNvSpPr txBox="1">
            <a:spLocks/>
          </p:cNvSpPr>
          <p:nvPr/>
        </p:nvSpPr>
        <p:spPr>
          <a:xfrm>
            <a:off x="2724539" y="356745"/>
            <a:ext cx="8390725" cy="5751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a:t>OTA – Frequency Response (Post Layout)</a:t>
            </a:r>
            <a:endParaRPr lang="en-US" sz="3600" b="1" dirty="0"/>
          </a:p>
        </p:txBody>
      </p:sp>
    </p:spTree>
    <p:extLst>
      <p:ext uri="{BB962C8B-B14F-4D97-AF65-F5344CB8AC3E}">
        <p14:creationId xmlns:p14="http://schemas.microsoft.com/office/powerpoint/2010/main" val="7148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9FFBC-07CF-E1C4-221B-D6E97E7FCEB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0B36AEC-F082-F39D-96D6-F672864B5B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E4583D47-10E5-077F-9E9B-FF2B6F1E78B7}"/>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64D3108E-09DC-BE50-20B6-1D381E2BB581}"/>
              </a:ext>
            </a:extLst>
          </p:cNvPr>
          <p:cNvSpPr>
            <a:spLocks noGrp="1"/>
          </p:cNvSpPr>
          <p:nvPr>
            <p:ph type="sldNum" sz="quarter" idx="12"/>
          </p:nvPr>
        </p:nvSpPr>
        <p:spPr/>
        <p:txBody>
          <a:bodyPr/>
          <a:lstStyle/>
          <a:p>
            <a:fld id="{397A11E8-8F25-49C3-8F7D-865FECFDFD18}" type="slidenum">
              <a:rPr lang="en-US" smtClean="0"/>
              <a:t>26</a:t>
            </a:fld>
            <a:endParaRPr lang="en-US"/>
          </a:p>
        </p:txBody>
      </p:sp>
      <p:pic>
        <p:nvPicPr>
          <p:cNvPr id="7" name="Picture 6">
            <a:extLst>
              <a:ext uri="{FF2B5EF4-FFF2-40B4-BE49-F238E27FC236}">
                <a16:creationId xmlns:a16="http://schemas.microsoft.com/office/drawing/2014/main" id="{F3081AD6-1A95-E70A-0713-0B420794B313}"/>
              </a:ext>
            </a:extLst>
          </p:cNvPr>
          <p:cNvPicPr>
            <a:picLocks noChangeAspect="1"/>
          </p:cNvPicPr>
          <p:nvPr/>
        </p:nvPicPr>
        <p:blipFill>
          <a:blip r:embed="rId3"/>
          <a:stretch>
            <a:fillRect/>
          </a:stretch>
        </p:blipFill>
        <p:spPr>
          <a:xfrm>
            <a:off x="10893991" y="77582"/>
            <a:ext cx="942788" cy="877475"/>
          </a:xfrm>
          <a:prstGeom prst="rect">
            <a:avLst/>
          </a:prstGeom>
        </p:spPr>
      </p:pic>
      <p:pic>
        <p:nvPicPr>
          <p:cNvPr id="5" name="Picture 4">
            <a:extLst>
              <a:ext uri="{FF2B5EF4-FFF2-40B4-BE49-F238E27FC236}">
                <a16:creationId xmlns:a16="http://schemas.microsoft.com/office/drawing/2014/main" id="{2823DE16-3D16-7AC3-82AE-7FCEA4B150C2}"/>
              </a:ext>
            </a:extLst>
          </p:cNvPr>
          <p:cNvPicPr>
            <a:picLocks noChangeAspect="1"/>
          </p:cNvPicPr>
          <p:nvPr/>
        </p:nvPicPr>
        <p:blipFill>
          <a:blip r:embed="rId4"/>
          <a:stretch>
            <a:fillRect/>
          </a:stretch>
        </p:blipFill>
        <p:spPr>
          <a:xfrm>
            <a:off x="267419" y="1080238"/>
            <a:ext cx="11290267" cy="4564781"/>
          </a:xfrm>
          <a:prstGeom prst="rect">
            <a:avLst/>
          </a:prstGeom>
        </p:spPr>
      </p:pic>
      <p:sp>
        <p:nvSpPr>
          <p:cNvPr id="11" name="Title 3">
            <a:extLst>
              <a:ext uri="{FF2B5EF4-FFF2-40B4-BE49-F238E27FC236}">
                <a16:creationId xmlns:a16="http://schemas.microsoft.com/office/drawing/2014/main" id="{E71D1206-D12F-13CA-454B-C789BCB33785}"/>
              </a:ext>
            </a:extLst>
          </p:cNvPr>
          <p:cNvSpPr txBox="1">
            <a:spLocks/>
          </p:cNvSpPr>
          <p:nvPr/>
        </p:nvSpPr>
        <p:spPr>
          <a:xfrm>
            <a:off x="2744637" y="228742"/>
            <a:ext cx="6702725" cy="575154"/>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OTA – Output Swing</a:t>
            </a:r>
          </a:p>
        </p:txBody>
      </p:sp>
    </p:spTree>
    <p:extLst>
      <p:ext uri="{BB962C8B-B14F-4D97-AF65-F5344CB8AC3E}">
        <p14:creationId xmlns:p14="http://schemas.microsoft.com/office/powerpoint/2010/main" val="22318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9393D-1AEC-A7AF-5C3D-F64AC604A0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DF0FBF-A7E3-7FB5-8A0F-22B14250FFAA}"/>
              </a:ext>
            </a:extLst>
          </p:cNvPr>
          <p:cNvSpPr>
            <a:spLocks noGrp="1"/>
          </p:cNvSpPr>
          <p:nvPr>
            <p:ph type="title"/>
          </p:nvPr>
        </p:nvSpPr>
        <p:spPr>
          <a:xfrm>
            <a:off x="3040939" y="356745"/>
            <a:ext cx="8074325" cy="575154"/>
          </a:xfrm>
        </p:spPr>
        <p:txBody>
          <a:bodyPr>
            <a:normAutofit fontScale="90000"/>
          </a:bodyPr>
          <a:lstStyle/>
          <a:p>
            <a:pPr algn="ctr"/>
            <a:r>
              <a:rPr lang="en-US" b="1" dirty="0"/>
              <a:t>BGR - Schematic</a:t>
            </a:r>
          </a:p>
        </p:txBody>
      </p:sp>
      <p:pic>
        <p:nvPicPr>
          <p:cNvPr id="6" name="Picture 5">
            <a:extLst>
              <a:ext uri="{FF2B5EF4-FFF2-40B4-BE49-F238E27FC236}">
                <a16:creationId xmlns:a16="http://schemas.microsoft.com/office/drawing/2014/main" id="{2ADE44A1-96DC-27B6-BB15-65AE858F94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F5D8D8B8-1BC9-C0DE-843D-0F12C9990449}"/>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CB0D2D83-C88C-4C6E-DFD3-C823B5E7917B}"/>
              </a:ext>
            </a:extLst>
          </p:cNvPr>
          <p:cNvSpPr>
            <a:spLocks noGrp="1"/>
          </p:cNvSpPr>
          <p:nvPr>
            <p:ph type="sldNum" sz="quarter" idx="12"/>
          </p:nvPr>
        </p:nvSpPr>
        <p:spPr/>
        <p:txBody>
          <a:bodyPr/>
          <a:lstStyle/>
          <a:p>
            <a:fld id="{397A11E8-8F25-49C3-8F7D-865FECFDFD18}" type="slidenum">
              <a:rPr lang="en-US" smtClean="0"/>
              <a:t>27</a:t>
            </a:fld>
            <a:endParaRPr lang="en-US"/>
          </a:p>
        </p:txBody>
      </p:sp>
      <p:pic>
        <p:nvPicPr>
          <p:cNvPr id="7" name="Picture 6">
            <a:extLst>
              <a:ext uri="{FF2B5EF4-FFF2-40B4-BE49-F238E27FC236}">
                <a16:creationId xmlns:a16="http://schemas.microsoft.com/office/drawing/2014/main" id="{46F65A83-A786-A7AC-39DC-384D7CDF40F8}"/>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2" name="Picture 10" descr="A computer screen shot of a computer screen&#10;&#10;AI-generated content may be incorrect.">
            <a:extLst>
              <a:ext uri="{FF2B5EF4-FFF2-40B4-BE49-F238E27FC236}">
                <a16:creationId xmlns:a16="http://schemas.microsoft.com/office/drawing/2014/main" id="{091EDAB2-A7B9-FFEA-87CD-6CE1B02A77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97305" y="914407"/>
            <a:ext cx="8175171" cy="5624505"/>
          </a:xfrm>
          <a:prstGeom prst="rect">
            <a:avLst/>
          </a:prstGeom>
        </p:spPr>
      </p:pic>
    </p:spTree>
    <p:extLst>
      <p:ext uri="{BB962C8B-B14F-4D97-AF65-F5344CB8AC3E}">
        <p14:creationId xmlns:p14="http://schemas.microsoft.com/office/powerpoint/2010/main" val="1036189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F7279-39F9-6712-BEA2-FB0FB657F0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209485-0934-BAEE-302C-B6CCE7EF5CD6}"/>
              </a:ext>
            </a:extLst>
          </p:cNvPr>
          <p:cNvSpPr>
            <a:spLocks noGrp="1"/>
          </p:cNvSpPr>
          <p:nvPr>
            <p:ph type="title"/>
          </p:nvPr>
        </p:nvSpPr>
        <p:spPr>
          <a:xfrm>
            <a:off x="3040939" y="356745"/>
            <a:ext cx="8074325" cy="575154"/>
          </a:xfrm>
        </p:spPr>
        <p:txBody>
          <a:bodyPr>
            <a:normAutofit fontScale="90000"/>
          </a:bodyPr>
          <a:lstStyle/>
          <a:p>
            <a:pPr algn="ctr"/>
            <a:r>
              <a:rPr lang="en-US" b="1" dirty="0"/>
              <a:t>BGR – Temperature Stability</a:t>
            </a:r>
          </a:p>
        </p:txBody>
      </p:sp>
      <p:pic>
        <p:nvPicPr>
          <p:cNvPr id="6" name="Picture 5">
            <a:extLst>
              <a:ext uri="{FF2B5EF4-FFF2-40B4-BE49-F238E27FC236}">
                <a16:creationId xmlns:a16="http://schemas.microsoft.com/office/drawing/2014/main" id="{5973FD93-671D-5C12-324C-0CE08DD49B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E565AC68-8A9A-3817-A03A-85B3D23244F4}"/>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BA6D402A-FC1F-B017-6DAD-726906F7E94C}"/>
              </a:ext>
            </a:extLst>
          </p:cNvPr>
          <p:cNvSpPr>
            <a:spLocks noGrp="1"/>
          </p:cNvSpPr>
          <p:nvPr>
            <p:ph type="sldNum" sz="quarter" idx="12"/>
          </p:nvPr>
        </p:nvSpPr>
        <p:spPr/>
        <p:txBody>
          <a:bodyPr/>
          <a:lstStyle/>
          <a:p>
            <a:fld id="{397A11E8-8F25-49C3-8F7D-865FECFDFD18}" type="slidenum">
              <a:rPr lang="en-US" smtClean="0"/>
              <a:t>28</a:t>
            </a:fld>
            <a:endParaRPr lang="en-US" dirty="0"/>
          </a:p>
        </p:txBody>
      </p:sp>
      <p:pic>
        <p:nvPicPr>
          <p:cNvPr id="7" name="Picture 6">
            <a:extLst>
              <a:ext uri="{FF2B5EF4-FFF2-40B4-BE49-F238E27FC236}">
                <a16:creationId xmlns:a16="http://schemas.microsoft.com/office/drawing/2014/main" id="{B7B78CC0-4BC4-AAAB-196A-E23A30953365}"/>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14" name="תמונה 13">
            <a:extLst>
              <a:ext uri="{FF2B5EF4-FFF2-40B4-BE49-F238E27FC236}">
                <a16:creationId xmlns:a16="http://schemas.microsoft.com/office/drawing/2014/main" id="{BDEB9FAE-6BC6-BC53-BDDC-F2D3D75EBB7B}"/>
              </a:ext>
            </a:extLst>
          </p:cNvPr>
          <p:cNvPicPr>
            <a:picLocks noChangeAspect="1"/>
          </p:cNvPicPr>
          <p:nvPr/>
        </p:nvPicPr>
        <p:blipFill>
          <a:blip r:embed="rId5"/>
          <a:stretch>
            <a:fillRect/>
          </a:stretch>
        </p:blipFill>
        <p:spPr>
          <a:xfrm>
            <a:off x="1231640" y="1038257"/>
            <a:ext cx="10347650" cy="5376998"/>
          </a:xfrm>
          <a:prstGeom prst="rect">
            <a:avLst/>
          </a:prstGeom>
        </p:spPr>
      </p:pic>
      <p:sp>
        <p:nvSpPr>
          <p:cNvPr id="15" name="תיבת טקסט 14">
            <a:extLst>
              <a:ext uri="{FF2B5EF4-FFF2-40B4-BE49-F238E27FC236}">
                <a16:creationId xmlns:a16="http://schemas.microsoft.com/office/drawing/2014/main" id="{FCAB61C7-1B86-E2E0-BB4C-204A36E6F356}"/>
              </a:ext>
            </a:extLst>
          </p:cNvPr>
          <p:cNvSpPr txBox="1"/>
          <p:nvPr/>
        </p:nvSpPr>
        <p:spPr>
          <a:xfrm>
            <a:off x="5346441" y="6175251"/>
            <a:ext cx="2743200" cy="369332"/>
          </a:xfrm>
          <a:prstGeom prst="rect">
            <a:avLst/>
          </a:prstGeom>
          <a:noFill/>
        </p:spPr>
        <p:txBody>
          <a:bodyPr wrap="square" rtlCol="0">
            <a:spAutoFit/>
          </a:bodyPr>
          <a:lstStyle/>
          <a:p>
            <a:r>
              <a:rPr lang="en-US" b="1" dirty="0">
                <a:solidFill>
                  <a:srgbClr val="FF0000"/>
                </a:solidFill>
              </a:rPr>
              <a:t>Temp Sweep : -40 - 125 [C]</a:t>
            </a:r>
            <a:endParaRPr lang="en-IL" b="1" dirty="0">
              <a:solidFill>
                <a:srgbClr val="FF0000"/>
              </a:solidFill>
            </a:endParaRPr>
          </a:p>
        </p:txBody>
      </p:sp>
      <p:pic>
        <p:nvPicPr>
          <p:cNvPr id="16" name="Picture 12">
            <a:extLst>
              <a:ext uri="{FF2B5EF4-FFF2-40B4-BE49-F238E27FC236}">
                <a16:creationId xmlns:a16="http://schemas.microsoft.com/office/drawing/2014/main" id="{9170C57A-DB4B-6977-8C22-1F5972A70EAF}"/>
              </a:ext>
            </a:extLst>
          </p:cNvPr>
          <p:cNvPicPr>
            <a:picLocks noChangeAspect="1"/>
          </p:cNvPicPr>
          <p:nvPr/>
        </p:nvPicPr>
        <p:blipFill>
          <a:blip r:embed="rId6"/>
          <a:stretch>
            <a:fillRect/>
          </a:stretch>
        </p:blipFill>
        <p:spPr>
          <a:xfrm>
            <a:off x="583163" y="3407955"/>
            <a:ext cx="11240279" cy="637602"/>
          </a:xfrm>
          <a:prstGeom prst="rect">
            <a:avLst/>
          </a:prstGeom>
        </p:spPr>
      </p:pic>
    </p:spTree>
    <p:extLst>
      <p:ext uri="{BB962C8B-B14F-4D97-AF65-F5344CB8AC3E}">
        <p14:creationId xmlns:p14="http://schemas.microsoft.com/office/powerpoint/2010/main" val="73619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77B95-45F5-A3B4-18BB-1C3E127CA4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1EC1805-9B2D-B03D-1792-DE76F33A20C0}"/>
              </a:ext>
            </a:extLst>
          </p:cNvPr>
          <p:cNvSpPr>
            <a:spLocks noGrp="1"/>
          </p:cNvSpPr>
          <p:nvPr>
            <p:ph type="title"/>
          </p:nvPr>
        </p:nvSpPr>
        <p:spPr>
          <a:xfrm>
            <a:off x="3040939" y="356745"/>
            <a:ext cx="8074325" cy="575154"/>
          </a:xfrm>
        </p:spPr>
        <p:txBody>
          <a:bodyPr>
            <a:normAutofit fontScale="90000"/>
          </a:bodyPr>
          <a:lstStyle/>
          <a:p>
            <a:pPr algn="ctr"/>
            <a:r>
              <a:rPr lang="en-US" b="1" dirty="0"/>
              <a:t>BGR – Line Regulation</a:t>
            </a:r>
          </a:p>
        </p:txBody>
      </p:sp>
      <p:pic>
        <p:nvPicPr>
          <p:cNvPr id="6" name="Picture 5">
            <a:extLst>
              <a:ext uri="{FF2B5EF4-FFF2-40B4-BE49-F238E27FC236}">
                <a16:creationId xmlns:a16="http://schemas.microsoft.com/office/drawing/2014/main" id="{ED0B4EAE-E7A3-E870-955E-CCF3A5500A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4B3E579B-25E6-2946-F8E7-041CF15A686A}"/>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7B2DB0A8-EC8C-B7BC-1180-B36687F3D8C4}"/>
              </a:ext>
            </a:extLst>
          </p:cNvPr>
          <p:cNvSpPr>
            <a:spLocks noGrp="1"/>
          </p:cNvSpPr>
          <p:nvPr>
            <p:ph type="sldNum" sz="quarter" idx="12"/>
          </p:nvPr>
        </p:nvSpPr>
        <p:spPr/>
        <p:txBody>
          <a:bodyPr/>
          <a:lstStyle/>
          <a:p>
            <a:fld id="{397A11E8-8F25-49C3-8F7D-865FECFDFD18}" type="slidenum">
              <a:rPr lang="en-US" smtClean="0"/>
              <a:t>29</a:t>
            </a:fld>
            <a:endParaRPr lang="en-US"/>
          </a:p>
        </p:txBody>
      </p:sp>
      <p:pic>
        <p:nvPicPr>
          <p:cNvPr id="7" name="Picture 6">
            <a:extLst>
              <a:ext uri="{FF2B5EF4-FFF2-40B4-BE49-F238E27FC236}">
                <a16:creationId xmlns:a16="http://schemas.microsoft.com/office/drawing/2014/main" id="{5E53F49A-C812-7A03-2A11-2FE0A1B6C6D2}"/>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3" name="תמונה 2">
            <a:extLst>
              <a:ext uri="{FF2B5EF4-FFF2-40B4-BE49-F238E27FC236}">
                <a16:creationId xmlns:a16="http://schemas.microsoft.com/office/drawing/2014/main" id="{A188B80D-7476-E892-196E-2103BE834512}"/>
              </a:ext>
            </a:extLst>
          </p:cNvPr>
          <p:cNvPicPr>
            <a:picLocks noChangeAspect="1"/>
          </p:cNvPicPr>
          <p:nvPr/>
        </p:nvPicPr>
        <p:blipFill>
          <a:blip r:embed="rId5"/>
          <a:stretch>
            <a:fillRect/>
          </a:stretch>
        </p:blipFill>
        <p:spPr>
          <a:xfrm>
            <a:off x="1166327" y="1023480"/>
            <a:ext cx="9727664" cy="5209369"/>
          </a:xfrm>
          <a:prstGeom prst="rect">
            <a:avLst/>
          </a:prstGeom>
        </p:spPr>
      </p:pic>
      <p:sp>
        <p:nvSpPr>
          <p:cNvPr id="5" name="תיבת טקסט 4">
            <a:extLst>
              <a:ext uri="{FF2B5EF4-FFF2-40B4-BE49-F238E27FC236}">
                <a16:creationId xmlns:a16="http://schemas.microsoft.com/office/drawing/2014/main" id="{4EDC5A9C-B7A6-D770-9E05-8E9666792028}"/>
              </a:ext>
            </a:extLst>
          </p:cNvPr>
          <p:cNvSpPr txBox="1"/>
          <p:nvPr/>
        </p:nvSpPr>
        <p:spPr>
          <a:xfrm>
            <a:off x="5271796" y="6175251"/>
            <a:ext cx="2164703" cy="369332"/>
          </a:xfrm>
          <a:prstGeom prst="rect">
            <a:avLst/>
          </a:prstGeom>
          <a:noFill/>
        </p:spPr>
        <p:txBody>
          <a:bodyPr wrap="square" rtlCol="0">
            <a:spAutoFit/>
          </a:bodyPr>
          <a:lstStyle/>
          <a:p>
            <a:r>
              <a:rPr lang="en-US" b="1" dirty="0">
                <a:solidFill>
                  <a:srgbClr val="FF0000"/>
                </a:solidFill>
              </a:rPr>
              <a:t>VDD Sweep : 1-3 [V]</a:t>
            </a:r>
            <a:endParaRPr lang="en-IL" b="1" dirty="0">
              <a:solidFill>
                <a:srgbClr val="FF0000"/>
              </a:solidFill>
            </a:endParaRPr>
          </a:p>
        </p:txBody>
      </p:sp>
      <p:grpSp>
        <p:nvGrpSpPr>
          <p:cNvPr id="10" name="קבוצה 9">
            <a:extLst>
              <a:ext uri="{FF2B5EF4-FFF2-40B4-BE49-F238E27FC236}">
                <a16:creationId xmlns:a16="http://schemas.microsoft.com/office/drawing/2014/main" id="{FF8406FA-76FD-E517-CBF6-25098FEA0EFE}"/>
              </a:ext>
            </a:extLst>
          </p:cNvPr>
          <p:cNvGrpSpPr/>
          <p:nvPr/>
        </p:nvGrpSpPr>
        <p:grpSpPr>
          <a:xfrm>
            <a:off x="135030" y="3503645"/>
            <a:ext cx="11790257" cy="667518"/>
            <a:chOff x="0" y="5414637"/>
            <a:chExt cx="12192000" cy="667518"/>
          </a:xfrm>
        </p:grpSpPr>
        <p:pic>
          <p:nvPicPr>
            <p:cNvPr id="11" name="Picture 14">
              <a:extLst>
                <a:ext uri="{FF2B5EF4-FFF2-40B4-BE49-F238E27FC236}">
                  <a16:creationId xmlns:a16="http://schemas.microsoft.com/office/drawing/2014/main" id="{DE5B4347-458B-992F-BFC8-D356BFEF1A40}"/>
                </a:ext>
              </a:extLst>
            </p:cNvPr>
            <p:cNvPicPr>
              <a:picLocks noChangeAspect="1"/>
            </p:cNvPicPr>
            <p:nvPr/>
          </p:nvPicPr>
          <p:blipFill>
            <a:blip r:embed="rId6"/>
            <a:srcRect t="71509"/>
            <a:stretch>
              <a:fillRect/>
            </a:stretch>
          </p:blipFill>
          <p:spPr>
            <a:xfrm>
              <a:off x="0" y="5808063"/>
              <a:ext cx="12192000" cy="274092"/>
            </a:xfrm>
            <a:prstGeom prst="rect">
              <a:avLst/>
            </a:prstGeom>
          </p:spPr>
        </p:pic>
        <p:pic>
          <p:nvPicPr>
            <p:cNvPr id="12" name="Picture 17">
              <a:extLst>
                <a:ext uri="{FF2B5EF4-FFF2-40B4-BE49-F238E27FC236}">
                  <a16:creationId xmlns:a16="http://schemas.microsoft.com/office/drawing/2014/main" id="{5AFE44E2-3AE4-71FB-880B-73E5A0C19E5F}"/>
                </a:ext>
              </a:extLst>
            </p:cNvPr>
            <p:cNvPicPr>
              <a:picLocks noChangeAspect="1"/>
            </p:cNvPicPr>
            <p:nvPr/>
          </p:nvPicPr>
          <p:blipFill>
            <a:blip r:embed="rId6"/>
            <a:srcRect b="59105"/>
            <a:stretch>
              <a:fillRect/>
            </a:stretch>
          </p:blipFill>
          <p:spPr>
            <a:xfrm>
              <a:off x="0" y="5414637"/>
              <a:ext cx="12192000" cy="393426"/>
            </a:xfrm>
            <a:prstGeom prst="rect">
              <a:avLst/>
            </a:prstGeom>
          </p:spPr>
        </p:pic>
      </p:grpSp>
    </p:spTree>
    <p:extLst>
      <p:ext uri="{BB962C8B-B14F-4D97-AF65-F5344CB8AC3E}">
        <p14:creationId xmlns:p14="http://schemas.microsoft.com/office/powerpoint/2010/main" val="63626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509AA-896D-1CF7-A093-19BB97F07D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A979D5-8573-D1FB-9011-D501465018AF}"/>
              </a:ext>
            </a:extLst>
          </p:cNvPr>
          <p:cNvSpPr>
            <a:spLocks noGrp="1"/>
          </p:cNvSpPr>
          <p:nvPr>
            <p:ph type="title"/>
          </p:nvPr>
        </p:nvSpPr>
        <p:spPr>
          <a:xfrm>
            <a:off x="3040939" y="356745"/>
            <a:ext cx="8074325" cy="575154"/>
          </a:xfrm>
        </p:spPr>
        <p:txBody>
          <a:bodyPr>
            <a:normAutofit fontScale="90000"/>
          </a:bodyPr>
          <a:lstStyle/>
          <a:p>
            <a:pPr algn="ctr"/>
            <a:r>
              <a:rPr lang="en-US" b="1" dirty="0"/>
              <a:t>LDO - Schematic</a:t>
            </a:r>
          </a:p>
        </p:txBody>
      </p:sp>
      <p:pic>
        <p:nvPicPr>
          <p:cNvPr id="6" name="Picture 5">
            <a:extLst>
              <a:ext uri="{FF2B5EF4-FFF2-40B4-BE49-F238E27FC236}">
                <a16:creationId xmlns:a16="http://schemas.microsoft.com/office/drawing/2014/main" id="{BF2CBB1A-E6D1-5FA4-F726-3DD41E7EE2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FBB02533-C752-D465-A264-6F6224DFA94A}"/>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E42E972F-1D28-3833-A169-842CD97DB2D1}"/>
              </a:ext>
            </a:extLst>
          </p:cNvPr>
          <p:cNvSpPr>
            <a:spLocks noGrp="1"/>
          </p:cNvSpPr>
          <p:nvPr>
            <p:ph type="sldNum" sz="quarter" idx="12"/>
          </p:nvPr>
        </p:nvSpPr>
        <p:spPr/>
        <p:txBody>
          <a:bodyPr/>
          <a:lstStyle/>
          <a:p>
            <a:fld id="{397A11E8-8F25-49C3-8F7D-865FECFDFD18}" type="slidenum">
              <a:rPr lang="en-US" smtClean="0"/>
              <a:t>30</a:t>
            </a:fld>
            <a:endParaRPr lang="en-US"/>
          </a:p>
        </p:txBody>
      </p:sp>
      <p:pic>
        <p:nvPicPr>
          <p:cNvPr id="7" name="Picture 6">
            <a:extLst>
              <a:ext uri="{FF2B5EF4-FFF2-40B4-BE49-F238E27FC236}">
                <a16:creationId xmlns:a16="http://schemas.microsoft.com/office/drawing/2014/main" id="{D3DCE919-EE7B-57E1-D10A-C09A8EBA4EB6}"/>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2" name="Picture 4" descr="A computer screen shot of a circuit&#10;&#10;AI-generated content may be incorrect.">
            <a:extLst>
              <a:ext uri="{FF2B5EF4-FFF2-40B4-BE49-F238E27FC236}">
                <a16:creationId xmlns:a16="http://schemas.microsoft.com/office/drawing/2014/main" id="{3EBEAA15-8BAD-6E7F-7532-6C56D09A2D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121" y="1211062"/>
            <a:ext cx="10233264" cy="4764608"/>
          </a:xfrm>
          <a:prstGeom prst="rect">
            <a:avLst/>
          </a:prstGeom>
        </p:spPr>
      </p:pic>
    </p:spTree>
    <p:extLst>
      <p:ext uri="{BB962C8B-B14F-4D97-AF65-F5344CB8AC3E}">
        <p14:creationId xmlns:p14="http://schemas.microsoft.com/office/powerpoint/2010/main" val="2687683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66E9B-5D7A-B611-658C-6E0B1807D7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8999D32-6D21-74C2-7DAC-428084D3A8E5}"/>
              </a:ext>
            </a:extLst>
          </p:cNvPr>
          <p:cNvSpPr>
            <a:spLocks noGrp="1"/>
          </p:cNvSpPr>
          <p:nvPr>
            <p:ph type="title"/>
          </p:nvPr>
        </p:nvSpPr>
        <p:spPr>
          <a:xfrm>
            <a:off x="3040939" y="356745"/>
            <a:ext cx="8074325" cy="575154"/>
          </a:xfrm>
        </p:spPr>
        <p:txBody>
          <a:bodyPr>
            <a:normAutofit fontScale="90000"/>
          </a:bodyPr>
          <a:lstStyle/>
          <a:p>
            <a:pPr algn="ctr"/>
            <a:r>
              <a:rPr lang="en-US" b="1" dirty="0"/>
              <a:t>LDO – Temperature Stability</a:t>
            </a:r>
          </a:p>
        </p:txBody>
      </p:sp>
      <p:pic>
        <p:nvPicPr>
          <p:cNvPr id="6" name="Picture 5">
            <a:extLst>
              <a:ext uri="{FF2B5EF4-FFF2-40B4-BE49-F238E27FC236}">
                <a16:creationId xmlns:a16="http://schemas.microsoft.com/office/drawing/2014/main" id="{038EBFE2-58C6-FEC6-BE07-62CF4D9CC9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443ED7C1-A615-E95C-62AB-DE3F2D118981}"/>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002F7744-C51C-8253-28C3-3BCB244FECC7}"/>
              </a:ext>
            </a:extLst>
          </p:cNvPr>
          <p:cNvSpPr>
            <a:spLocks noGrp="1"/>
          </p:cNvSpPr>
          <p:nvPr>
            <p:ph type="sldNum" sz="quarter" idx="12"/>
          </p:nvPr>
        </p:nvSpPr>
        <p:spPr/>
        <p:txBody>
          <a:bodyPr/>
          <a:lstStyle/>
          <a:p>
            <a:fld id="{397A11E8-8F25-49C3-8F7D-865FECFDFD18}" type="slidenum">
              <a:rPr lang="en-US" smtClean="0"/>
              <a:t>31</a:t>
            </a:fld>
            <a:endParaRPr lang="en-US"/>
          </a:p>
        </p:txBody>
      </p:sp>
      <p:pic>
        <p:nvPicPr>
          <p:cNvPr id="7" name="Picture 6">
            <a:extLst>
              <a:ext uri="{FF2B5EF4-FFF2-40B4-BE49-F238E27FC236}">
                <a16:creationId xmlns:a16="http://schemas.microsoft.com/office/drawing/2014/main" id="{F825ACB8-D3D7-14ED-6656-2F006432A049}"/>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3" name="תמונה 2">
            <a:extLst>
              <a:ext uri="{FF2B5EF4-FFF2-40B4-BE49-F238E27FC236}">
                <a16:creationId xmlns:a16="http://schemas.microsoft.com/office/drawing/2014/main" id="{B5E2257E-3535-7A25-746C-141B7887C133}"/>
              </a:ext>
            </a:extLst>
          </p:cNvPr>
          <p:cNvPicPr>
            <a:picLocks noChangeAspect="1"/>
          </p:cNvPicPr>
          <p:nvPr/>
        </p:nvPicPr>
        <p:blipFill>
          <a:blip r:embed="rId5"/>
          <a:stretch>
            <a:fillRect/>
          </a:stretch>
        </p:blipFill>
        <p:spPr>
          <a:xfrm>
            <a:off x="1055699" y="1014681"/>
            <a:ext cx="10486268" cy="5258886"/>
          </a:xfrm>
          <a:prstGeom prst="rect">
            <a:avLst/>
          </a:prstGeom>
        </p:spPr>
      </p:pic>
      <mc:AlternateContent xmlns:mc="http://schemas.openxmlformats.org/markup-compatibility/2006" xmlns:a14="http://schemas.microsoft.com/office/drawing/2010/main">
        <mc:Choice Requires="a14">
          <p:sp>
            <p:nvSpPr>
              <p:cNvPr id="10" name="תיבת טקסט 9">
                <a:extLst>
                  <a:ext uri="{FF2B5EF4-FFF2-40B4-BE49-F238E27FC236}">
                    <a16:creationId xmlns:a16="http://schemas.microsoft.com/office/drawing/2014/main" id="{B5475020-F647-92B1-A1E7-947D23CA7DA3}"/>
                  </a:ext>
                </a:extLst>
              </p:cNvPr>
              <p:cNvSpPr txBox="1"/>
              <p:nvPr/>
            </p:nvSpPr>
            <p:spPr>
              <a:xfrm>
                <a:off x="4385387" y="6273567"/>
                <a:ext cx="5075854" cy="369332"/>
              </a:xfrm>
              <a:prstGeom prst="rect">
                <a:avLst/>
              </a:prstGeom>
              <a:noFill/>
            </p:spPr>
            <p:txBody>
              <a:bodyPr wrap="square" rtlCol="0">
                <a:spAutoFit/>
              </a:bodyPr>
              <a:lstStyle/>
              <a:p>
                <a:r>
                  <a:rPr lang="en-US" b="1" dirty="0">
                    <a:solidFill>
                      <a:srgbClr val="FF0000"/>
                    </a:solidFill>
                  </a:rPr>
                  <a:t>Temp Sweep : </a:t>
                </a:r>
                <a14:m>
                  <m:oMath xmlns:m="http://schemas.openxmlformats.org/officeDocument/2006/math">
                    <m:r>
                      <a:rPr lang="en-US" b="1" i="1" dirty="0" smtClean="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𝟒𝟎</m:t>
                    </m:r>
                    <m:r>
                      <a:rPr lang="en-US" b="1" i="1" dirty="0" smtClean="0">
                        <a:solidFill>
                          <a:srgbClr val="FF0000"/>
                        </a:solidFill>
                        <a:latin typeface="Cambria Math" panose="02040503050406030204" pitchFamily="18" charset="0"/>
                      </a:rPr>
                      <m:t> − </m:t>
                    </m:r>
                    <m:r>
                      <a:rPr lang="en-US" b="1" i="1" dirty="0" smtClean="0">
                        <a:solidFill>
                          <a:srgbClr val="FF0000"/>
                        </a:solidFill>
                        <a:latin typeface="Cambria Math" panose="02040503050406030204" pitchFamily="18" charset="0"/>
                      </a:rPr>
                      <m:t>𝟏𝟐𝟓</m:t>
                    </m:r>
                    <m:r>
                      <a:rPr lang="en-US" b="1" i="1" dirty="0" smtClean="0">
                        <a:solidFill>
                          <a:srgbClr val="FF0000"/>
                        </a:solidFill>
                        <a:latin typeface="Cambria Math" panose="02040503050406030204" pitchFamily="18" charset="0"/>
                      </a:rPr>
                      <m:t> </m:t>
                    </m:r>
                    <m:d>
                      <m:dPr>
                        <m:begChr m:val="["/>
                        <m:endChr m:val="]"/>
                        <m:ctrlPr>
                          <a:rPr lang="en-US" b="1" i="1" dirty="0" smtClean="0">
                            <a:solidFill>
                              <a:srgbClr val="FF0000"/>
                            </a:solidFill>
                            <a:latin typeface="Cambria Math" panose="02040503050406030204" pitchFamily="18" charset="0"/>
                          </a:rPr>
                        </m:ctrlPr>
                      </m:dPr>
                      <m:e>
                        <m:r>
                          <a:rPr lang="en-US" b="1" i="1" dirty="0" smtClean="0">
                            <a:solidFill>
                              <a:srgbClr val="FF0000"/>
                            </a:solidFill>
                            <a:latin typeface="Cambria Math" panose="02040503050406030204" pitchFamily="18" charset="0"/>
                          </a:rPr>
                          <m:t>𝑪</m:t>
                        </m:r>
                      </m:e>
                    </m:d>
                    <m:r>
                      <a:rPr lang="en-US" b="1" i="1" dirty="0" smtClean="0">
                        <a:solidFill>
                          <a:srgbClr val="FF0000"/>
                        </a:solidFill>
                        <a:latin typeface="Cambria Math" panose="02040503050406030204" pitchFamily="18" charset="0"/>
                      </a:rPr>
                      <m:t>,</m:t>
                    </m:r>
                    <m:sSub>
                      <m:sSubPr>
                        <m:ctrlPr>
                          <a:rPr lang="en-US" b="1" i="1" dirty="0">
                            <a:solidFill>
                              <a:srgbClr val="FF0000"/>
                            </a:solidFill>
                            <a:latin typeface="Cambria Math" panose="02040503050406030204" pitchFamily="18" charset="0"/>
                          </a:rPr>
                        </m:ctrlPr>
                      </m:sSubPr>
                      <m:e>
                        <m:r>
                          <a:rPr lang="en-US" b="1" i="1" dirty="0">
                            <a:solidFill>
                              <a:srgbClr val="FF0000"/>
                            </a:solidFill>
                            <a:latin typeface="Cambria Math" panose="02040503050406030204" pitchFamily="18" charset="0"/>
                          </a:rPr>
                          <m:t>𝑰</m:t>
                        </m:r>
                      </m:e>
                      <m:sub>
                        <m:r>
                          <a:rPr lang="en-US" b="1" i="1" dirty="0">
                            <a:solidFill>
                              <a:srgbClr val="FF0000"/>
                            </a:solidFill>
                            <a:latin typeface="Cambria Math" panose="02040503050406030204" pitchFamily="18" charset="0"/>
                          </a:rPr>
                          <m:t>𝒍𝒐𝒂𝒅</m:t>
                        </m:r>
                      </m:sub>
                    </m:sSub>
                    <m:r>
                      <a:rPr lang="en-US" b="1" i="1" dirty="0">
                        <a:solidFill>
                          <a:srgbClr val="FF0000"/>
                        </a:solidFill>
                        <a:latin typeface="Cambria Math" panose="02040503050406030204" pitchFamily="18" charset="0"/>
                      </a:rPr>
                      <m:t> = </m:t>
                    </m:r>
                    <m:r>
                      <a:rPr lang="en-US" b="1" i="1" dirty="0">
                        <a:solidFill>
                          <a:srgbClr val="FF0000"/>
                        </a:solidFill>
                        <a:latin typeface="Cambria Math" panose="02040503050406030204" pitchFamily="18" charset="0"/>
                      </a:rPr>
                      <m:t>𝟓𝟓</m:t>
                    </m:r>
                    <m:r>
                      <a:rPr lang="en-US" b="1" i="1" dirty="0">
                        <a:solidFill>
                          <a:srgbClr val="FF0000"/>
                        </a:solidFill>
                        <a:latin typeface="Cambria Math" panose="02040503050406030204" pitchFamily="18" charset="0"/>
                      </a:rPr>
                      <m:t>[</m:t>
                    </m:r>
                    <m:r>
                      <a:rPr lang="en-US" b="1" i="1" dirty="0">
                        <a:solidFill>
                          <a:srgbClr val="FF0000"/>
                        </a:solidFill>
                        <a:latin typeface="Cambria Math" panose="02040503050406030204" pitchFamily="18" charset="0"/>
                      </a:rPr>
                      <m:t>𝒎𝑨</m:t>
                    </m:r>
                    <m:r>
                      <a:rPr lang="en-US" b="1" i="1" dirty="0">
                        <a:solidFill>
                          <a:srgbClr val="FF0000"/>
                        </a:solidFill>
                        <a:latin typeface="Cambria Math" panose="02040503050406030204" pitchFamily="18" charset="0"/>
                      </a:rPr>
                      <m:t>]</m:t>
                    </m:r>
                  </m:oMath>
                </a14:m>
                <a:endParaRPr lang="en-IL" b="1" dirty="0">
                  <a:solidFill>
                    <a:srgbClr val="FF0000"/>
                  </a:solidFill>
                </a:endParaRPr>
              </a:p>
            </p:txBody>
          </p:sp>
        </mc:Choice>
        <mc:Fallback xmlns="">
          <p:sp>
            <p:nvSpPr>
              <p:cNvPr id="10" name="תיבת טקסט 9">
                <a:extLst>
                  <a:ext uri="{FF2B5EF4-FFF2-40B4-BE49-F238E27FC236}">
                    <a16:creationId xmlns:a16="http://schemas.microsoft.com/office/drawing/2014/main" id="{B5475020-F647-92B1-A1E7-947D23CA7DA3}"/>
                  </a:ext>
                </a:extLst>
              </p:cNvPr>
              <p:cNvSpPr txBox="1">
                <a:spLocks noRot="1" noChangeAspect="1" noMove="1" noResize="1" noEditPoints="1" noAdjustHandles="1" noChangeArrowheads="1" noChangeShapeType="1" noTextEdit="1"/>
              </p:cNvSpPr>
              <p:nvPr/>
            </p:nvSpPr>
            <p:spPr>
              <a:xfrm>
                <a:off x="4385387" y="6273567"/>
                <a:ext cx="5075854" cy="369332"/>
              </a:xfrm>
              <a:prstGeom prst="rect">
                <a:avLst/>
              </a:prstGeom>
              <a:blipFill>
                <a:blip r:embed="rId6"/>
                <a:stretch>
                  <a:fillRect l="-960" t="-8197" b="-24590"/>
                </a:stretch>
              </a:blipFill>
            </p:spPr>
            <p:txBody>
              <a:bodyPr/>
              <a:lstStyle/>
              <a:p>
                <a:r>
                  <a:rPr lang="en-US">
                    <a:noFill/>
                  </a:rPr>
                  <a:t> </a:t>
                </a:r>
              </a:p>
            </p:txBody>
          </p:sp>
        </mc:Fallback>
      </mc:AlternateContent>
      <p:pic>
        <p:nvPicPr>
          <p:cNvPr id="14" name="Picture 12">
            <a:extLst>
              <a:ext uri="{FF2B5EF4-FFF2-40B4-BE49-F238E27FC236}">
                <a16:creationId xmlns:a16="http://schemas.microsoft.com/office/drawing/2014/main" id="{D0AEA330-786D-6C76-C938-F9221FDF8D94}"/>
              </a:ext>
            </a:extLst>
          </p:cNvPr>
          <p:cNvPicPr>
            <a:picLocks noChangeAspect="1"/>
          </p:cNvPicPr>
          <p:nvPr/>
        </p:nvPicPr>
        <p:blipFill>
          <a:blip r:embed="rId7"/>
          <a:stretch>
            <a:fillRect/>
          </a:stretch>
        </p:blipFill>
        <p:spPr>
          <a:xfrm>
            <a:off x="273698" y="3429000"/>
            <a:ext cx="11644604" cy="651205"/>
          </a:xfrm>
          <a:prstGeom prst="rect">
            <a:avLst/>
          </a:prstGeom>
        </p:spPr>
      </p:pic>
    </p:spTree>
    <p:extLst>
      <p:ext uri="{BB962C8B-B14F-4D97-AF65-F5344CB8AC3E}">
        <p14:creationId xmlns:p14="http://schemas.microsoft.com/office/powerpoint/2010/main" val="317314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D0D79-100A-D9CB-B1A4-44705A51BD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11194DA-F36A-1CC8-9050-3355D371D95E}"/>
              </a:ext>
            </a:extLst>
          </p:cNvPr>
          <p:cNvSpPr>
            <a:spLocks noGrp="1"/>
          </p:cNvSpPr>
          <p:nvPr>
            <p:ph type="title"/>
          </p:nvPr>
        </p:nvSpPr>
        <p:spPr>
          <a:xfrm>
            <a:off x="3040939" y="356745"/>
            <a:ext cx="8074325" cy="575154"/>
          </a:xfrm>
        </p:spPr>
        <p:txBody>
          <a:bodyPr>
            <a:normAutofit fontScale="90000"/>
          </a:bodyPr>
          <a:lstStyle/>
          <a:p>
            <a:pPr algn="ctr"/>
            <a:r>
              <a:rPr lang="en-US" b="1" dirty="0"/>
              <a:t>LDO – Line Regulation</a:t>
            </a:r>
          </a:p>
        </p:txBody>
      </p:sp>
      <p:pic>
        <p:nvPicPr>
          <p:cNvPr id="6" name="Picture 5">
            <a:extLst>
              <a:ext uri="{FF2B5EF4-FFF2-40B4-BE49-F238E27FC236}">
                <a16:creationId xmlns:a16="http://schemas.microsoft.com/office/drawing/2014/main" id="{30D7D2EA-4874-314D-0B6C-D521CA5019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13D7B93C-5726-BF5F-42B0-CFE82405F83F}"/>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C6FE87F5-C8E4-1F6A-5C09-5244FA464DEE}"/>
              </a:ext>
            </a:extLst>
          </p:cNvPr>
          <p:cNvSpPr>
            <a:spLocks noGrp="1"/>
          </p:cNvSpPr>
          <p:nvPr>
            <p:ph type="sldNum" sz="quarter" idx="12"/>
          </p:nvPr>
        </p:nvSpPr>
        <p:spPr/>
        <p:txBody>
          <a:bodyPr/>
          <a:lstStyle/>
          <a:p>
            <a:fld id="{397A11E8-8F25-49C3-8F7D-865FECFDFD18}" type="slidenum">
              <a:rPr lang="en-US" smtClean="0"/>
              <a:t>32</a:t>
            </a:fld>
            <a:endParaRPr lang="en-US" dirty="0"/>
          </a:p>
        </p:txBody>
      </p:sp>
      <p:pic>
        <p:nvPicPr>
          <p:cNvPr id="7" name="Picture 6">
            <a:extLst>
              <a:ext uri="{FF2B5EF4-FFF2-40B4-BE49-F238E27FC236}">
                <a16:creationId xmlns:a16="http://schemas.microsoft.com/office/drawing/2014/main" id="{6BE57751-E3B3-5522-0B78-6DDF3FEBAE62}"/>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5" name="תמונה 4">
            <a:extLst>
              <a:ext uri="{FF2B5EF4-FFF2-40B4-BE49-F238E27FC236}">
                <a16:creationId xmlns:a16="http://schemas.microsoft.com/office/drawing/2014/main" id="{F86FD9DF-6042-81B7-B93A-F779439E2FD7}"/>
              </a:ext>
            </a:extLst>
          </p:cNvPr>
          <p:cNvPicPr>
            <a:picLocks noChangeAspect="1"/>
          </p:cNvPicPr>
          <p:nvPr/>
        </p:nvPicPr>
        <p:blipFill>
          <a:blip r:embed="rId5"/>
          <a:stretch>
            <a:fillRect/>
          </a:stretch>
        </p:blipFill>
        <p:spPr>
          <a:xfrm>
            <a:off x="1230978" y="913879"/>
            <a:ext cx="10051574" cy="5570564"/>
          </a:xfrm>
          <a:prstGeom prst="rect">
            <a:avLst/>
          </a:prstGeom>
        </p:spPr>
      </p:pic>
      <mc:AlternateContent xmlns:mc="http://schemas.openxmlformats.org/markup-compatibility/2006" xmlns:a14="http://schemas.microsoft.com/office/drawing/2010/main">
        <mc:Choice Requires="a14">
          <p:sp>
            <p:nvSpPr>
              <p:cNvPr id="10" name="תיבת טקסט 9">
                <a:extLst>
                  <a:ext uri="{FF2B5EF4-FFF2-40B4-BE49-F238E27FC236}">
                    <a16:creationId xmlns:a16="http://schemas.microsoft.com/office/drawing/2014/main" id="{809791C2-E691-ACFA-B65B-2D43C6C1DDCB}"/>
                  </a:ext>
                </a:extLst>
              </p:cNvPr>
              <p:cNvSpPr txBox="1"/>
              <p:nvPr/>
            </p:nvSpPr>
            <p:spPr>
              <a:xfrm>
                <a:off x="4357396" y="6356350"/>
                <a:ext cx="4774777" cy="369332"/>
              </a:xfrm>
              <a:prstGeom prst="rect">
                <a:avLst/>
              </a:prstGeom>
              <a:noFill/>
            </p:spPr>
            <p:txBody>
              <a:bodyPr wrap="square" rtlCol="0">
                <a:spAutoFit/>
              </a:bodyPr>
              <a:lstStyle/>
              <a:p>
                <a:r>
                  <a:rPr lang="en-US" b="1" dirty="0">
                    <a:solidFill>
                      <a:srgbClr val="FF0000"/>
                    </a:solidFill>
                  </a:rPr>
                  <a:t>VDD Sweep : </a:t>
                </a:r>
                <a14:m>
                  <m:oMath xmlns:m="http://schemas.openxmlformats.org/officeDocument/2006/math">
                    <m:r>
                      <a:rPr lang="en-US" b="1" i="1" dirty="0" smtClean="0">
                        <a:solidFill>
                          <a:srgbClr val="FF0000"/>
                        </a:solidFill>
                        <a:latin typeface="Cambria Math" panose="02040503050406030204" pitchFamily="18" charset="0"/>
                      </a:rPr>
                      <m:t>𝟏</m:t>
                    </m:r>
                    <m:r>
                      <a:rPr lang="en-US" b="1" i="1" dirty="0" smtClean="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𝟒</m:t>
                    </m:r>
                    <m:r>
                      <a:rPr lang="en-US" b="1" i="1" dirty="0" smtClean="0">
                        <a:solidFill>
                          <a:srgbClr val="FF0000"/>
                        </a:solidFill>
                        <a:latin typeface="Cambria Math" panose="02040503050406030204" pitchFamily="18" charset="0"/>
                      </a:rPr>
                      <m:t>  – </m:t>
                    </m:r>
                    <m:r>
                      <a:rPr lang="en-US" b="1" i="1" dirty="0" smtClean="0">
                        <a:solidFill>
                          <a:srgbClr val="FF0000"/>
                        </a:solidFill>
                        <a:latin typeface="Cambria Math" panose="02040503050406030204" pitchFamily="18" charset="0"/>
                      </a:rPr>
                      <m:t>𝟐</m:t>
                    </m:r>
                    <m:r>
                      <a:rPr lang="en-US" b="1" i="1" dirty="0" smtClean="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𝟐</m:t>
                    </m:r>
                    <m:r>
                      <a:rPr lang="en-US" b="1" i="1" dirty="0" smtClean="0">
                        <a:solidFill>
                          <a:srgbClr val="FF0000"/>
                        </a:solidFill>
                        <a:latin typeface="Cambria Math" panose="02040503050406030204" pitchFamily="18" charset="0"/>
                      </a:rPr>
                      <m:t> [</m:t>
                    </m:r>
                    <m:r>
                      <a:rPr lang="en-US" b="1" i="1" dirty="0" smtClean="0">
                        <a:solidFill>
                          <a:srgbClr val="FF0000"/>
                        </a:solidFill>
                        <a:latin typeface="Cambria Math" panose="02040503050406030204" pitchFamily="18" charset="0"/>
                      </a:rPr>
                      <m:t>𝑽</m:t>
                    </m:r>
                    <m:r>
                      <a:rPr lang="en-US" b="1" i="1" dirty="0" smtClean="0">
                        <a:solidFill>
                          <a:srgbClr val="FF0000"/>
                        </a:solidFill>
                        <a:latin typeface="Cambria Math" panose="02040503050406030204" pitchFamily="18" charset="0"/>
                      </a:rPr>
                      <m:t>] </m:t>
                    </m:r>
                  </m:oMath>
                </a14:m>
                <a:r>
                  <a:rPr lang="en-US" b="1" dirty="0">
                    <a:solidFill>
                      <a:srgbClr val="FF0000"/>
                    </a:solidFill>
                  </a:rPr>
                  <a:t>, </a:t>
                </a:r>
                <a14:m>
                  <m:oMath xmlns:m="http://schemas.openxmlformats.org/officeDocument/2006/math">
                    <m:sSub>
                      <m:sSubPr>
                        <m:ctrlPr>
                          <a:rPr lang="en-US" b="1" i="1" dirty="0" smtClean="0">
                            <a:solidFill>
                              <a:srgbClr val="FF0000"/>
                            </a:solidFill>
                            <a:latin typeface="Cambria Math" panose="02040503050406030204" pitchFamily="18" charset="0"/>
                          </a:rPr>
                        </m:ctrlPr>
                      </m:sSubPr>
                      <m:e>
                        <m:r>
                          <a:rPr lang="en-US" b="1" i="1" dirty="0" smtClean="0">
                            <a:solidFill>
                              <a:srgbClr val="FF0000"/>
                            </a:solidFill>
                            <a:latin typeface="Cambria Math" panose="02040503050406030204" pitchFamily="18" charset="0"/>
                          </a:rPr>
                          <m:t>𝑰</m:t>
                        </m:r>
                      </m:e>
                      <m:sub>
                        <m:r>
                          <a:rPr lang="en-US" b="1" i="1" dirty="0" smtClean="0">
                            <a:solidFill>
                              <a:srgbClr val="FF0000"/>
                            </a:solidFill>
                            <a:latin typeface="Cambria Math" panose="02040503050406030204" pitchFamily="18" charset="0"/>
                          </a:rPr>
                          <m:t>𝒍𝒐𝒂𝒅</m:t>
                        </m:r>
                      </m:sub>
                    </m:sSub>
                    <m:r>
                      <a:rPr lang="en-US" b="1" i="1" dirty="0" smtClean="0">
                        <a:solidFill>
                          <a:srgbClr val="FF0000"/>
                        </a:solidFill>
                        <a:latin typeface="Cambria Math" panose="02040503050406030204" pitchFamily="18" charset="0"/>
                      </a:rPr>
                      <m:t> = </m:t>
                    </m:r>
                    <m:r>
                      <a:rPr lang="en-US" b="1" i="1" dirty="0" smtClean="0">
                        <a:solidFill>
                          <a:srgbClr val="FF0000"/>
                        </a:solidFill>
                        <a:latin typeface="Cambria Math" panose="02040503050406030204" pitchFamily="18" charset="0"/>
                      </a:rPr>
                      <m:t>𝟓𝟓</m:t>
                    </m:r>
                    <m:r>
                      <a:rPr lang="en-US" b="1" i="1" dirty="0" smtClean="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𝒎𝑨</m:t>
                    </m:r>
                    <m:r>
                      <a:rPr lang="en-US" b="1" i="1" dirty="0" smtClean="0">
                        <a:solidFill>
                          <a:srgbClr val="FF0000"/>
                        </a:solidFill>
                        <a:latin typeface="Cambria Math" panose="02040503050406030204" pitchFamily="18" charset="0"/>
                      </a:rPr>
                      <m:t>] </m:t>
                    </m:r>
                  </m:oMath>
                </a14:m>
                <a:endParaRPr lang="en-IL" b="1" dirty="0">
                  <a:solidFill>
                    <a:srgbClr val="FF0000"/>
                  </a:solidFill>
                </a:endParaRPr>
              </a:p>
            </p:txBody>
          </p:sp>
        </mc:Choice>
        <mc:Fallback xmlns="">
          <p:sp>
            <p:nvSpPr>
              <p:cNvPr id="10" name="תיבת טקסט 9">
                <a:extLst>
                  <a:ext uri="{FF2B5EF4-FFF2-40B4-BE49-F238E27FC236}">
                    <a16:creationId xmlns:a16="http://schemas.microsoft.com/office/drawing/2014/main" id="{809791C2-E691-ACFA-B65B-2D43C6C1DDCB}"/>
                  </a:ext>
                </a:extLst>
              </p:cNvPr>
              <p:cNvSpPr txBox="1">
                <a:spLocks noRot="1" noChangeAspect="1" noMove="1" noResize="1" noEditPoints="1" noAdjustHandles="1" noChangeArrowheads="1" noChangeShapeType="1" noTextEdit="1"/>
              </p:cNvSpPr>
              <p:nvPr/>
            </p:nvSpPr>
            <p:spPr>
              <a:xfrm>
                <a:off x="4357396" y="6356350"/>
                <a:ext cx="4774777" cy="369332"/>
              </a:xfrm>
              <a:prstGeom prst="rect">
                <a:avLst/>
              </a:prstGeom>
              <a:blipFill>
                <a:blip r:embed="rId6"/>
                <a:stretch>
                  <a:fillRect l="-1149" t="-10000" b="-26667"/>
                </a:stretch>
              </a:blipFill>
            </p:spPr>
            <p:txBody>
              <a:bodyPr/>
              <a:lstStyle/>
              <a:p>
                <a:r>
                  <a:rPr lang="en-US">
                    <a:noFill/>
                  </a:rPr>
                  <a:t> </a:t>
                </a:r>
              </a:p>
            </p:txBody>
          </p:sp>
        </mc:Fallback>
      </mc:AlternateContent>
      <p:grpSp>
        <p:nvGrpSpPr>
          <p:cNvPr id="12" name="קבוצה 11">
            <a:extLst>
              <a:ext uri="{FF2B5EF4-FFF2-40B4-BE49-F238E27FC236}">
                <a16:creationId xmlns:a16="http://schemas.microsoft.com/office/drawing/2014/main" id="{37396736-D6E4-7339-6CB8-B2906FBA590E}"/>
              </a:ext>
            </a:extLst>
          </p:cNvPr>
          <p:cNvGrpSpPr/>
          <p:nvPr/>
        </p:nvGrpSpPr>
        <p:grpSpPr>
          <a:xfrm>
            <a:off x="236375" y="3699161"/>
            <a:ext cx="11719249" cy="582276"/>
            <a:chOff x="0" y="5172963"/>
            <a:chExt cx="12192000" cy="582276"/>
          </a:xfrm>
        </p:grpSpPr>
        <p:pic>
          <p:nvPicPr>
            <p:cNvPr id="13" name="Picture 11">
              <a:extLst>
                <a:ext uri="{FF2B5EF4-FFF2-40B4-BE49-F238E27FC236}">
                  <a16:creationId xmlns:a16="http://schemas.microsoft.com/office/drawing/2014/main" id="{3C9AB286-1748-70F6-B9EC-50604E7049D6}"/>
                </a:ext>
              </a:extLst>
            </p:cNvPr>
            <p:cNvPicPr>
              <a:picLocks noChangeAspect="1"/>
            </p:cNvPicPr>
            <p:nvPr/>
          </p:nvPicPr>
          <p:blipFill>
            <a:blip r:embed="rId7"/>
            <a:srcRect t="70227"/>
            <a:stretch>
              <a:fillRect/>
            </a:stretch>
          </p:blipFill>
          <p:spPr>
            <a:xfrm>
              <a:off x="0" y="5494231"/>
              <a:ext cx="12192000" cy="261008"/>
            </a:xfrm>
            <a:prstGeom prst="rect">
              <a:avLst/>
            </a:prstGeom>
          </p:spPr>
        </p:pic>
        <p:pic>
          <p:nvPicPr>
            <p:cNvPr id="14" name="Picture 14">
              <a:extLst>
                <a:ext uri="{FF2B5EF4-FFF2-40B4-BE49-F238E27FC236}">
                  <a16:creationId xmlns:a16="http://schemas.microsoft.com/office/drawing/2014/main" id="{996E6E26-CCFA-4C1B-C1A9-51407B50FB91}"/>
                </a:ext>
              </a:extLst>
            </p:cNvPr>
            <p:cNvPicPr>
              <a:picLocks noChangeAspect="1"/>
            </p:cNvPicPr>
            <p:nvPr/>
          </p:nvPicPr>
          <p:blipFill>
            <a:blip r:embed="rId7"/>
            <a:srcRect b="58351"/>
            <a:stretch>
              <a:fillRect/>
            </a:stretch>
          </p:blipFill>
          <p:spPr>
            <a:xfrm>
              <a:off x="0" y="5172963"/>
              <a:ext cx="12192000" cy="365125"/>
            </a:xfrm>
            <a:prstGeom prst="rect">
              <a:avLst/>
            </a:prstGeom>
          </p:spPr>
        </p:pic>
      </p:grpSp>
    </p:spTree>
    <p:extLst>
      <p:ext uri="{BB962C8B-B14F-4D97-AF65-F5344CB8AC3E}">
        <p14:creationId xmlns:p14="http://schemas.microsoft.com/office/powerpoint/2010/main" val="3038814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911E-4538-A29C-34E8-5A393D7BAD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84A8FF-4723-F61B-E04D-7A05A998002D}"/>
              </a:ext>
            </a:extLst>
          </p:cNvPr>
          <p:cNvSpPr>
            <a:spLocks noGrp="1"/>
          </p:cNvSpPr>
          <p:nvPr>
            <p:ph type="title"/>
          </p:nvPr>
        </p:nvSpPr>
        <p:spPr>
          <a:xfrm>
            <a:off x="3040939" y="356745"/>
            <a:ext cx="8074325" cy="575154"/>
          </a:xfrm>
        </p:spPr>
        <p:txBody>
          <a:bodyPr>
            <a:normAutofit fontScale="90000"/>
          </a:bodyPr>
          <a:lstStyle/>
          <a:p>
            <a:pPr algn="ctr"/>
            <a:r>
              <a:rPr lang="en-US" b="1" dirty="0"/>
              <a:t>LDO – Load Regulation</a:t>
            </a:r>
          </a:p>
        </p:txBody>
      </p:sp>
      <p:pic>
        <p:nvPicPr>
          <p:cNvPr id="6" name="Picture 5">
            <a:extLst>
              <a:ext uri="{FF2B5EF4-FFF2-40B4-BE49-F238E27FC236}">
                <a16:creationId xmlns:a16="http://schemas.microsoft.com/office/drawing/2014/main" id="{4CA7541E-B217-E5F1-EB0D-2AFCBD7284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C5B1E8A0-842C-06AA-8855-7294FC108945}"/>
              </a:ext>
            </a:extLst>
          </p:cNvPr>
          <p:cNvSpPr>
            <a:spLocks noGrp="1"/>
          </p:cNvSpPr>
          <p:nvPr>
            <p:ph type="dt" sz="half" idx="10"/>
          </p:nvPr>
        </p:nvSpPr>
        <p:spPr/>
        <p:txBody>
          <a:bodyPr/>
          <a:lstStyle/>
          <a:p>
            <a:r>
              <a:rPr lang="en-US" dirty="0"/>
              <a:t>28/07/25</a:t>
            </a:r>
          </a:p>
        </p:txBody>
      </p:sp>
      <p:sp>
        <p:nvSpPr>
          <p:cNvPr id="9" name="Slide Number Placeholder 8">
            <a:extLst>
              <a:ext uri="{FF2B5EF4-FFF2-40B4-BE49-F238E27FC236}">
                <a16:creationId xmlns:a16="http://schemas.microsoft.com/office/drawing/2014/main" id="{2892409F-1CBF-ABEB-A082-CC174A130AD7}"/>
              </a:ext>
            </a:extLst>
          </p:cNvPr>
          <p:cNvSpPr>
            <a:spLocks noGrp="1"/>
          </p:cNvSpPr>
          <p:nvPr>
            <p:ph type="sldNum" sz="quarter" idx="12"/>
          </p:nvPr>
        </p:nvSpPr>
        <p:spPr/>
        <p:txBody>
          <a:bodyPr/>
          <a:lstStyle/>
          <a:p>
            <a:fld id="{397A11E8-8F25-49C3-8F7D-865FECFDFD18}" type="slidenum">
              <a:rPr lang="en-US" smtClean="0"/>
              <a:t>33</a:t>
            </a:fld>
            <a:endParaRPr lang="en-US"/>
          </a:p>
        </p:txBody>
      </p:sp>
      <p:pic>
        <p:nvPicPr>
          <p:cNvPr id="7" name="Picture 6">
            <a:extLst>
              <a:ext uri="{FF2B5EF4-FFF2-40B4-BE49-F238E27FC236}">
                <a16:creationId xmlns:a16="http://schemas.microsoft.com/office/drawing/2014/main" id="{E0A09AD0-247B-3614-10C9-991C1B7588CF}"/>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5" name="תמונה 4">
            <a:extLst>
              <a:ext uri="{FF2B5EF4-FFF2-40B4-BE49-F238E27FC236}">
                <a16:creationId xmlns:a16="http://schemas.microsoft.com/office/drawing/2014/main" id="{99D3B658-9511-479E-8F35-1979BCCC2BFD}"/>
              </a:ext>
            </a:extLst>
          </p:cNvPr>
          <p:cNvPicPr>
            <a:picLocks noChangeAspect="1"/>
          </p:cNvPicPr>
          <p:nvPr/>
        </p:nvPicPr>
        <p:blipFill>
          <a:blip r:embed="rId5"/>
          <a:stretch>
            <a:fillRect/>
          </a:stretch>
        </p:blipFill>
        <p:spPr>
          <a:xfrm>
            <a:off x="989045" y="931898"/>
            <a:ext cx="10126219" cy="4974379"/>
          </a:xfrm>
          <a:prstGeom prst="rect">
            <a:avLst/>
          </a:prstGeom>
        </p:spPr>
      </p:pic>
      <mc:AlternateContent xmlns:mc="http://schemas.openxmlformats.org/markup-compatibility/2006" xmlns:a14="http://schemas.microsoft.com/office/drawing/2010/main">
        <mc:Choice Requires="a14">
          <p:sp>
            <p:nvSpPr>
              <p:cNvPr id="10" name="תיבת טקסט 9">
                <a:extLst>
                  <a:ext uri="{FF2B5EF4-FFF2-40B4-BE49-F238E27FC236}">
                    <a16:creationId xmlns:a16="http://schemas.microsoft.com/office/drawing/2014/main" id="{D12400AF-6F53-61F4-785D-DEFB4CCFAE8E}"/>
                  </a:ext>
                </a:extLst>
              </p:cNvPr>
              <p:cNvSpPr txBox="1"/>
              <p:nvPr/>
            </p:nvSpPr>
            <p:spPr>
              <a:xfrm>
                <a:off x="3816220" y="5987018"/>
                <a:ext cx="50758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FF0000"/>
                              </a:solidFill>
                              <a:latin typeface="Cambria Math" panose="02040503050406030204" pitchFamily="18" charset="0"/>
                            </a:rPr>
                          </m:ctrlPr>
                        </m:sSubPr>
                        <m:e>
                          <m:r>
                            <a:rPr lang="en-US" b="1" i="1" dirty="0">
                              <a:solidFill>
                                <a:srgbClr val="FF0000"/>
                              </a:solidFill>
                              <a:latin typeface="Cambria Math" panose="02040503050406030204" pitchFamily="18" charset="0"/>
                            </a:rPr>
                            <m:t>𝑰</m:t>
                          </m:r>
                        </m:e>
                        <m:sub>
                          <m:r>
                            <a:rPr lang="en-US" b="1" i="1" dirty="0">
                              <a:solidFill>
                                <a:srgbClr val="FF0000"/>
                              </a:solidFill>
                              <a:latin typeface="Cambria Math" panose="02040503050406030204" pitchFamily="18" charset="0"/>
                            </a:rPr>
                            <m:t>𝒍𝒐𝒂𝒅</m:t>
                          </m:r>
                        </m:sub>
                      </m:sSub>
                      <m:r>
                        <a:rPr lang="en-US" b="1" i="1" dirty="0">
                          <a:solidFill>
                            <a:srgbClr val="FF0000"/>
                          </a:solidFill>
                          <a:latin typeface="Cambria Math" panose="02040503050406030204" pitchFamily="18" charset="0"/>
                        </a:rPr>
                        <m:t> </m:t>
                      </m:r>
                      <m:r>
                        <a:rPr lang="en-US" b="1" i="1" dirty="0" smtClean="0">
                          <a:solidFill>
                            <a:srgbClr val="FF0000"/>
                          </a:solidFill>
                          <a:latin typeface="Cambria Math" panose="02040503050406030204" pitchFamily="18" charset="0"/>
                        </a:rPr>
                        <m:t> </m:t>
                      </m:r>
                      <m:r>
                        <a:rPr lang="en-US" b="1" i="1" dirty="0" smtClean="0">
                          <a:solidFill>
                            <a:srgbClr val="FF0000"/>
                          </a:solidFill>
                          <a:latin typeface="Cambria Math" panose="02040503050406030204" pitchFamily="18" charset="0"/>
                        </a:rPr>
                        <m:t>𝑺𝒘𝒆𝒆𝒑</m:t>
                      </m:r>
                      <m:r>
                        <a:rPr lang="en-US" b="1" i="1" dirty="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𝟎</m:t>
                      </m:r>
                      <m:r>
                        <a:rPr lang="en-US" b="1" i="1" dirty="0" smtClean="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𝟔𝟎</m:t>
                      </m:r>
                      <m:r>
                        <a:rPr lang="en-US" b="1" i="1" dirty="0">
                          <a:solidFill>
                            <a:srgbClr val="FF0000"/>
                          </a:solidFill>
                          <a:latin typeface="Cambria Math" panose="02040503050406030204" pitchFamily="18" charset="0"/>
                        </a:rPr>
                        <m:t>[</m:t>
                      </m:r>
                      <m:r>
                        <a:rPr lang="en-US" b="1" i="1" dirty="0">
                          <a:solidFill>
                            <a:srgbClr val="FF0000"/>
                          </a:solidFill>
                          <a:latin typeface="Cambria Math" panose="02040503050406030204" pitchFamily="18" charset="0"/>
                        </a:rPr>
                        <m:t>𝒎𝑨</m:t>
                      </m:r>
                      <m:r>
                        <a:rPr lang="en-US" b="1" i="1" dirty="0">
                          <a:solidFill>
                            <a:srgbClr val="FF0000"/>
                          </a:solidFill>
                          <a:latin typeface="Cambria Math" panose="02040503050406030204" pitchFamily="18" charset="0"/>
                        </a:rPr>
                        <m:t>]</m:t>
                      </m:r>
                    </m:oMath>
                  </m:oMathPara>
                </a14:m>
                <a:endParaRPr lang="en-IL" b="1" dirty="0">
                  <a:solidFill>
                    <a:srgbClr val="FF0000"/>
                  </a:solidFill>
                </a:endParaRPr>
              </a:p>
            </p:txBody>
          </p:sp>
        </mc:Choice>
        <mc:Fallback xmlns="">
          <p:sp>
            <p:nvSpPr>
              <p:cNvPr id="10" name="תיבת טקסט 9">
                <a:extLst>
                  <a:ext uri="{FF2B5EF4-FFF2-40B4-BE49-F238E27FC236}">
                    <a16:creationId xmlns:a16="http://schemas.microsoft.com/office/drawing/2014/main" id="{D12400AF-6F53-61F4-785D-DEFB4CCFAE8E}"/>
                  </a:ext>
                </a:extLst>
              </p:cNvPr>
              <p:cNvSpPr txBox="1">
                <a:spLocks noRot="1" noChangeAspect="1" noMove="1" noResize="1" noEditPoints="1" noAdjustHandles="1" noChangeArrowheads="1" noChangeShapeType="1" noTextEdit="1"/>
              </p:cNvSpPr>
              <p:nvPr/>
            </p:nvSpPr>
            <p:spPr>
              <a:xfrm>
                <a:off x="3816220" y="5987018"/>
                <a:ext cx="5075854" cy="369332"/>
              </a:xfrm>
              <a:prstGeom prst="rect">
                <a:avLst/>
              </a:prstGeom>
              <a:blipFill>
                <a:blip r:embed="rId6"/>
                <a:stretch>
                  <a:fillRect b="-14754"/>
                </a:stretch>
              </a:blipFill>
            </p:spPr>
            <p:txBody>
              <a:bodyPr/>
              <a:lstStyle/>
              <a:p>
                <a:r>
                  <a:rPr lang="en-US">
                    <a:noFill/>
                  </a:rPr>
                  <a:t> </a:t>
                </a:r>
              </a:p>
            </p:txBody>
          </p:sp>
        </mc:Fallback>
      </mc:AlternateContent>
      <p:grpSp>
        <p:nvGrpSpPr>
          <p:cNvPr id="11" name="קבוצה 10">
            <a:extLst>
              <a:ext uri="{FF2B5EF4-FFF2-40B4-BE49-F238E27FC236}">
                <a16:creationId xmlns:a16="http://schemas.microsoft.com/office/drawing/2014/main" id="{EFF198F0-6DBE-85D1-9B79-6F287EC751C4}"/>
              </a:ext>
            </a:extLst>
          </p:cNvPr>
          <p:cNvGrpSpPr/>
          <p:nvPr/>
        </p:nvGrpSpPr>
        <p:grpSpPr>
          <a:xfrm>
            <a:off x="111841" y="4288975"/>
            <a:ext cx="11880625" cy="629109"/>
            <a:chOff x="0" y="5259358"/>
            <a:chExt cx="12192000" cy="629109"/>
          </a:xfrm>
        </p:grpSpPr>
        <p:pic>
          <p:nvPicPr>
            <p:cNvPr id="12" name="Picture 16">
              <a:extLst>
                <a:ext uri="{FF2B5EF4-FFF2-40B4-BE49-F238E27FC236}">
                  <a16:creationId xmlns:a16="http://schemas.microsoft.com/office/drawing/2014/main" id="{50F16AEF-1CA0-F773-A83F-63520CBA39B7}"/>
                </a:ext>
              </a:extLst>
            </p:cNvPr>
            <p:cNvPicPr>
              <a:picLocks noChangeAspect="1"/>
            </p:cNvPicPr>
            <p:nvPr/>
          </p:nvPicPr>
          <p:blipFill>
            <a:blip r:embed="rId7"/>
            <a:srcRect t="77498"/>
            <a:stretch>
              <a:fillRect/>
            </a:stretch>
          </p:blipFill>
          <p:spPr>
            <a:xfrm>
              <a:off x="0" y="5624483"/>
              <a:ext cx="12192000" cy="263984"/>
            </a:xfrm>
            <a:prstGeom prst="rect">
              <a:avLst/>
            </a:prstGeom>
          </p:spPr>
        </p:pic>
        <p:pic>
          <p:nvPicPr>
            <p:cNvPr id="13" name="Picture 18">
              <a:extLst>
                <a:ext uri="{FF2B5EF4-FFF2-40B4-BE49-F238E27FC236}">
                  <a16:creationId xmlns:a16="http://schemas.microsoft.com/office/drawing/2014/main" id="{7F9584D2-DA57-338A-F488-31E490A4F7B0}"/>
                </a:ext>
              </a:extLst>
            </p:cNvPr>
            <p:cNvPicPr>
              <a:picLocks noChangeAspect="1"/>
            </p:cNvPicPr>
            <p:nvPr/>
          </p:nvPicPr>
          <p:blipFill>
            <a:blip r:embed="rId7"/>
            <a:srcRect b="68877"/>
            <a:stretch>
              <a:fillRect/>
            </a:stretch>
          </p:blipFill>
          <p:spPr>
            <a:xfrm>
              <a:off x="0" y="5259358"/>
              <a:ext cx="12192000" cy="365125"/>
            </a:xfrm>
            <a:prstGeom prst="rect">
              <a:avLst/>
            </a:prstGeom>
          </p:spPr>
        </p:pic>
      </p:grpSp>
    </p:spTree>
    <p:extLst>
      <p:ext uri="{BB962C8B-B14F-4D97-AF65-F5344CB8AC3E}">
        <p14:creationId xmlns:p14="http://schemas.microsoft.com/office/powerpoint/2010/main" val="134648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E1376-4C2C-5BDC-2D14-EDB8ACD196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40664A-67F8-1477-F999-80A57C7C1E36}"/>
              </a:ext>
            </a:extLst>
          </p:cNvPr>
          <p:cNvSpPr>
            <a:spLocks noGrp="1"/>
          </p:cNvSpPr>
          <p:nvPr>
            <p:ph type="title"/>
          </p:nvPr>
        </p:nvSpPr>
        <p:spPr>
          <a:xfrm>
            <a:off x="2822461" y="239799"/>
            <a:ext cx="8060794" cy="575154"/>
          </a:xfrm>
        </p:spPr>
        <p:txBody>
          <a:bodyPr>
            <a:noAutofit/>
          </a:bodyPr>
          <a:lstStyle/>
          <a:p>
            <a:pPr algn="ctr"/>
            <a:r>
              <a:rPr lang="en-US" sz="3600" b="1" dirty="0"/>
              <a:t>LDO – Line Regulation across Corners</a:t>
            </a:r>
          </a:p>
        </p:txBody>
      </p:sp>
      <p:pic>
        <p:nvPicPr>
          <p:cNvPr id="3" name="Content Placeholder 2">
            <a:extLst>
              <a:ext uri="{FF2B5EF4-FFF2-40B4-BE49-F238E27FC236}">
                <a16:creationId xmlns:a16="http://schemas.microsoft.com/office/drawing/2014/main" id="{A124213B-4DED-6BD5-CA16-D946D87158F8}"/>
              </a:ext>
            </a:extLst>
          </p:cNvPr>
          <p:cNvPicPr>
            <a:picLocks noGrp="1" noChangeAspect="1"/>
          </p:cNvPicPr>
          <p:nvPr>
            <p:ph idx="1"/>
          </p:nvPr>
        </p:nvPicPr>
        <p:blipFill>
          <a:blip r:embed="rId3"/>
          <a:stretch>
            <a:fillRect/>
          </a:stretch>
        </p:blipFill>
        <p:spPr>
          <a:xfrm>
            <a:off x="10822384" y="16900"/>
            <a:ext cx="1086002" cy="952633"/>
          </a:xfrm>
        </p:spPr>
      </p:pic>
      <p:pic>
        <p:nvPicPr>
          <p:cNvPr id="6" name="Picture 5">
            <a:extLst>
              <a:ext uri="{FF2B5EF4-FFF2-40B4-BE49-F238E27FC236}">
                <a16:creationId xmlns:a16="http://schemas.microsoft.com/office/drawing/2014/main" id="{67388412-3E51-5217-BF04-8228ECF2FDE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7502" y="239799"/>
            <a:ext cx="2925420" cy="666735"/>
          </a:xfrm>
          <a:prstGeom prst="rect">
            <a:avLst/>
          </a:prstGeom>
        </p:spPr>
      </p:pic>
      <p:sp>
        <p:nvSpPr>
          <p:cNvPr id="9" name="Slide Number Placeholder 8">
            <a:extLst>
              <a:ext uri="{FF2B5EF4-FFF2-40B4-BE49-F238E27FC236}">
                <a16:creationId xmlns:a16="http://schemas.microsoft.com/office/drawing/2014/main" id="{ACEF6A73-3CB9-DCC1-A3CC-9A8EFE81E969}"/>
              </a:ext>
            </a:extLst>
          </p:cNvPr>
          <p:cNvSpPr>
            <a:spLocks noGrp="1"/>
          </p:cNvSpPr>
          <p:nvPr>
            <p:ph type="sldNum" sz="quarter" idx="12"/>
          </p:nvPr>
        </p:nvSpPr>
        <p:spPr/>
        <p:txBody>
          <a:bodyPr/>
          <a:lstStyle/>
          <a:p>
            <a:fld id="{397A11E8-8F25-49C3-8F7D-865FECFDFD18}" type="slidenum">
              <a:rPr lang="en-US" smtClean="0"/>
              <a:t>34</a:t>
            </a:fld>
            <a:endParaRPr lang="en-US"/>
          </a:p>
        </p:txBody>
      </p:sp>
      <p:pic>
        <p:nvPicPr>
          <p:cNvPr id="2" name="Picture 1">
            <a:extLst>
              <a:ext uri="{FF2B5EF4-FFF2-40B4-BE49-F238E27FC236}">
                <a16:creationId xmlns:a16="http://schemas.microsoft.com/office/drawing/2014/main" id="{8364C1C1-82E4-0997-09D1-A2FAF14FEE89}"/>
              </a:ext>
            </a:extLst>
          </p:cNvPr>
          <p:cNvPicPr>
            <a:picLocks noChangeAspect="1"/>
          </p:cNvPicPr>
          <p:nvPr/>
        </p:nvPicPr>
        <p:blipFill>
          <a:blip r:embed="rId5"/>
          <a:stretch>
            <a:fillRect/>
          </a:stretch>
        </p:blipFill>
        <p:spPr>
          <a:xfrm>
            <a:off x="10893991" y="77582"/>
            <a:ext cx="942788" cy="877475"/>
          </a:xfrm>
          <a:prstGeom prst="rect">
            <a:avLst/>
          </a:prstGeom>
        </p:spPr>
      </p:pic>
      <p:pic>
        <p:nvPicPr>
          <p:cNvPr id="7" name="Picture 6">
            <a:extLst>
              <a:ext uri="{FF2B5EF4-FFF2-40B4-BE49-F238E27FC236}">
                <a16:creationId xmlns:a16="http://schemas.microsoft.com/office/drawing/2014/main" id="{C8963ABE-01BF-5A55-1F02-653B77EC05E3}"/>
              </a:ext>
            </a:extLst>
          </p:cNvPr>
          <p:cNvPicPr>
            <a:picLocks noChangeAspect="1"/>
          </p:cNvPicPr>
          <p:nvPr/>
        </p:nvPicPr>
        <p:blipFill>
          <a:blip r:embed="rId6"/>
          <a:stretch>
            <a:fillRect/>
          </a:stretch>
        </p:blipFill>
        <p:spPr>
          <a:xfrm>
            <a:off x="841049" y="969533"/>
            <a:ext cx="10200830" cy="4116783"/>
          </a:xfrm>
          <a:prstGeom prst="rect">
            <a:avLst/>
          </a:prstGeom>
        </p:spPr>
      </p:pic>
      <p:grpSp>
        <p:nvGrpSpPr>
          <p:cNvPr id="5" name="קבוצה 4">
            <a:extLst>
              <a:ext uri="{FF2B5EF4-FFF2-40B4-BE49-F238E27FC236}">
                <a16:creationId xmlns:a16="http://schemas.microsoft.com/office/drawing/2014/main" id="{387262E2-4E53-3340-38E3-B8B64A90C6E3}"/>
              </a:ext>
            </a:extLst>
          </p:cNvPr>
          <p:cNvGrpSpPr/>
          <p:nvPr/>
        </p:nvGrpSpPr>
        <p:grpSpPr>
          <a:xfrm>
            <a:off x="0" y="5172963"/>
            <a:ext cx="12192000" cy="582276"/>
            <a:chOff x="0" y="5172963"/>
            <a:chExt cx="12192000" cy="582276"/>
          </a:xfrm>
        </p:grpSpPr>
        <p:pic>
          <p:nvPicPr>
            <p:cNvPr id="12" name="Picture 11">
              <a:extLst>
                <a:ext uri="{FF2B5EF4-FFF2-40B4-BE49-F238E27FC236}">
                  <a16:creationId xmlns:a16="http://schemas.microsoft.com/office/drawing/2014/main" id="{983880F4-637B-53F6-45A2-2314508C8532}"/>
                </a:ext>
              </a:extLst>
            </p:cNvPr>
            <p:cNvPicPr>
              <a:picLocks noChangeAspect="1"/>
            </p:cNvPicPr>
            <p:nvPr/>
          </p:nvPicPr>
          <p:blipFill>
            <a:blip r:embed="rId7"/>
            <a:srcRect t="70227"/>
            <a:stretch>
              <a:fillRect/>
            </a:stretch>
          </p:blipFill>
          <p:spPr>
            <a:xfrm>
              <a:off x="0" y="5494231"/>
              <a:ext cx="12192000" cy="261008"/>
            </a:xfrm>
            <a:prstGeom prst="rect">
              <a:avLst/>
            </a:prstGeom>
          </p:spPr>
        </p:pic>
        <p:pic>
          <p:nvPicPr>
            <p:cNvPr id="15" name="Picture 14">
              <a:extLst>
                <a:ext uri="{FF2B5EF4-FFF2-40B4-BE49-F238E27FC236}">
                  <a16:creationId xmlns:a16="http://schemas.microsoft.com/office/drawing/2014/main" id="{24F3A703-3DED-F84A-1C62-7C57B9DFFACA}"/>
                </a:ext>
              </a:extLst>
            </p:cNvPr>
            <p:cNvPicPr>
              <a:picLocks noChangeAspect="1"/>
            </p:cNvPicPr>
            <p:nvPr/>
          </p:nvPicPr>
          <p:blipFill>
            <a:blip r:embed="rId7"/>
            <a:srcRect b="58351"/>
            <a:stretch>
              <a:fillRect/>
            </a:stretch>
          </p:blipFill>
          <p:spPr>
            <a:xfrm>
              <a:off x="0" y="5172963"/>
              <a:ext cx="12192000" cy="365125"/>
            </a:xfrm>
            <a:prstGeom prst="rect">
              <a:avLst/>
            </a:prstGeom>
          </p:spPr>
        </p:pic>
      </p:grpSp>
      <p:sp>
        <p:nvSpPr>
          <p:cNvPr id="16" name="TextBox 15">
            <a:extLst>
              <a:ext uri="{FF2B5EF4-FFF2-40B4-BE49-F238E27FC236}">
                <a16:creationId xmlns:a16="http://schemas.microsoft.com/office/drawing/2014/main" id="{CE1A42C3-D8FD-8CBE-F60D-DC7240CE9015}"/>
              </a:ext>
            </a:extLst>
          </p:cNvPr>
          <p:cNvSpPr txBox="1"/>
          <p:nvPr/>
        </p:nvSpPr>
        <p:spPr>
          <a:xfrm>
            <a:off x="8486686" y="1978641"/>
            <a:ext cx="2555193" cy="2185214"/>
          </a:xfrm>
          <a:prstGeom prst="rect">
            <a:avLst/>
          </a:prstGeom>
          <a:noFill/>
        </p:spPr>
        <p:txBody>
          <a:bodyPr wrap="square" rtlCol="0">
            <a:spAutoFit/>
          </a:bodyPr>
          <a:lstStyle/>
          <a:p>
            <a:r>
              <a:rPr lang="en-US" sz="2000" b="1" dirty="0">
                <a:solidFill>
                  <a:srgbClr val="FF0000"/>
                </a:solidFill>
              </a:rPr>
              <a:t>TT @27</a:t>
            </a:r>
          </a:p>
          <a:p>
            <a:r>
              <a:rPr lang="en-US" sz="2000" b="1" dirty="0">
                <a:solidFill>
                  <a:srgbClr val="FFC000"/>
                </a:solidFill>
              </a:rPr>
              <a:t>FF @27, </a:t>
            </a:r>
            <a:r>
              <a:rPr lang="en-US" sz="2000" b="1" dirty="0">
                <a:solidFill>
                  <a:srgbClr val="B2B2B2"/>
                </a:solidFill>
              </a:rPr>
              <a:t>FF @125</a:t>
            </a:r>
          </a:p>
          <a:p>
            <a:r>
              <a:rPr lang="en-US" sz="2000" b="1" dirty="0">
                <a:highlight>
                  <a:srgbClr val="FFFF00"/>
                </a:highlight>
              </a:rPr>
              <a:t>SS @27,</a:t>
            </a:r>
            <a:r>
              <a:rPr lang="en-US" sz="2000" b="1" dirty="0">
                <a:solidFill>
                  <a:srgbClr val="FFFF00"/>
                </a:solidFill>
              </a:rPr>
              <a:t> </a:t>
            </a:r>
            <a:r>
              <a:rPr lang="en-US" sz="2000" b="1" dirty="0">
                <a:solidFill>
                  <a:srgbClr val="0070C0"/>
                </a:solidFill>
              </a:rPr>
              <a:t>SS @-40</a:t>
            </a:r>
          </a:p>
          <a:p>
            <a:r>
              <a:rPr lang="en-US" sz="2000" b="1" dirty="0">
                <a:solidFill>
                  <a:srgbClr val="FF00FF"/>
                </a:solidFill>
              </a:rPr>
              <a:t>FS @27</a:t>
            </a:r>
          </a:p>
          <a:p>
            <a:r>
              <a:rPr lang="en-US" sz="2000" b="1" dirty="0">
                <a:solidFill>
                  <a:srgbClr val="00B050"/>
                </a:solidFill>
              </a:rPr>
              <a:t>SF @27</a:t>
            </a:r>
          </a:p>
          <a:p>
            <a:endParaRPr lang="en-US" b="1" dirty="0">
              <a:solidFill>
                <a:srgbClr val="FF0000"/>
              </a:solidFill>
            </a:endParaRPr>
          </a:p>
          <a:p>
            <a:endParaRPr lang="en-US" b="1" dirty="0">
              <a:solidFill>
                <a:srgbClr val="FF0000"/>
              </a:solidFill>
            </a:endParaRPr>
          </a:p>
        </p:txBody>
      </p:sp>
      <p:sp>
        <p:nvSpPr>
          <p:cNvPr id="10" name="Date Placeholder 7">
            <a:extLst>
              <a:ext uri="{FF2B5EF4-FFF2-40B4-BE49-F238E27FC236}">
                <a16:creationId xmlns:a16="http://schemas.microsoft.com/office/drawing/2014/main" id="{FAA899AF-7154-905D-324F-2027FF290016}"/>
              </a:ext>
            </a:extLst>
          </p:cNvPr>
          <p:cNvSpPr>
            <a:spLocks noGrp="1"/>
          </p:cNvSpPr>
          <p:nvPr>
            <p:ph type="dt" sz="half" idx="10"/>
          </p:nvPr>
        </p:nvSpPr>
        <p:spPr>
          <a:xfrm>
            <a:off x="838200" y="6356350"/>
            <a:ext cx="2743200" cy="365125"/>
          </a:xfrm>
        </p:spPr>
        <p:txBody>
          <a:bodyPr/>
          <a:lstStyle/>
          <a:p>
            <a:r>
              <a:rPr lang="en-US" dirty="0"/>
              <a:t>28/07/25</a:t>
            </a:r>
          </a:p>
        </p:txBody>
      </p:sp>
    </p:spTree>
    <p:extLst>
      <p:ext uri="{BB962C8B-B14F-4D97-AF65-F5344CB8AC3E}">
        <p14:creationId xmlns:p14="http://schemas.microsoft.com/office/powerpoint/2010/main" val="40912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D4B09-61DA-8228-CA0A-4995CEA76B7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44372-D3D0-F3D1-1271-F30B7B067338}"/>
              </a:ext>
            </a:extLst>
          </p:cNvPr>
          <p:cNvSpPr>
            <a:spLocks noGrp="1"/>
          </p:cNvSpPr>
          <p:nvPr>
            <p:ph type="title"/>
          </p:nvPr>
        </p:nvSpPr>
        <p:spPr>
          <a:xfrm>
            <a:off x="2822461" y="239799"/>
            <a:ext cx="8060794" cy="575154"/>
          </a:xfrm>
        </p:spPr>
        <p:txBody>
          <a:bodyPr>
            <a:noAutofit/>
          </a:bodyPr>
          <a:lstStyle/>
          <a:p>
            <a:pPr algn="ctr"/>
            <a:r>
              <a:rPr lang="en-US" sz="3600" b="1" dirty="0"/>
              <a:t>LDO – Load Regulation across Corners</a:t>
            </a:r>
          </a:p>
        </p:txBody>
      </p:sp>
      <p:pic>
        <p:nvPicPr>
          <p:cNvPr id="6" name="Picture 5">
            <a:extLst>
              <a:ext uri="{FF2B5EF4-FFF2-40B4-BE49-F238E27FC236}">
                <a16:creationId xmlns:a16="http://schemas.microsoft.com/office/drawing/2014/main" id="{3EF31F5B-A125-15FA-76CA-D7B605BE69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502" y="239799"/>
            <a:ext cx="2925420" cy="666735"/>
          </a:xfrm>
          <a:prstGeom prst="rect">
            <a:avLst/>
          </a:prstGeom>
        </p:spPr>
      </p:pic>
      <p:sp>
        <p:nvSpPr>
          <p:cNvPr id="9" name="Slide Number Placeholder 8">
            <a:extLst>
              <a:ext uri="{FF2B5EF4-FFF2-40B4-BE49-F238E27FC236}">
                <a16:creationId xmlns:a16="http://schemas.microsoft.com/office/drawing/2014/main" id="{BDEBA78D-0BBF-432C-6D92-A35E5E6A3B79}"/>
              </a:ext>
            </a:extLst>
          </p:cNvPr>
          <p:cNvSpPr>
            <a:spLocks noGrp="1"/>
          </p:cNvSpPr>
          <p:nvPr>
            <p:ph type="sldNum" sz="quarter" idx="12"/>
          </p:nvPr>
        </p:nvSpPr>
        <p:spPr/>
        <p:txBody>
          <a:bodyPr/>
          <a:lstStyle/>
          <a:p>
            <a:fld id="{397A11E8-8F25-49C3-8F7D-865FECFDFD18}" type="slidenum">
              <a:rPr lang="en-US" smtClean="0"/>
              <a:t>35</a:t>
            </a:fld>
            <a:endParaRPr lang="en-US"/>
          </a:p>
        </p:txBody>
      </p:sp>
      <p:pic>
        <p:nvPicPr>
          <p:cNvPr id="2" name="Picture 1">
            <a:extLst>
              <a:ext uri="{FF2B5EF4-FFF2-40B4-BE49-F238E27FC236}">
                <a16:creationId xmlns:a16="http://schemas.microsoft.com/office/drawing/2014/main" id="{F5099DB6-0AD8-AD67-E3A1-3B83E474763D}"/>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10" name="Picture 9">
            <a:extLst>
              <a:ext uri="{FF2B5EF4-FFF2-40B4-BE49-F238E27FC236}">
                <a16:creationId xmlns:a16="http://schemas.microsoft.com/office/drawing/2014/main" id="{06022460-399F-AFAF-51EC-43DDF52D506F}"/>
              </a:ext>
            </a:extLst>
          </p:cNvPr>
          <p:cNvPicPr>
            <a:picLocks noChangeAspect="1"/>
          </p:cNvPicPr>
          <p:nvPr/>
        </p:nvPicPr>
        <p:blipFill>
          <a:blip r:embed="rId5"/>
          <a:stretch>
            <a:fillRect/>
          </a:stretch>
        </p:blipFill>
        <p:spPr>
          <a:xfrm>
            <a:off x="0" y="969533"/>
            <a:ext cx="9824815" cy="3979672"/>
          </a:xfrm>
          <a:prstGeom prst="rect">
            <a:avLst/>
          </a:prstGeom>
        </p:spPr>
      </p:pic>
      <p:sp>
        <p:nvSpPr>
          <p:cNvPr id="16" name="TextBox 15">
            <a:extLst>
              <a:ext uri="{FF2B5EF4-FFF2-40B4-BE49-F238E27FC236}">
                <a16:creationId xmlns:a16="http://schemas.microsoft.com/office/drawing/2014/main" id="{0CF7C8E1-63B3-ABD7-6FA5-3ADC06F824E4}"/>
              </a:ext>
            </a:extLst>
          </p:cNvPr>
          <p:cNvSpPr txBox="1"/>
          <p:nvPr/>
        </p:nvSpPr>
        <p:spPr>
          <a:xfrm>
            <a:off x="9982200" y="1866762"/>
            <a:ext cx="2555193" cy="2185214"/>
          </a:xfrm>
          <a:prstGeom prst="rect">
            <a:avLst/>
          </a:prstGeom>
          <a:noFill/>
        </p:spPr>
        <p:txBody>
          <a:bodyPr wrap="square" rtlCol="0">
            <a:spAutoFit/>
          </a:bodyPr>
          <a:lstStyle/>
          <a:p>
            <a:r>
              <a:rPr lang="en-US" sz="2000" b="1" dirty="0">
                <a:solidFill>
                  <a:srgbClr val="FF0000"/>
                </a:solidFill>
              </a:rPr>
              <a:t>TT @27</a:t>
            </a:r>
          </a:p>
          <a:p>
            <a:r>
              <a:rPr lang="en-US" sz="2000" b="1" dirty="0">
                <a:solidFill>
                  <a:srgbClr val="FFC000"/>
                </a:solidFill>
              </a:rPr>
              <a:t>FF @27, </a:t>
            </a:r>
            <a:r>
              <a:rPr lang="en-US" sz="2000" b="1" dirty="0">
                <a:solidFill>
                  <a:srgbClr val="B2B2B2"/>
                </a:solidFill>
              </a:rPr>
              <a:t>FF @</a:t>
            </a:r>
            <a:r>
              <a:rPr lang="he-IL" sz="2000" b="1" dirty="0">
                <a:solidFill>
                  <a:srgbClr val="B2B2B2"/>
                </a:solidFill>
              </a:rPr>
              <a:t>125</a:t>
            </a:r>
            <a:endParaRPr lang="en-US" sz="2000" b="1" dirty="0">
              <a:solidFill>
                <a:srgbClr val="B2B2B2"/>
              </a:solidFill>
            </a:endParaRPr>
          </a:p>
          <a:p>
            <a:r>
              <a:rPr lang="en-US" sz="2000" b="1" dirty="0">
                <a:highlight>
                  <a:srgbClr val="FFFF00"/>
                </a:highlight>
              </a:rPr>
              <a:t>SS @27,</a:t>
            </a:r>
            <a:r>
              <a:rPr lang="en-US" sz="2000" b="1" dirty="0">
                <a:solidFill>
                  <a:srgbClr val="FFFF00"/>
                </a:solidFill>
              </a:rPr>
              <a:t> </a:t>
            </a:r>
            <a:r>
              <a:rPr lang="en-US" sz="2000" b="1" dirty="0">
                <a:solidFill>
                  <a:srgbClr val="0070C0"/>
                </a:solidFill>
              </a:rPr>
              <a:t>SS @-40</a:t>
            </a:r>
          </a:p>
          <a:p>
            <a:r>
              <a:rPr lang="en-US" sz="2000" b="1" dirty="0">
                <a:solidFill>
                  <a:srgbClr val="FF00FF"/>
                </a:solidFill>
              </a:rPr>
              <a:t>FS @27</a:t>
            </a:r>
          </a:p>
          <a:p>
            <a:r>
              <a:rPr lang="en-US" sz="2000" b="1" dirty="0">
                <a:solidFill>
                  <a:srgbClr val="00B050"/>
                </a:solidFill>
              </a:rPr>
              <a:t>SF @27</a:t>
            </a:r>
          </a:p>
          <a:p>
            <a:endParaRPr lang="en-US" b="1" dirty="0">
              <a:solidFill>
                <a:srgbClr val="FF0000"/>
              </a:solidFill>
            </a:endParaRPr>
          </a:p>
          <a:p>
            <a:endParaRPr lang="en-US" b="1" dirty="0">
              <a:solidFill>
                <a:srgbClr val="FF0000"/>
              </a:solidFill>
            </a:endParaRPr>
          </a:p>
        </p:txBody>
      </p:sp>
      <p:grpSp>
        <p:nvGrpSpPr>
          <p:cNvPr id="3" name="קבוצה 2">
            <a:extLst>
              <a:ext uri="{FF2B5EF4-FFF2-40B4-BE49-F238E27FC236}">
                <a16:creationId xmlns:a16="http://schemas.microsoft.com/office/drawing/2014/main" id="{82F1D3C5-C7E9-3BBB-D35A-9EB1577A0838}"/>
              </a:ext>
            </a:extLst>
          </p:cNvPr>
          <p:cNvGrpSpPr/>
          <p:nvPr/>
        </p:nvGrpSpPr>
        <p:grpSpPr>
          <a:xfrm>
            <a:off x="0" y="5259358"/>
            <a:ext cx="12192000" cy="629109"/>
            <a:chOff x="0" y="5259358"/>
            <a:chExt cx="12192000" cy="629109"/>
          </a:xfrm>
        </p:grpSpPr>
        <p:pic>
          <p:nvPicPr>
            <p:cNvPr id="17" name="Picture 16">
              <a:extLst>
                <a:ext uri="{FF2B5EF4-FFF2-40B4-BE49-F238E27FC236}">
                  <a16:creationId xmlns:a16="http://schemas.microsoft.com/office/drawing/2014/main" id="{25863C9D-307D-1B54-EF50-B03B2271C496}"/>
                </a:ext>
              </a:extLst>
            </p:cNvPr>
            <p:cNvPicPr>
              <a:picLocks noChangeAspect="1"/>
            </p:cNvPicPr>
            <p:nvPr/>
          </p:nvPicPr>
          <p:blipFill>
            <a:blip r:embed="rId6"/>
            <a:srcRect t="77498"/>
            <a:stretch>
              <a:fillRect/>
            </a:stretch>
          </p:blipFill>
          <p:spPr>
            <a:xfrm>
              <a:off x="0" y="5624483"/>
              <a:ext cx="12192000" cy="263984"/>
            </a:xfrm>
            <a:prstGeom prst="rect">
              <a:avLst/>
            </a:prstGeom>
          </p:spPr>
        </p:pic>
        <p:pic>
          <p:nvPicPr>
            <p:cNvPr id="19" name="Picture 18">
              <a:extLst>
                <a:ext uri="{FF2B5EF4-FFF2-40B4-BE49-F238E27FC236}">
                  <a16:creationId xmlns:a16="http://schemas.microsoft.com/office/drawing/2014/main" id="{3E24B423-59AF-EFB8-EA53-8C8B1D1CEB97}"/>
                </a:ext>
              </a:extLst>
            </p:cNvPr>
            <p:cNvPicPr>
              <a:picLocks noChangeAspect="1"/>
            </p:cNvPicPr>
            <p:nvPr/>
          </p:nvPicPr>
          <p:blipFill>
            <a:blip r:embed="rId6"/>
            <a:srcRect b="68877"/>
            <a:stretch>
              <a:fillRect/>
            </a:stretch>
          </p:blipFill>
          <p:spPr>
            <a:xfrm>
              <a:off x="0" y="5259358"/>
              <a:ext cx="12192000" cy="365125"/>
            </a:xfrm>
            <a:prstGeom prst="rect">
              <a:avLst/>
            </a:prstGeom>
          </p:spPr>
        </p:pic>
      </p:grpSp>
      <p:sp>
        <p:nvSpPr>
          <p:cNvPr id="5" name="Date Placeholder 7">
            <a:extLst>
              <a:ext uri="{FF2B5EF4-FFF2-40B4-BE49-F238E27FC236}">
                <a16:creationId xmlns:a16="http://schemas.microsoft.com/office/drawing/2014/main" id="{6FB557A6-0FE4-67E8-9B1F-B1B03F94D610}"/>
              </a:ext>
            </a:extLst>
          </p:cNvPr>
          <p:cNvSpPr>
            <a:spLocks noGrp="1"/>
          </p:cNvSpPr>
          <p:nvPr>
            <p:ph type="dt" sz="half" idx="10"/>
          </p:nvPr>
        </p:nvSpPr>
        <p:spPr>
          <a:xfrm>
            <a:off x="838200" y="6356350"/>
            <a:ext cx="2743200" cy="365125"/>
          </a:xfrm>
        </p:spPr>
        <p:txBody>
          <a:bodyPr/>
          <a:lstStyle/>
          <a:p>
            <a:r>
              <a:rPr lang="en-US" dirty="0"/>
              <a:t>28/07/25</a:t>
            </a:r>
          </a:p>
        </p:txBody>
      </p:sp>
    </p:spTree>
    <p:extLst>
      <p:ext uri="{BB962C8B-B14F-4D97-AF65-F5344CB8AC3E}">
        <p14:creationId xmlns:p14="http://schemas.microsoft.com/office/powerpoint/2010/main" val="17702246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50217-3846-F08C-6749-3B346EC021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CDFC2E8-E5E2-7200-6399-EEF1A7C5DD2D}"/>
              </a:ext>
            </a:extLst>
          </p:cNvPr>
          <p:cNvSpPr>
            <a:spLocks noGrp="1"/>
          </p:cNvSpPr>
          <p:nvPr>
            <p:ph type="title"/>
          </p:nvPr>
        </p:nvSpPr>
        <p:spPr>
          <a:xfrm>
            <a:off x="2833197" y="214141"/>
            <a:ext cx="8060794" cy="575154"/>
          </a:xfrm>
        </p:spPr>
        <p:txBody>
          <a:bodyPr>
            <a:noAutofit/>
          </a:bodyPr>
          <a:lstStyle/>
          <a:p>
            <a:pPr algn="ctr"/>
            <a:r>
              <a:rPr lang="en-US" sz="3600" b="1" dirty="0"/>
              <a:t>LDO – Line Transient to 10ps Disturbance</a:t>
            </a:r>
          </a:p>
        </p:txBody>
      </p:sp>
      <p:pic>
        <p:nvPicPr>
          <p:cNvPr id="6" name="Picture 5">
            <a:extLst>
              <a:ext uri="{FF2B5EF4-FFF2-40B4-BE49-F238E27FC236}">
                <a16:creationId xmlns:a16="http://schemas.microsoft.com/office/drawing/2014/main" id="{3E0D39B7-D2F7-241F-EB21-8C0130F4CC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502" y="239799"/>
            <a:ext cx="2925420" cy="666735"/>
          </a:xfrm>
          <a:prstGeom prst="rect">
            <a:avLst/>
          </a:prstGeom>
        </p:spPr>
      </p:pic>
      <p:sp>
        <p:nvSpPr>
          <p:cNvPr id="9" name="Slide Number Placeholder 8">
            <a:extLst>
              <a:ext uri="{FF2B5EF4-FFF2-40B4-BE49-F238E27FC236}">
                <a16:creationId xmlns:a16="http://schemas.microsoft.com/office/drawing/2014/main" id="{D40796D0-3859-9CB9-C2FF-473F03CE5F1C}"/>
              </a:ext>
            </a:extLst>
          </p:cNvPr>
          <p:cNvSpPr>
            <a:spLocks noGrp="1"/>
          </p:cNvSpPr>
          <p:nvPr>
            <p:ph type="sldNum" sz="quarter" idx="12"/>
          </p:nvPr>
        </p:nvSpPr>
        <p:spPr/>
        <p:txBody>
          <a:bodyPr/>
          <a:lstStyle/>
          <a:p>
            <a:fld id="{397A11E8-8F25-49C3-8F7D-865FECFDFD18}" type="slidenum">
              <a:rPr lang="en-US" smtClean="0"/>
              <a:t>36</a:t>
            </a:fld>
            <a:endParaRPr lang="en-US"/>
          </a:p>
        </p:txBody>
      </p:sp>
      <p:pic>
        <p:nvPicPr>
          <p:cNvPr id="2" name="Picture 1">
            <a:extLst>
              <a:ext uri="{FF2B5EF4-FFF2-40B4-BE49-F238E27FC236}">
                <a16:creationId xmlns:a16="http://schemas.microsoft.com/office/drawing/2014/main" id="{57E49D0A-7532-A38A-F732-1C2C53C27852}"/>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5" name="Picture 4">
            <a:extLst>
              <a:ext uri="{FF2B5EF4-FFF2-40B4-BE49-F238E27FC236}">
                <a16:creationId xmlns:a16="http://schemas.microsoft.com/office/drawing/2014/main" id="{9249031F-B25A-FAD4-BE26-DEDDF442B4FF}"/>
              </a:ext>
            </a:extLst>
          </p:cNvPr>
          <p:cNvPicPr>
            <a:picLocks noChangeAspect="1"/>
          </p:cNvPicPr>
          <p:nvPr/>
        </p:nvPicPr>
        <p:blipFill>
          <a:blip r:embed="rId5"/>
          <a:srcRect t="5362"/>
          <a:stretch>
            <a:fillRect/>
          </a:stretch>
        </p:blipFill>
        <p:spPr>
          <a:xfrm>
            <a:off x="984903" y="1023236"/>
            <a:ext cx="10346108" cy="3972138"/>
          </a:xfrm>
          <a:prstGeom prst="rect">
            <a:avLst/>
          </a:prstGeom>
        </p:spPr>
      </p:pic>
      <p:pic>
        <p:nvPicPr>
          <p:cNvPr id="15" name="Picture 14">
            <a:extLst>
              <a:ext uri="{FF2B5EF4-FFF2-40B4-BE49-F238E27FC236}">
                <a16:creationId xmlns:a16="http://schemas.microsoft.com/office/drawing/2014/main" id="{8538B8C2-B72A-7145-CF7D-9EDBA4329D07}"/>
              </a:ext>
            </a:extLst>
          </p:cNvPr>
          <p:cNvPicPr>
            <a:picLocks noChangeAspect="1"/>
          </p:cNvPicPr>
          <p:nvPr/>
        </p:nvPicPr>
        <p:blipFill>
          <a:blip r:embed="rId6"/>
          <a:stretch>
            <a:fillRect/>
          </a:stretch>
        </p:blipFill>
        <p:spPr>
          <a:xfrm>
            <a:off x="3269666" y="5251113"/>
            <a:ext cx="5776581" cy="849497"/>
          </a:xfrm>
          <a:prstGeom prst="rect">
            <a:avLst/>
          </a:prstGeom>
        </p:spPr>
      </p:pic>
      <p:sp>
        <p:nvSpPr>
          <p:cNvPr id="3" name="Date Placeholder 7">
            <a:extLst>
              <a:ext uri="{FF2B5EF4-FFF2-40B4-BE49-F238E27FC236}">
                <a16:creationId xmlns:a16="http://schemas.microsoft.com/office/drawing/2014/main" id="{9535D604-1F2B-458D-8FF4-0C37092E3DB6}"/>
              </a:ext>
            </a:extLst>
          </p:cNvPr>
          <p:cNvSpPr>
            <a:spLocks noGrp="1"/>
          </p:cNvSpPr>
          <p:nvPr>
            <p:ph type="dt" sz="half" idx="10"/>
          </p:nvPr>
        </p:nvSpPr>
        <p:spPr>
          <a:xfrm>
            <a:off x="838200" y="6356350"/>
            <a:ext cx="2743200" cy="365125"/>
          </a:xfrm>
        </p:spPr>
        <p:txBody>
          <a:bodyPr/>
          <a:lstStyle/>
          <a:p>
            <a:r>
              <a:rPr lang="en-US" dirty="0"/>
              <a:t>28/07/25</a:t>
            </a:r>
          </a:p>
        </p:txBody>
      </p:sp>
    </p:spTree>
    <p:extLst>
      <p:ext uri="{BB962C8B-B14F-4D97-AF65-F5344CB8AC3E}">
        <p14:creationId xmlns:p14="http://schemas.microsoft.com/office/powerpoint/2010/main" val="384278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DC71C-51C9-BB55-02B0-75E2B388EE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88C38A7-61E4-C088-AA1D-DD9E1238F0FA}"/>
              </a:ext>
            </a:extLst>
          </p:cNvPr>
          <p:cNvSpPr>
            <a:spLocks noGrp="1"/>
          </p:cNvSpPr>
          <p:nvPr>
            <p:ph type="title"/>
          </p:nvPr>
        </p:nvSpPr>
        <p:spPr>
          <a:xfrm>
            <a:off x="2833197" y="214141"/>
            <a:ext cx="8060794" cy="575154"/>
          </a:xfrm>
        </p:spPr>
        <p:txBody>
          <a:bodyPr>
            <a:noAutofit/>
          </a:bodyPr>
          <a:lstStyle/>
          <a:p>
            <a:pPr algn="ctr"/>
            <a:r>
              <a:rPr lang="en-US" sz="3600" b="1" dirty="0"/>
              <a:t>LDO – Load Transient to 10ps Disturbance</a:t>
            </a:r>
          </a:p>
        </p:txBody>
      </p:sp>
      <p:pic>
        <p:nvPicPr>
          <p:cNvPr id="6" name="Picture 5">
            <a:extLst>
              <a:ext uri="{FF2B5EF4-FFF2-40B4-BE49-F238E27FC236}">
                <a16:creationId xmlns:a16="http://schemas.microsoft.com/office/drawing/2014/main" id="{4FC0E26D-0F99-60F1-B048-4B90387166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502" y="239799"/>
            <a:ext cx="2925420" cy="666735"/>
          </a:xfrm>
          <a:prstGeom prst="rect">
            <a:avLst/>
          </a:prstGeom>
        </p:spPr>
      </p:pic>
      <p:sp>
        <p:nvSpPr>
          <p:cNvPr id="9" name="Slide Number Placeholder 8">
            <a:extLst>
              <a:ext uri="{FF2B5EF4-FFF2-40B4-BE49-F238E27FC236}">
                <a16:creationId xmlns:a16="http://schemas.microsoft.com/office/drawing/2014/main" id="{5158D7CA-86D1-53B7-1C8E-132A822AFAC3}"/>
              </a:ext>
            </a:extLst>
          </p:cNvPr>
          <p:cNvSpPr>
            <a:spLocks noGrp="1"/>
          </p:cNvSpPr>
          <p:nvPr>
            <p:ph type="sldNum" sz="quarter" idx="12"/>
          </p:nvPr>
        </p:nvSpPr>
        <p:spPr/>
        <p:txBody>
          <a:bodyPr/>
          <a:lstStyle/>
          <a:p>
            <a:fld id="{397A11E8-8F25-49C3-8F7D-865FECFDFD18}" type="slidenum">
              <a:rPr lang="en-US" smtClean="0"/>
              <a:t>37</a:t>
            </a:fld>
            <a:endParaRPr lang="en-US"/>
          </a:p>
        </p:txBody>
      </p:sp>
      <p:pic>
        <p:nvPicPr>
          <p:cNvPr id="2" name="Picture 1">
            <a:extLst>
              <a:ext uri="{FF2B5EF4-FFF2-40B4-BE49-F238E27FC236}">
                <a16:creationId xmlns:a16="http://schemas.microsoft.com/office/drawing/2014/main" id="{37C00575-2FFA-3617-B0FF-97A9D14E0ED5}"/>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15" name="Picture 14">
            <a:extLst>
              <a:ext uri="{FF2B5EF4-FFF2-40B4-BE49-F238E27FC236}">
                <a16:creationId xmlns:a16="http://schemas.microsoft.com/office/drawing/2014/main" id="{566A90D3-6188-A9C7-AD58-74AC6E726C76}"/>
              </a:ext>
            </a:extLst>
          </p:cNvPr>
          <p:cNvPicPr>
            <a:picLocks noChangeAspect="1"/>
          </p:cNvPicPr>
          <p:nvPr/>
        </p:nvPicPr>
        <p:blipFill>
          <a:blip r:embed="rId5"/>
          <a:stretch>
            <a:fillRect/>
          </a:stretch>
        </p:blipFill>
        <p:spPr>
          <a:xfrm>
            <a:off x="3269666" y="5251113"/>
            <a:ext cx="5776581" cy="849497"/>
          </a:xfrm>
          <a:prstGeom prst="rect">
            <a:avLst/>
          </a:prstGeom>
        </p:spPr>
      </p:pic>
      <p:pic>
        <p:nvPicPr>
          <p:cNvPr id="7" name="Picture 6">
            <a:extLst>
              <a:ext uri="{FF2B5EF4-FFF2-40B4-BE49-F238E27FC236}">
                <a16:creationId xmlns:a16="http://schemas.microsoft.com/office/drawing/2014/main" id="{365DA3C9-157E-BC24-4D00-51A152826D16}"/>
              </a:ext>
            </a:extLst>
          </p:cNvPr>
          <p:cNvPicPr>
            <a:picLocks noChangeAspect="1"/>
          </p:cNvPicPr>
          <p:nvPr/>
        </p:nvPicPr>
        <p:blipFill>
          <a:blip r:embed="rId6"/>
          <a:stretch>
            <a:fillRect/>
          </a:stretch>
        </p:blipFill>
        <p:spPr>
          <a:xfrm>
            <a:off x="606751" y="906534"/>
            <a:ext cx="10465750" cy="4252399"/>
          </a:xfrm>
          <a:prstGeom prst="rect">
            <a:avLst/>
          </a:prstGeom>
        </p:spPr>
      </p:pic>
      <p:sp>
        <p:nvSpPr>
          <p:cNvPr id="3" name="Date Placeholder 7">
            <a:extLst>
              <a:ext uri="{FF2B5EF4-FFF2-40B4-BE49-F238E27FC236}">
                <a16:creationId xmlns:a16="http://schemas.microsoft.com/office/drawing/2014/main" id="{50FE04D7-F4C1-13E4-1FF9-79F1D5D8C7B7}"/>
              </a:ext>
            </a:extLst>
          </p:cNvPr>
          <p:cNvSpPr>
            <a:spLocks noGrp="1"/>
          </p:cNvSpPr>
          <p:nvPr>
            <p:ph type="dt" sz="half" idx="10"/>
          </p:nvPr>
        </p:nvSpPr>
        <p:spPr>
          <a:xfrm>
            <a:off x="838200" y="6356350"/>
            <a:ext cx="2743200" cy="365125"/>
          </a:xfrm>
        </p:spPr>
        <p:txBody>
          <a:bodyPr/>
          <a:lstStyle/>
          <a:p>
            <a:r>
              <a:rPr lang="en-US" dirty="0"/>
              <a:t>28/07/25</a:t>
            </a:r>
          </a:p>
        </p:txBody>
      </p:sp>
    </p:spTree>
    <p:extLst>
      <p:ext uri="{BB962C8B-B14F-4D97-AF65-F5344CB8AC3E}">
        <p14:creationId xmlns:p14="http://schemas.microsoft.com/office/powerpoint/2010/main" val="13629357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AE427-781C-C8BD-DC1A-E39DD6B4A9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0EC120-DABF-58DB-5C73-1572BA0ACA2C}"/>
              </a:ext>
            </a:extLst>
          </p:cNvPr>
          <p:cNvSpPr>
            <a:spLocks noGrp="1"/>
          </p:cNvSpPr>
          <p:nvPr>
            <p:ph type="title"/>
          </p:nvPr>
        </p:nvSpPr>
        <p:spPr>
          <a:xfrm>
            <a:off x="2833197" y="214141"/>
            <a:ext cx="8060794" cy="575154"/>
          </a:xfrm>
        </p:spPr>
        <p:txBody>
          <a:bodyPr>
            <a:noAutofit/>
          </a:bodyPr>
          <a:lstStyle/>
          <a:p>
            <a:pPr algn="ctr"/>
            <a:r>
              <a:rPr lang="en-US" sz="3600" b="1" dirty="0"/>
              <a:t>LDO – Power Supply Rejection Ratio</a:t>
            </a:r>
          </a:p>
        </p:txBody>
      </p:sp>
      <p:pic>
        <p:nvPicPr>
          <p:cNvPr id="6" name="Picture 5">
            <a:extLst>
              <a:ext uri="{FF2B5EF4-FFF2-40B4-BE49-F238E27FC236}">
                <a16:creationId xmlns:a16="http://schemas.microsoft.com/office/drawing/2014/main" id="{3510B6F5-180E-071F-A3DC-43D9FB3DB8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502" y="239799"/>
            <a:ext cx="2925420" cy="666735"/>
          </a:xfrm>
          <a:prstGeom prst="rect">
            <a:avLst/>
          </a:prstGeom>
        </p:spPr>
      </p:pic>
      <p:sp>
        <p:nvSpPr>
          <p:cNvPr id="9" name="Slide Number Placeholder 8">
            <a:extLst>
              <a:ext uri="{FF2B5EF4-FFF2-40B4-BE49-F238E27FC236}">
                <a16:creationId xmlns:a16="http://schemas.microsoft.com/office/drawing/2014/main" id="{9091BBEC-A1F2-9A88-3001-AE02D1169489}"/>
              </a:ext>
            </a:extLst>
          </p:cNvPr>
          <p:cNvSpPr>
            <a:spLocks noGrp="1"/>
          </p:cNvSpPr>
          <p:nvPr>
            <p:ph type="sldNum" sz="quarter" idx="12"/>
          </p:nvPr>
        </p:nvSpPr>
        <p:spPr/>
        <p:txBody>
          <a:bodyPr/>
          <a:lstStyle/>
          <a:p>
            <a:fld id="{397A11E8-8F25-49C3-8F7D-865FECFDFD18}" type="slidenum">
              <a:rPr lang="en-US" smtClean="0"/>
              <a:t>38</a:t>
            </a:fld>
            <a:endParaRPr lang="en-US"/>
          </a:p>
        </p:txBody>
      </p:sp>
      <p:pic>
        <p:nvPicPr>
          <p:cNvPr id="2" name="Picture 1">
            <a:extLst>
              <a:ext uri="{FF2B5EF4-FFF2-40B4-BE49-F238E27FC236}">
                <a16:creationId xmlns:a16="http://schemas.microsoft.com/office/drawing/2014/main" id="{9A958776-56D7-E671-80C2-405F08EF3074}"/>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5" name="Picture 4">
            <a:extLst>
              <a:ext uri="{FF2B5EF4-FFF2-40B4-BE49-F238E27FC236}">
                <a16:creationId xmlns:a16="http://schemas.microsoft.com/office/drawing/2014/main" id="{54238445-A3B7-CE95-862D-2379E920F982}"/>
              </a:ext>
            </a:extLst>
          </p:cNvPr>
          <p:cNvPicPr>
            <a:picLocks noChangeAspect="1"/>
          </p:cNvPicPr>
          <p:nvPr/>
        </p:nvPicPr>
        <p:blipFill>
          <a:blip r:embed="rId5"/>
          <a:stretch>
            <a:fillRect/>
          </a:stretch>
        </p:blipFill>
        <p:spPr>
          <a:xfrm>
            <a:off x="888762" y="980715"/>
            <a:ext cx="10414475" cy="4200888"/>
          </a:xfrm>
          <a:prstGeom prst="rect">
            <a:avLst/>
          </a:prstGeom>
        </p:spPr>
      </p:pic>
      <p:pic>
        <p:nvPicPr>
          <p:cNvPr id="11" name="Picture 10">
            <a:extLst>
              <a:ext uri="{FF2B5EF4-FFF2-40B4-BE49-F238E27FC236}">
                <a16:creationId xmlns:a16="http://schemas.microsoft.com/office/drawing/2014/main" id="{78324303-23DA-FAB1-0F9B-FE01792BDC5E}"/>
              </a:ext>
            </a:extLst>
          </p:cNvPr>
          <p:cNvPicPr>
            <a:picLocks noChangeAspect="1"/>
          </p:cNvPicPr>
          <p:nvPr/>
        </p:nvPicPr>
        <p:blipFill>
          <a:blip r:embed="rId6"/>
          <a:srcRect t="68176" b="17256"/>
          <a:stretch>
            <a:fillRect/>
          </a:stretch>
        </p:blipFill>
        <p:spPr>
          <a:xfrm>
            <a:off x="-1" y="5877285"/>
            <a:ext cx="12192000" cy="258595"/>
          </a:xfrm>
          <a:prstGeom prst="rect">
            <a:avLst/>
          </a:prstGeom>
        </p:spPr>
      </p:pic>
      <p:pic>
        <p:nvPicPr>
          <p:cNvPr id="13" name="Picture 12">
            <a:extLst>
              <a:ext uri="{FF2B5EF4-FFF2-40B4-BE49-F238E27FC236}">
                <a16:creationId xmlns:a16="http://schemas.microsoft.com/office/drawing/2014/main" id="{2C2B7A13-8316-9989-B840-9BD4B70B40A3}"/>
              </a:ext>
            </a:extLst>
          </p:cNvPr>
          <p:cNvPicPr>
            <a:picLocks noChangeAspect="1"/>
          </p:cNvPicPr>
          <p:nvPr/>
        </p:nvPicPr>
        <p:blipFill>
          <a:blip r:embed="rId6"/>
          <a:srcRect b="79430"/>
          <a:stretch>
            <a:fillRect/>
          </a:stretch>
        </p:blipFill>
        <p:spPr>
          <a:xfrm>
            <a:off x="0" y="5506214"/>
            <a:ext cx="12192000" cy="365125"/>
          </a:xfrm>
          <a:prstGeom prst="rect">
            <a:avLst/>
          </a:prstGeom>
        </p:spPr>
      </p:pic>
      <p:sp>
        <p:nvSpPr>
          <p:cNvPr id="3" name="Date Placeholder 7">
            <a:extLst>
              <a:ext uri="{FF2B5EF4-FFF2-40B4-BE49-F238E27FC236}">
                <a16:creationId xmlns:a16="http://schemas.microsoft.com/office/drawing/2014/main" id="{95158CCB-894B-D41F-2FBA-BE88E62DAEBC}"/>
              </a:ext>
            </a:extLst>
          </p:cNvPr>
          <p:cNvSpPr>
            <a:spLocks noGrp="1"/>
          </p:cNvSpPr>
          <p:nvPr>
            <p:ph type="dt" sz="half" idx="10"/>
          </p:nvPr>
        </p:nvSpPr>
        <p:spPr>
          <a:xfrm>
            <a:off x="838200" y="6356350"/>
            <a:ext cx="2743200" cy="365125"/>
          </a:xfrm>
        </p:spPr>
        <p:txBody>
          <a:bodyPr/>
          <a:lstStyle/>
          <a:p>
            <a:r>
              <a:rPr lang="en-US" dirty="0"/>
              <a:t>28/07/25</a:t>
            </a:r>
          </a:p>
        </p:txBody>
      </p:sp>
    </p:spTree>
    <p:extLst>
      <p:ext uri="{BB962C8B-B14F-4D97-AF65-F5344CB8AC3E}">
        <p14:creationId xmlns:p14="http://schemas.microsoft.com/office/powerpoint/2010/main" val="4390819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5466F-A6D3-CA56-827D-78E006E9BB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DC9A05-6AD5-090D-54BC-1524C91739A4}"/>
              </a:ext>
            </a:extLst>
          </p:cNvPr>
          <p:cNvSpPr>
            <a:spLocks noGrp="1"/>
          </p:cNvSpPr>
          <p:nvPr>
            <p:ph type="title"/>
          </p:nvPr>
        </p:nvSpPr>
        <p:spPr>
          <a:xfrm>
            <a:off x="3279475" y="356745"/>
            <a:ext cx="6702725" cy="575154"/>
          </a:xfrm>
        </p:spPr>
        <p:txBody>
          <a:bodyPr>
            <a:normAutofit fontScale="90000"/>
          </a:bodyPr>
          <a:lstStyle/>
          <a:p>
            <a:pPr algn="ctr"/>
            <a:r>
              <a:rPr lang="en-US" b="1" dirty="0"/>
              <a:t>Full Post-Layout Results</a:t>
            </a:r>
          </a:p>
        </p:txBody>
      </p:sp>
      <p:pic>
        <p:nvPicPr>
          <p:cNvPr id="6" name="Picture 5">
            <a:extLst>
              <a:ext uri="{FF2B5EF4-FFF2-40B4-BE49-F238E27FC236}">
                <a16:creationId xmlns:a16="http://schemas.microsoft.com/office/drawing/2014/main" id="{CD29B2FD-E69A-D244-8921-B7307EA61E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9" name="Slide Number Placeholder 8">
            <a:extLst>
              <a:ext uri="{FF2B5EF4-FFF2-40B4-BE49-F238E27FC236}">
                <a16:creationId xmlns:a16="http://schemas.microsoft.com/office/drawing/2014/main" id="{994F7135-7BC5-F8F5-6961-F4311DD654A9}"/>
              </a:ext>
            </a:extLst>
          </p:cNvPr>
          <p:cNvSpPr>
            <a:spLocks noGrp="1"/>
          </p:cNvSpPr>
          <p:nvPr>
            <p:ph type="sldNum" sz="quarter" idx="12"/>
          </p:nvPr>
        </p:nvSpPr>
        <p:spPr/>
        <p:txBody>
          <a:bodyPr/>
          <a:lstStyle/>
          <a:p>
            <a:fld id="{397A11E8-8F25-49C3-8F7D-865FECFDFD18}" type="slidenum">
              <a:rPr lang="en-US" smtClean="0"/>
              <a:t>39</a:t>
            </a:fld>
            <a:endParaRPr lang="en-US"/>
          </a:p>
        </p:txBody>
      </p:sp>
      <p:pic>
        <p:nvPicPr>
          <p:cNvPr id="10" name="Picture 9">
            <a:extLst>
              <a:ext uri="{FF2B5EF4-FFF2-40B4-BE49-F238E27FC236}">
                <a16:creationId xmlns:a16="http://schemas.microsoft.com/office/drawing/2014/main" id="{3FFB2966-03A1-C553-A27A-B750BC8FF60D}"/>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13" name="Picture 12">
            <a:extLst>
              <a:ext uri="{FF2B5EF4-FFF2-40B4-BE49-F238E27FC236}">
                <a16:creationId xmlns:a16="http://schemas.microsoft.com/office/drawing/2014/main" id="{41119818-A97D-2718-4A04-1F1A63FC0374}"/>
              </a:ext>
            </a:extLst>
          </p:cNvPr>
          <p:cNvPicPr>
            <a:picLocks noChangeAspect="1"/>
          </p:cNvPicPr>
          <p:nvPr/>
        </p:nvPicPr>
        <p:blipFill>
          <a:blip r:embed="rId5"/>
          <a:stretch>
            <a:fillRect/>
          </a:stretch>
        </p:blipFill>
        <p:spPr>
          <a:xfrm>
            <a:off x="2395433" y="1181204"/>
            <a:ext cx="6830110" cy="5023801"/>
          </a:xfrm>
          <a:prstGeom prst="rect">
            <a:avLst/>
          </a:prstGeom>
        </p:spPr>
      </p:pic>
      <p:sp>
        <p:nvSpPr>
          <p:cNvPr id="2" name="Date Placeholder 7">
            <a:extLst>
              <a:ext uri="{FF2B5EF4-FFF2-40B4-BE49-F238E27FC236}">
                <a16:creationId xmlns:a16="http://schemas.microsoft.com/office/drawing/2014/main" id="{D970EC1E-CB1F-CA88-F7CF-15225D0D3F4E}"/>
              </a:ext>
            </a:extLst>
          </p:cNvPr>
          <p:cNvSpPr>
            <a:spLocks noGrp="1"/>
          </p:cNvSpPr>
          <p:nvPr>
            <p:ph type="dt" sz="half" idx="10"/>
          </p:nvPr>
        </p:nvSpPr>
        <p:spPr>
          <a:xfrm>
            <a:off x="838200" y="6356350"/>
            <a:ext cx="2743200" cy="365125"/>
          </a:xfrm>
        </p:spPr>
        <p:txBody>
          <a:bodyPr/>
          <a:lstStyle/>
          <a:p>
            <a:r>
              <a:rPr lang="en-US" dirty="0"/>
              <a:t>28/07/25</a:t>
            </a:r>
          </a:p>
        </p:txBody>
      </p:sp>
    </p:spTree>
    <p:extLst>
      <p:ext uri="{BB962C8B-B14F-4D97-AF65-F5344CB8AC3E}">
        <p14:creationId xmlns:p14="http://schemas.microsoft.com/office/powerpoint/2010/main" val="3855052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06FD6-926C-E09D-A2A3-9235906D39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E2B1F7-E01B-16A8-35C7-7730C2F86E12}"/>
              </a:ext>
            </a:extLst>
          </p:cNvPr>
          <p:cNvSpPr>
            <a:spLocks noGrp="1"/>
          </p:cNvSpPr>
          <p:nvPr>
            <p:ph type="title"/>
          </p:nvPr>
        </p:nvSpPr>
        <p:spPr>
          <a:xfrm>
            <a:off x="3279475" y="356745"/>
            <a:ext cx="6702725" cy="575154"/>
          </a:xfrm>
        </p:spPr>
        <p:txBody>
          <a:bodyPr>
            <a:normAutofit fontScale="90000"/>
          </a:bodyPr>
          <a:lstStyle/>
          <a:p>
            <a:pPr algn="ctr"/>
            <a:r>
              <a:rPr lang="en-US" b="1" dirty="0"/>
              <a:t>LDO – Disabled Mode</a:t>
            </a:r>
          </a:p>
        </p:txBody>
      </p:sp>
      <p:pic>
        <p:nvPicPr>
          <p:cNvPr id="6" name="Picture 5">
            <a:extLst>
              <a:ext uri="{FF2B5EF4-FFF2-40B4-BE49-F238E27FC236}">
                <a16:creationId xmlns:a16="http://schemas.microsoft.com/office/drawing/2014/main" id="{244DA57B-215A-F634-E46D-1D9C394B3E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6B5ED2E2-D96A-CD3E-8A16-32F0CAE0DB80}"/>
              </a:ext>
            </a:extLst>
          </p:cNvPr>
          <p:cNvSpPr>
            <a:spLocks noGrp="1"/>
          </p:cNvSpPr>
          <p:nvPr>
            <p:ph type="dt" sz="half" idx="10"/>
          </p:nvPr>
        </p:nvSpPr>
        <p:spPr/>
        <p:txBody>
          <a:bodyPr/>
          <a:lstStyle/>
          <a:p>
            <a:r>
              <a:rPr lang="en-US" dirty="0"/>
              <a:t>05/03/25</a:t>
            </a:r>
          </a:p>
        </p:txBody>
      </p:sp>
      <p:sp>
        <p:nvSpPr>
          <p:cNvPr id="9" name="Slide Number Placeholder 8">
            <a:extLst>
              <a:ext uri="{FF2B5EF4-FFF2-40B4-BE49-F238E27FC236}">
                <a16:creationId xmlns:a16="http://schemas.microsoft.com/office/drawing/2014/main" id="{A5F51D6B-BA4D-0A4F-F045-F71B2F1515E1}"/>
              </a:ext>
            </a:extLst>
          </p:cNvPr>
          <p:cNvSpPr>
            <a:spLocks noGrp="1"/>
          </p:cNvSpPr>
          <p:nvPr>
            <p:ph type="sldNum" sz="quarter" idx="12"/>
          </p:nvPr>
        </p:nvSpPr>
        <p:spPr/>
        <p:txBody>
          <a:bodyPr/>
          <a:lstStyle/>
          <a:p>
            <a:fld id="{397A11E8-8F25-49C3-8F7D-865FECFDFD18}" type="slidenum">
              <a:rPr lang="en-US" smtClean="0"/>
              <a:t>40</a:t>
            </a:fld>
            <a:endParaRPr lang="en-US"/>
          </a:p>
        </p:txBody>
      </p:sp>
      <p:pic>
        <p:nvPicPr>
          <p:cNvPr id="10" name="Picture 9">
            <a:extLst>
              <a:ext uri="{FF2B5EF4-FFF2-40B4-BE49-F238E27FC236}">
                <a16:creationId xmlns:a16="http://schemas.microsoft.com/office/drawing/2014/main" id="{E6E38121-D17F-1B9D-7CBC-9A844097479D}"/>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3" name="Picture 2" descr="A computer screen shot of a computer&#10;&#10;AI-generated content may be incorrect.">
            <a:extLst>
              <a:ext uri="{FF2B5EF4-FFF2-40B4-BE49-F238E27FC236}">
                <a16:creationId xmlns:a16="http://schemas.microsoft.com/office/drawing/2014/main" id="{DCF5CA9F-0E83-1F79-FA4F-3B0087B9CC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81" y="1139051"/>
            <a:ext cx="12098438" cy="5544324"/>
          </a:xfrm>
          <a:prstGeom prst="rect">
            <a:avLst/>
          </a:prstGeom>
        </p:spPr>
      </p:pic>
    </p:spTree>
    <p:extLst>
      <p:ext uri="{BB962C8B-B14F-4D97-AF65-F5344CB8AC3E}">
        <p14:creationId xmlns:p14="http://schemas.microsoft.com/office/powerpoint/2010/main" val="1560795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08C02-5F6A-D33F-7ACC-9FD7BD6EC4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5D7970-039A-F3EC-5937-794704B1EF26}"/>
              </a:ext>
            </a:extLst>
          </p:cNvPr>
          <p:cNvSpPr>
            <a:spLocks noGrp="1"/>
          </p:cNvSpPr>
          <p:nvPr>
            <p:ph type="title"/>
          </p:nvPr>
        </p:nvSpPr>
        <p:spPr>
          <a:xfrm>
            <a:off x="3279475" y="356745"/>
            <a:ext cx="6702725" cy="575154"/>
          </a:xfrm>
        </p:spPr>
        <p:txBody>
          <a:bodyPr>
            <a:normAutofit fontScale="90000"/>
          </a:bodyPr>
          <a:lstStyle/>
          <a:p>
            <a:pPr algn="ctr"/>
            <a:r>
              <a:rPr lang="en-US" b="1" dirty="0"/>
              <a:t>LDO – Bypass Mode</a:t>
            </a:r>
          </a:p>
        </p:txBody>
      </p:sp>
      <p:pic>
        <p:nvPicPr>
          <p:cNvPr id="6" name="Picture 5">
            <a:extLst>
              <a:ext uri="{FF2B5EF4-FFF2-40B4-BE49-F238E27FC236}">
                <a16:creationId xmlns:a16="http://schemas.microsoft.com/office/drawing/2014/main" id="{0EE40047-1FA5-5471-FF8C-0F63C77C59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8" name="Date Placeholder 7">
            <a:extLst>
              <a:ext uri="{FF2B5EF4-FFF2-40B4-BE49-F238E27FC236}">
                <a16:creationId xmlns:a16="http://schemas.microsoft.com/office/drawing/2014/main" id="{C758CB9E-0F3D-F12C-A8FE-62A9C541819C}"/>
              </a:ext>
            </a:extLst>
          </p:cNvPr>
          <p:cNvSpPr>
            <a:spLocks noGrp="1"/>
          </p:cNvSpPr>
          <p:nvPr>
            <p:ph type="dt" sz="half" idx="10"/>
          </p:nvPr>
        </p:nvSpPr>
        <p:spPr/>
        <p:txBody>
          <a:bodyPr/>
          <a:lstStyle/>
          <a:p>
            <a:r>
              <a:rPr lang="en-US" dirty="0"/>
              <a:t>05/03/25</a:t>
            </a:r>
          </a:p>
        </p:txBody>
      </p:sp>
      <p:sp>
        <p:nvSpPr>
          <p:cNvPr id="9" name="Slide Number Placeholder 8">
            <a:extLst>
              <a:ext uri="{FF2B5EF4-FFF2-40B4-BE49-F238E27FC236}">
                <a16:creationId xmlns:a16="http://schemas.microsoft.com/office/drawing/2014/main" id="{910C2F0B-A79B-FE9A-5A0D-0D778730273B}"/>
              </a:ext>
            </a:extLst>
          </p:cNvPr>
          <p:cNvSpPr>
            <a:spLocks noGrp="1"/>
          </p:cNvSpPr>
          <p:nvPr>
            <p:ph type="sldNum" sz="quarter" idx="12"/>
          </p:nvPr>
        </p:nvSpPr>
        <p:spPr/>
        <p:txBody>
          <a:bodyPr/>
          <a:lstStyle/>
          <a:p>
            <a:fld id="{397A11E8-8F25-49C3-8F7D-865FECFDFD18}" type="slidenum">
              <a:rPr lang="en-US" smtClean="0"/>
              <a:t>41</a:t>
            </a:fld>
            <a:endParaRPr lang="en-US"/>
          </a:p>
        </p:txBody>
      </p:sp>
      <p:pic>
        <p:nvPicPr>
          <p:cNvPr id="10" name="Picture 9">
            <a:extLst>
              <a:ext uri="{FF2B5EF4-FFF2-40B4-BE49-F238E27FC236}">
                <a16:creationId xmlns:a16="http://schemas.microsoft.com/office/drawing/2014/main" id="{57A6BAB7-652F-8CCD-59CD-0C7DAB6CC5F6}"/>
              </a:ext>
            </a:extLst>
          </p:cNvPr>
          <p:cNvPicPr>
            <a:picLocks noChangeAspect="1"/>
          </p:cNvPicPr>
          <p:nvPr/>
        </p:nvPicPr>
        <p:blipFill>
          <a:blip r:embed="rId4"/>
          <a:stretch>
            <a:fillRect/>
          </a:stretch>
        </p:blipFill>
        <p:spPr>
          <a:xfrm>
            <a:off x="10893991" y="77582"/>
            <a:ext cx="942788" cy="877475"/>
          </a:xfrm>
          <a:prstGeom prst="rect">
            <a:avLst/>
          </a:prstGeom>
        </p:spPr>
      </p:pic>
      <p:pic>
        <p:nvPicPr>
          <p:cNvPr id="5" name="Picture 4" descr="A computer screen shot of a computer&#10;&#10;AI-generated content may be incorrect.">
            <a:extLst>
              <a:ext uri="{FF2B5EF4-FFF2-40B4-BE49-F238E27FC236}">
                <a16:creationId xmlns:a16="http://schemas.microsoft.com/office/drawing/2014/main" id="{9D1BF3B1-5504-85A1-5844-2A7BD7B140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04" y="1114992"/>
            <a:ext cx="12155596" cy="5534797"/>
          </a:xfrm>
          <a:prstGeom prst="rect">
            <a:avLst/>
          </a:prstGeom>
        </p:spPr>
      </p:pic>
    </p:spTree>
    <p:extLst>
      <p:ext uri="{BB962C8B-B14F-4D97-AF65-F5344CB8AC3E}">
        <p14:creationId xmlns:p14="http://schemas.microsoft.com/office/powerpoint/2010/main" val="2528753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7D111-1622-F07B-CCE9-D8710D07D5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C254CD-5A72-EA86-5346-4328E593D264}"/>
              </a:ext>
            </a:extLst>
          </p:cNvPr>
          <p:cNvSpPr>
            <a:spLocks noGrp="1"/>
          </p:cNvSpPr>
          <p:nvPr>
            <p:ph type="title"/>
          </p:nvPr>
        </p:nvSpPr>
        <p:spPr>
          <a:xfrm>
            <a:off x="2744637" y="365126"/>
            <a:ext cx="6702725" cy="575154"/>
          </a:xfrm>
        </p:spPr>
        <p:txBody>
          <a:bodyPr>
            <a:normAutofit fontScale="90000"/>
          </a:bodyPr>
          <a:lstStyle/>
          <a:p>
            <a:pPr algn="ctr"/>
            <a:r>
              <a:rPr lang="en-US" b="1" dirty="0"/>
              <a:t>Conclusions</a:t>
            </a:r>
          </a:p>
        </p:txBody>
      </p:sp>
      <p:pic>
        <p:nvPicPr>
          <p:cNvPr id="6" name="Picture 5">
            <a:extLst>
              <a:ext uri="{FF2B5EF4-FFF2-40B4-BE49-F238E27FC236}">
                <a16:creationId xmlns:a16="http://schemas.microsoft.com/office/drawing/2014/main" id="{F032B5DF-876F-8F64-C023-A10B4692C2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9" name="Slide Number Placeholder 8">
            <a:extLst>
              <a:ext uri="{FF2B5EF4-FFF2-40B4-BE49-F238E27FC236}">
                <a16:creationId xmlns:a16="http://schemas.microsoft.com/office/drawing/2014/main" id="{96A7C05E-6BD2-88BF-19D2-214C48589EE9}"/>
              </a:ext>
            </a:extLst>
          </p:cNvPr>
          <p:cNvSpPr>
            <a:spLocks noGrp="1"/>
          </p:cNvSpPr>
          <p:nvPr>
            <p:ph type="sldNum" sz="quarter" idx="12"/>
          </p:nvPr>
        </p:nvSpPr>
        <p:spPr/>
        <p:txBody>
          <a:bodyPr/>
          <a:lstStyle/>
          <a:p>
            <a:fld id="{397A11E8-8F25-49C3-8F7D-865FECFDFD18}" type="slidenum">
              <a:rPr lang="en-US" smtClean="0"/>
              <a:t>42</a:t>
            </a:fld>
            <a:endParaRPr lang="en-US"/>
          </a:p>
        </p:txBody>
      </p:sp>
      <p:pic>
        <p:nvPicPr>
          <p:cNvPr id="10" name="Picture 9">
            <a:extLst>
              <a:ext uri="{FF2B5EF4-FFF2-40B4-BE49-F238E27FC236}">
                <a16:creationId xmlns:a16="http://schemas.microsoft.com/office/drawing/2014/main" id="{5C79EFE5-79C3-BF66-BBAE-42D185D6E374}"/>
              </a:ext>
            </a:extLst>
          </p:cNvPr>
          <p:cNvPicPr>
            <a:picLocks noChangeAspect="1"/>
          </p:cNvPicPr>
          <p:nvPr/>
        </p:nvPicPr>
        <p:blipFill>
          <a:blip r:embed="rId4"/>
          <a:stretch>
            <a:fillRect/>
          </a:stretch>
        </p:blipFill>
        <p:spPr>
          <a:xfrm>
            <a:off x="10893991" y="77582"/>
            <a:ext cx="942788" cy="877475"/>
          </a:xfrm>
          <a:prstGeom prst="rect">
            <a:avLst/>
          </a:prstGeom>
        </p:spPr>
      </p:pic>
      <p:sp>
        <p:nvSpPr>
          <p:cNvPr id="2" name="TextBox 1">
            <a:extLst>
              <a:ext uri="{FF2B5EF4-FFF2-40B4-BE49-F238E27FC236}">
                <a16:creationId xmlns:a16="http://schemas.microsoft.com/office/drawing/2014/main" id="{21F376EC-AB5F-914B-DEB2-3FC045829859}"/>
              </a:ext>
            </a:extLst>
          </p:cNvPr>
          <p:cNvSpPr txBox="1"/>
          <p:nvPr/>
        </p:nvSpPr>
        <p:spPr>
          <a:xfrm>
            <a:off x="267419" y="1018551"/>
            <a:ext cx="11477270" cy="4924425"/>
          </a:xfrm>
          <a:prstGeom prst="rect">
            <a:avLst/>
          </a:prstGeom>
          <a:noFill/>
        </p:spPr>
        <p:txBody>
          <a:bodyPr wrap="square" rtlCol="0">
            <a:spAutoFit/>
          </a:bodyPr>
          <a:lstStyle/>
          <a:p>
            <a:pPr marL="285750" indent="-285750">
              <a:buFont typeface="Wingdings" panose="05000000000000000000" pitchFamily="2" charset="2"/>
              <a:buChar char="§"/>
            </a:pPr>
            <a:endParaRPr lang="en-US" b="1" u="sng" dirty="0"/>
          </a:p>
          <a:p>
            <a:pPr marL="285750" indent="-285750">
              <a:buFont typeface="Wingdings" panose="05000000000000000000" pitchFamily="2" charset="2"/>
              <a:buChar char="q"/>
            </a:pPr>
            <a:r>
              <a:rPr lang="en-US" sz="2000" dirty="0"/>
              <a:t>A 0.9V LDO regulator was successfully implemented in 28nm CMOS for integration within a DPLL system-on-chip.</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The design met key specifications including line/load regulation, temperature stability, PSRR, transient response, area and, power constraints, demonstrating reliable performance across all PVT corners and scenarios.</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Major design challenges, such as balancing stability, gain, bandwidth, area, and power consumption tradeoffs, along with layout optimizations to improve matching and minimize IR drop, were effectively addressed through iterative refinement.</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Post-layout results showed only minor degradation, validating the effectiveness of early </a:t>
            </a:r>
            <a:r>
              <a:rPr lang="en-US" sz="2000" dirty="0" err="1"/>
              <a:t>floorplanning</a:t>
            </a:r>
            <a:r>
              <a:rPr lang="en-US" sz="2000" dirty="0"/>
              <a:t> and adherence to industry-standard layout practices.</a:t>
            </a:r>
          </a:p>
          <a:p>
            <a:pPr marL="285750" indent="-285750">
              <a:buFont typeface="Wingdings" panose="05000000000000000000" pitchFamily="2" charset="2"/>
              <a:buChar char="q"/>
            </a:pPr>
            <a:endParaRPr lang="en-US" dirty="0"/>
          </a:p>
          <a:p>
            <a:endParaRPr lang="en-US" dirty="0"/>
          </a:p>
        </p:txBody>
      </p:sp>
      <p:sp>
        <p:nvSpPr>
          <p:cNvPr id="3" name="Date Placeholder 7">
            <a:extLst>
              <a:ext uri="{FF2B5EF4-FFF2-40B4-BE49-F238E27FC236}">
                <a16:creationId xmlns:a16="http://schemas.microsoft.com/office/drawing/2014/main" id="{BC40ACBC-2023-8F78-4CB1-8D5BDB97DE36}"/>
              </a:ext>
            </a:extLst>
          </p:cNvPr>
          <p:cNvSpPr>
            <a:spLocks noGrp="1"/>
          </p:cNvSpPr>
          <p:nvPr>
            <p:ph type="dt" sz="half" idx="10"/>
          </p:nvPr>
        </p:nvSpPr>
        <p:spPr>
          <a:xfrm>
            <a:off x="838200" y="6356350"/>
            <a:ext cx="2743200" cy="365125"/>
          </a:xfrm>
        </p:spPr>
        <p:txBody>
          <a:bodyPr/>
          <a:lstStyle/>
          <a:p>
            <a:r>
              <a:rPr lang="en-US" dirty="0"/>
              <a:t>28/07/25</a:t>
            </a:r>
          </a:p>
        </p:txBody>
      </p:sp>
    </p:spTree>
    <p:extLst>
      <p:ext uri="{BB962C8B-B14F-4D97-AF65-F5344CB8AC3E}">
        <p14:creationId xmlns:p14="http://schemas.microsoft.com/office/powerpoint/2010/main" val="41637837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E6704-F45C-8101-EB38-D4DEC7CABB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4DE10A-1323-004A-65FE-C1355215839D}"/>
              </a:ext>
            </a:extLst>
          </p:cNvPr>
          <p:cNvSpPr>
            <a:spLocks noGrp="1"/>
          </p:cNvSpPr>
          <p:nvPr>
            <p:ph type="title"/>
          </p:nvPr>
        </p:nvSpPr>
        <p:spPr>
          <a:xfrm>
            <a:off x="3279475" y="356745"/>
            <a:ext cx="6702725" cy="575154"/>
          </a:xfrm>
        </p:spPr>
        <p:txBody>
          <a:bodyPr>
            <a:normAutofit fontScale="90000"/>
          </a:bodyPr>
          <a:lstStyle/>
          <a:p>
            <a:pPr algn="ctr"/>
            <a:r>
              <a:rPr lang="en-US" b="1" dirty="0"/>
              <a:t>Further Work</a:t>
            </a:r>
          </a:p>
        </p:txBody>
      </p:sp>
      <p:pic>
        <p:nvPicPr>
          <p:cNvPr id="6" name="Picture 5">
            <a:extLst>
              <a:ext uri="{FF2B5EF4-FFF2-40B4-BE49-F238E27FC236}">
                <a16:creationId xmlns:a16="http://schemas.microsoft.com/office/drawing/2014/main" id="{CB46858C-68A2-3AC6-1540-D50A98213E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9" name="Slide Number Placeholder 8">
            <a:extLst>
              <a:ext uri="{FF2B5EF4-FFF2-40B4-BE49-F238E27FC236}">
                <a16:creationId xmlns:a16="http://schemas.microsoft.com/office/drawing/2014/main" id="{4C31C60E-52B1-18B4-B0AC-59A0678B301C}"/>
              </a:ext>
            </a:extLst>
          </p:cNvPr>
          <p:cNvSpPr>
            <a:spLocks noGrp="1"/>
          </p:cNvSpPr>
          <p:nvPr>
            <p:ph type="sldNum" sz="quarter" idx="12"/>
          </p:nvPr>
        </p:nvSpPr>
        <p:spPr/>
        <p:txBody>
          <a:bodyPr/>
          <a:lstStyle/>
          <a:p>
            <a:fld id="{397A11E8-8F25-49C3-8F7D-865FECFDFD18}" type="slidenum">
              <a:rPr lang="en-US" smtClean="0"/>
              <a:t>43</a:t>
            </a:fld>
            <a:endParaRPr lang="en-US"/>
          </a:p>
        </p:txBody>
      </p:sp>
      <p:pic>
        <p:nvPicPr>
          <p:cNvPr id="10" name="Picture 9">
            <a:extLst>
              <a:ext uri="{FF2B5EF4-FFF2-40B4-BE49-F238E27FC236}">
                <a16:creationId xmlns:a16="http://schemas.microsoft.com/office/drawing/2014/main" id="{8B20A508-2539-9E48-D392-55DB58AD8424}"/>
              </a:ext>
            </a:extLst>
          </p:cNvPr>
          <p:cNvPicPr>
            <a:picLocks noChangeAspect="1"/>
          </p:cNvPicPr>
          <p:nvPr/>
        </p:nvPicPr>
        <p:blipFill>
          <a:blip r:embed="rId4"/>
          <a:stretch>
            <a:fillRect/>
          </a:stretch>
        </p:blipFill>
        <p:spPr>
          <a:xfrm>
            <a:off x="10893991" y="77582"/>
            <a:ext cx="942788" cy="877475"/>
          </a:xfrm>
          <a:prstGeom prst="rect">
            <a:avLst/>
          </a:prstGeom>
        </p:spPr>
      </p:pic>
      <p:sp>
        <p:nvSpPr>
          <p:cNvPr id="2" name="TextBox 1">
            <a:extLst>
              <a:ext uri="{FF2B5EF4-FFF2-40B4-BE49-F238E27FC236}">
                <a16:creationId xmlns:a16="http://schemas.microsoft.com/office/drawing/2014/main" id="{DEDF7D8B-6536-E620-8681-55CB77A17770}"/>
              </a:ext>
            </a:extLst>
          </p:cNvPr>
          <p:cNvSpPr txBox="1"/>
          <p:nvPr/>
        </p:nvSpPr>
        <p:spPr>
          <a:xfrm>
            <a:off x="359509" y="1094230"/>
            <a:ext cx="11477270" cy="7571303"/>
          </a:xfrm>
          <a:prstGeom prst="rect">
            <a:avLst/>
          </a:prstGeom>
          <a:noFill/>
        </p:spPr>
        <p:txBody>
          <a:bodyPr wrap="square" rtlCol="0">
            <a:spAutoFit/>
          </a:bodyPr>
          <a:lstStyle/>
          <a:p>
            <a:pPr marL="285750" indent="-285750">
              <a:buFont typeface="Wingdings" panose="05000000000000000000" pitchFamily="2" charset="2"/>
              <a:buChar char="§"/>
            </a:pPr>
            <a:endParaRPr lang="en-US" b="1" u="sng" dirty="0"/>
          </a:p>
          <a:p>
            <a:pPr marL="285750" indent="-285750">
              <a:buFont typeface="Wingdings" panose="05000000000000000000" pitchFamily="2" charset="2"/>
              <a:buChar char="q"/>
            </a:pPr>
            <a:r>
              <a:rPr lang="en-US" b="1" dirty="0"/>
              <a:t>EA Gain and BW Improvement: </a:t>
            </a:r>
          </a:p>
          <a:p>
            <a:pPr marL="742950" lvl="1" indent="-285750">
              <a:buFont typeface="Arial" panose="020B0604020202020204" pitchFamily="34" charset="0"/>
              <a:buChar char="•"/>
            </a:pPr>
            <a:r>
              <a:rPr lang="en-US" dirty="0"/>
              <a:t>Use gain-boosted </a:t>
            </a:r>
            <a:r>
              <a:rPr lang="en-US" dirty="0" err="1"/>
              <a:t>cascode</a:t>
            </a:r>
            <a:r>
              <a:rPr lang="en-US" dirty="0"/>
              <a:t> or telescopic topologies (&gt;100 dB gain) to enhance regulation and PSRR. </a:t>
            </a:r>
          </a:p>
          <a:p>
            <a:pPr marL="742950" lvl="1" indent="-285750">
              <a:buFont typeface="Arial" panose="020B0604020202020204" pitchFamily="34" charset="0"/>
              <a:buChar char="•"/>
            </a:pPr>
            <a:r>
              <a:rPr lang="en-US" b="1" dirty="0"/>
              <a:t>Tradeoffs</a:t>
            </a:r>
            <a:r>
              <a:rPr lang="en-US" dirty="0"/>
              <a:t>: Increased complexity, reduced output swing, and higher power.</a:t>
            </a:r>
          </a:p>
          <a:p>
            <a:pPr marL="285750" indent="-285750">
              <a:buFont typeface="Wingdings" panose="05000000000000000000" pitchFamily="2" charset="2"/>
              <a:buChar char="q"/>
            </a:pPr>
            <a:r>
              <a:rPr lang="en-US" b="1" dirty="0"/>
              <a:t>BGR Performance Enhancement:</a:t>
            </a:r>
          </a:p>
          <a:p>
            <a:pPr marL="742950" lvl="1" indent="-285750">
              <a:buFont typeface="Arial" panose="020B0604020202020204" pitchFamily="34" charset="0"/>
              <a:buChar char="•"/>
            </a:pPr>
            <a:r>
              <a:rPr lang="en-US" dirty="0"/>
              <a:t>Implement second-order curvature correction and </a:t>
            </a:r>
            <a:r>
              <a:rPr lang="en-US" dirty="0" err="1"/>
              <a:t>cascode</a:t>
            </a:r>
            <a:r>
              <a:rPr lang="en-US" dirty="0"/>
              <a:t> current mirrors for sub-1 ppm/°C temperature coefficient and improved PSRR. </a:t>
            </a:r>
          </a:p>
          <a:p>
            <a:pPr marL="742950" lvl="1" indent="-285750">
              <a:buFont typeface="Arial" panose="020B0604020202020204" pitchFamily="34" charset="0"/>
              <a:buChar char="•"/>
            </a:pPr>
            <a:r>
              <a:rPr lang="en-US" b="1" dirty="0"/>
              <a:t>Tradeoffs</a:t>
            </a:r>
            <a:r>
              <a:rPr lang="en-US" dirty="0"/>
              <a:t>: Higher power and design complexity. </a:t>
            </a:r>
          </a:p>
          <a:p>
            <a:pPr marL="285750" indent="-285750">
              <a:buFont typeface="Wingdings" panose="05000000000000000000" pitchFamily="2" charset="2"/>
              <a:buChar char="q"/>
            </a:pPr>
            <a:r>
              <a:rPr lang="en-US" b="1" dirty="0"/>
              <a:t>Pass Device Optimization:</a:t>
            </a:r>
          </a:p>
          <a:p>
            <a:pPr marL="742950" lvl="1" indent="-285750">
              <a:buFont typeface="Arial" panose="020B0604020202020204" pitchFamily="34" charset="0"/>
              <a:buChar char="•"/>
            </a:pPr>
            <a:r>
              <a:rPr lang="en-US" dirty="0"/>
              <a:t>Widen pass transistor for better load regulation. </a:t>
            </a:r>
          </a:p>
          <a:p>
            <a:pPr marL="742950" lvl="1" indent="-285750">
              <a:buFont typeface="Arial" panose="020B0604020202020204" pitchFamily="34" charset="0"/>
              <a:buChar char="•"/>
            </a:pPr>
            <a:r>
              <a:rPr lang="en-US" b="1" dirty="0"/>
              <a:t>Tradeoffs</a:t>
            </a:r>
            <a:r>
              <a:rPr lang="en-US" dirty="0"/>
              <a:t>: Raises gate capacitance, reducing bandwidth and stability. Can be mitigated with a buffer stage.</a:t>
            </a:r>
          </a:p>
          <a:p>
            <a:pPr marL="285750" indent="-285750">
              <a:buFont typeface="Wingdings" panose="05000000000000000000" pitchFamily="2" charset="2"/>
              <a:buChar char="q"/>
            </a:pPr>
            <a:r>
              <a:rPr lang="en-US" b="1" dirty="0"/>
              <a:t>Advanced LDO Control Features:</a:t>
            </a:r>
          </a:p>
          <a:p>
            <a:pPr marL="742950" lvl="1" indent="-285750">
              <a:buFont typeface="Arial" panose="020B0604020202020204" pitchFamily="34" charset="0"/>
              <a:buChar char="•"/>
            </a:pPr>
            <a:r>
              <a:rPr lang="en-US" dirty="0"/>
              <a:t>Add low-power modes and digitally tunable output voltage through feedback resistor ladder.</a:t>
            </a:r>
          </a:p>
          <a:p>
            <a:pPr marL="742950" lvl="1" indent="-285750">
              <a:buFont typeface="Arial" panose="020B0604020202020204" pitchFamily="34" charset="0"/>
              <a:buChar char="•"/>
            </a:pPr>
            <a:r>
              <a:rPr lang="en-US" b="1" dirty="0"/>
              <a:t>Tradeoffs</a:t>
            </a:r>
            <a:r>
              <a:rPr lang="en-US" dirty="0"/>
              <a:t>: More area and logic, requires early top-level integration.</a:t>
            </a:r>
          </a:p>
          <a:p>
            <a:pPr marL="285750" indent="-285750">
              <a:buFont typeface="Wingdings" panose="05000000000000000000" pitchFamily="2" charset="2"/>
              <a:buChar char="q"/>
            </a:pPr>
            <a:r>
              <a:rPr lang="en-US" b="1" dirty="0"/>
              <a:t>Output Noise Reduction:</a:t>
            </a:r>
          </a:p>
          <a:p>
            <a:pPr marL="742950" lvl="1" indent="-285750">
              <a:buFont typeface="Arial" panose="020B0604020202020204" pitchFamily="34" charset="0"/>
              <a:buChar char="•"/>
            </a:pPr>
            <a:r>
              <a:rPr lang="en-US" dirty="0"/>
              <a:t>Employ low-noise OTA topologies or RC filtering on the BGR output to reduce low-frequency noise.</a:t>
            </a:r>
          </a:p>
          <a:p>
            <a:pPr marL="742950" lvl="1" indent="-285750">
              <a:buFont typeface="Arial" panose="020B0604020202020204" pitchFamily="34" charset="0"/>
              <a:buChar char="•"/>
            </a:pPr>
            <a:r>
              <a:rPr lang="en-US" b="1" dirty="0"/>
              <a:t>Tradeoffs</a:t>
            </a:r>
            <a:r>
              <a:rPr lang="en-US" dirty="0"/>
              <a:t>: Large passive RC filters impractical on chip. Other methods add complexity.</a:t>
            </a:r>
          </a:p>
          <a:p>
            <a:pPr marL="742950" lvl="1" indent="-285750">
              <a:buFont typeface="Arial" panose="020B0604020202020204" pitchFamily="34" charset="0"/>
              <a:buChar char="•"/>
            </a:pPr>
            <a:endParaRPr lang="en-US" dirty="0"/>
          </a:p>
          <a:p>
            <a:pPr lvl="1"/>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endParaRPr lang="en-US" dirty="0"/>
          </a:p>
          <a:p>
            <a:endParaRPr lang="en-US" dirty="0"/>
          </a:p>
          <a:p>
            <a:endParaRPr lang="en-US" dirty="0"/>
          </a:p>
          <a:p>
            <a:endParaRPr lang="en-US" dirty="0"/>
          </a:p>
          <a:p>
            <a:endParaRPr lang="en-US" dirty="0"/>
          </a:p>
        </p:txBody>
      </p:sp>
      <p:sp>
        <p:nvSpPr>
          <p:cNvPr id="3" name="Date Placeholder 7">
            <a:extLst>
              <a:ext uri="{FF2B5EF4-FFF2-40B4-BE49-F238E27FC236}">
                <a16:creationId xmlns:a16="http://schemas.microsoft.com/office/drawing/2014/main" id="{EC31542E-DBCC-2DB0-BF96-CFBA70B3890B}"/>
              </a:ext>
            </a:extLst>
          </p:cNvPr>
          <p:cNvSpPr>
            <a:spLocks noGrp="1"/>
          </p:cNvSpPr>
          <p:nvPr>
            <p:ph type="dt" sz="half" idx="10"/>
          </p:nvPr>
        </p:nvSpPr>
        <p:spPr>
          <a:xfrm>
            <a:off x="838200" y="6356350"/>
            <a:ext cx="2743200" cy="365125"/>
          </a:xfrm>
        </p:spPr>
        <p:txBody>
          <a:bodyPr/>
          <a:lstStyle/>
          <a:p>
            <a:r>
              <a:rPr lang="en-US" dirty="0"/>
              <a:t>28/07/25</a:t>
            </a:r>
          </a:p>
        </p:txBody>
      </p:sp>
    </p:spTree>
    <p:extLst>
      <p:ext uri="{BB962C8B-B14F-4D97-AF65-F5344CB8AC3E}">
        <p14:creationId xmlns:p14="http://schemas.microsoft.com/office/powerpoint/2010/main" val="20138455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078B-6B56-14C7-65E1-9CA606B720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23F957-F81A-E196-CC0C-A53E641EB0E7}"/>
              </a:ext>
            </a:extLst>
          </p:cNvPr>
          <p:cNvSpPr>
            <a:spLocks noGrp="1"/>
          </p:cNvSpPr>
          <p:nvPr>
            <p:ph type="title"/>
          </p:nvPr>
        </p:nvSpPr>
        <p:spPr>
          <a:xfrm>
            <a:off x="3279475" y="356745"/>
            <a:ext cx="6702725" cy="575154"/>
          </a:xfrm>
        </p:spPr>
        <p:txBody>
          <a:bodyPr>
            <a:normAutofit fontScale="90000"/>
          </a:bodyPr>
          <a:lstStyle/>
          <a:p>
            <a:pPr algn="ctr"/>
            <a:r>
              <a:rPr lang="en-US" b="1" dirty="0"/>
              <a:t>Project Documentation</a:t>
            </a:r>
          </a:p>
        </p:txBody>
      </p:sp>
      <p:pic>
        <p:nvPicPr>
          <p:cNvPr id="6" name="Picture 5">
            <a:extLst>
              <a:ext uri="{FF2B5EF4-FFF2-40B4-BE49-F238E27FC236}">
                <a16:creationId xmlns:a16="http://schemas.microsoft.com/office/drawing/2014/main" id="{91390450-4784-77FE-F281-FADD78469A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19" y="273545"/>
            <a:ext cx="2925420" cy="666735"/>
          </a:xfrm>
          <a:prstGeom prst="rect">
            <a:avLst/>
          </a:prstGeom>
        </p:spPr>
      </p:pic>
      <p:sp>
        <p:nvSpPr>
          <p:cNvPr id="9" name="Slide Number Placeholder 8">
            <a:extLst>
              <a:ext uri="{FF2B5EF4-FFF2-40B4-BE49-F238E27FC236}">
                <a16:creationId xmlns:a16="http://schemas.microsoft.com/office/drawing/2014/main" id="{F1BF203A-C124-DABD-92A4-6D5BC7EE5419}"/>
              </a:ext>
            </a:extLst>
          </p:cNvPr>
          <p:cNvSpPr>
            <a:spLocks noGrp="1"/>
          </p:cNvSpPr>
          <p:nvPr>
            <p:ph type="sldNum" sz="quarter" idx="12"/>
          </p:nvPr>
        </p:nvSpPr>
        <p:spPr/>
        <p:txBody>
          <a:bodyPr/>
          <a:lstStyle/>
          <a:p>
            <a:fld id="{397A11E8-8F25-49C3-8F7D-865FECFDFD18}" type="slidenum">
              <a:rPr lang="en-US" smtClean="0"/>
              <a:t>44</a:t>
            </a:fld>
            <a:endParaRPr lang="en-US"/>
          </a:p>
        </p:txBody>
      </p:sp>
      <p:pic>
        <p:nvPicPr>
          <p:cNvPr id="10" name="Picture 9">
            <a:extLst>
              <a:ext uri="{FF2B5EF4-FFF2-40B4-BE49-F238E27FC236}">
                <a16:creationId xmlns:a16="http://schemas.microsoft.com/office/drawing/2014/main" id="{02E265BF-608D-7A68-A5D1-6769886D9BC5}"/>
              </a:ext>
            </a:extLst>
          </p:cNvPr>
          <p:cNvPicPr>
            <a:picLocks noChangeAspect="1"/>
          </p:cNvPicPr>
          <p:nvPr/>
        </p:nvPicPr>
        <p:blipFill>
          <a:blip r:embed="rId4"/>
          <a:stretch>
            <a:fillRect/>
          </a:stretch>
        </p:blipFill>
        <p:spPr>
          <a:xfrm>
            <a:off x="10893991" y="77582"/>
            <a:ext cx="942788" cy="877475"/>
          </a:xfrm>
          <a:prstGeom prst="rect">
            <a:avLst/>
          </a:prstGeom>
        </p:spPr>
      </p:pic>
      <p:sp>
        <p:nvSpPr>
          <p:cNvPr id="11" name="TextBox 10">
            <a:extLst>
              <a:ext uri="{FF2B5EF4-FFF2-40B4-BE49-F238E27FC236}">
                <a16:creationId xmlns:a16="http://schemas.microsoft.com/office/drawing/2014/main" id="{2C1D3FE1-7D34-B3C5-611A-747207C22AA9}"/>
              </a:ext>
            </a:extLst>
          </p:cNvPr>
          <p:cNvSpPr txBox="1"/>
          <p:nvPr/>
        </p:nvSpPr>
        <p:spPr>
          <a:xfrm>
            <a:off x="8200624" y="1190031"/>
            <a:ext cx="6097424" cy="1015663"/>
          </a:xfrm>
          <a:prstGeom prst="rect">
            <a:avLst/>
          </a:prstGeom>
          <a:noFill/>
        </p:spPr>
        <p:txBody>
          <a:bodyPr wrap="square">
            <a:spAutoFit/>
          </a:bodyPr>
          <a:lstStyle/>
          <a:p>
            <a:r>
              <a:rPr lang="en-US" sz="6000" dirty="0">
                <a:hlinkClick r:id="rId5"/>
              </a:rPr>
              <a:t>DPLL-LDO</a:t>
            </a:r>
            <a:endParaRPr lang="en-US" sz="6000" dirty="0"/>
          </a:p>
        </p:txBody>
      </p:sp>
      <p:sp>
        <p:nvSpPr>
          <p:cNvPr id="2" name="Date Placeholder 7">
            <a:extLst>
              <a:ext uri="{FF2B5EF4-FFF2-40B4-BE49-F238E27FC236}">
                <a16:creationId xmlns:a16="http://schemas.microsoft.com/office/drawing/2014/main" id="{98DC796E-2BC5-5C74-5A24-A5AE480BF6DD}"/>
              </a:ext>
            </a:extLst>
          </p:cNvPr>
          <p:cNvSpPr>
            <a:spLocks noGrp="1"/>
          </p:cNvSpPr>
          <p:nvPr>
            <p:ph type="dt" sz="half" idx="10"/>
          </p:nvPr>
        </p:nvSpPr>
        <p:spPr>
          <a:xfrm>
            <a:off x="838200" y="6356350"/>
            <a:ext cx="2743200" cy="365125"/>
          </a:xfrm>
        </p:spPr>
        <p:txBody>
          <a:bodyPr/>
          <a:lstStyle/>
          <a:p>
            <a:r>
              <a:rPr lang="en-US" dirty="0"/>
              <a:t>28/07/25</a:t>
            </a:r>
          </a:p>
        </p:txBody>
      </p:sp>
      <p:pic>
        <p:nvPicPr>
          <p:cNvPr id="5" name="Picture 4">
            <a:extLst>
              <a:ext uri="{FF2B5EF4-FFF2-40B4-BE49-F238E27FC236}">
                <a16:creationId xmlns:a16="http://schemas.microsoft.com/office/drawing/2014/main" id="{BDBC2519-DBDC-DAD0-09AD-701B9D240770}"/>
              </a:ext>
            </a:extLst>
          </p:cNvPr>
          <p:cNvPicPr>
            <a:picLocks noChangeAspect="1"/>
          </p:cNvPicPr>
          <p:nvPr/>
        </p:nvPicPr>
        <p:blipFill>
          <a:blip r:embed="rId6"/>
          <a:stretch>
            <a:fillRect/>
          </a:stretch>
        </p:blipFill>
        <p:spPr>
          <a:xfrm>
            <a:off x="1473350" y="1052283"/>
            <a:ext cx="4963218" cy="1971950"/>
          </a:xfrm>
          <a:prstGeom prst="rect">
            <a:avLst/>
          </a:prstGeom>
        </p:spPr>
      </p:pic>
      <p:pic>
        <p:nvPicPr>
          <p:cNvPr id="20" name="Picture 19">
            <a:extLst>
              <a:ext uri="{FF2B5EF4-FFF2-40B4-BE49-F238E27FC236}">
                <a16:creationId xmlns:a16="http://schemas.microsoft.com/office/drawing/2014/main" id="{6966CC1D-BED0-47ED-6EB7-57FDE9701F07}"/>
              </a:ext>
            </a:extLst>
          </p:cNvPr>
          <p:cNvPicPr>
            <a:picLocks noChangeAspect="1"/>
          </p:cNvPicPr>
          <p:nvPr/>
        </p:nvPicPr>
        <p:blipFill>
          <a:blip r:embed="rId7"/>
          <a:stretch>
            <a:fillRect/>
          </a:stretch>
        </p:blipFill>
        <p:spPr>
          <a:xfrm>
            <a:off x="355221" y="953508"/>
            <a:ext cx="6868484" cy="2141094"/>
          </a:xfrm>
          <a:prstGeom prst="rect">
            <a:avLst/>
          </a:prstGeom>
        </p:spPr>
      </p:pic>
      <p:pic>
        <p:nvPicPr>
          <p:cNvPr id="18" name="Picture 17">
            <a:extLst>
              <a:ext uri="{FF2B5EF4-FFF2-40B4-BE49-F238E27FC236}">
                <a16:creationId xmlns:a16="http://schemas.microsoft.com/office/drawing/2014/main" id="{C1A0C1D4-D07E-58D8-971A-0F23F4042319}"/>
              </a:ext>
            </a:extLst>
          </p:cNvPr>
          <p:cNvPicPr>
            <a:picLocks noChangeAspect="1"/>
          </p:cNvPicPr>
          <p:nvPr/>
        </p:nvPicPr>
        <p:blipFill>
          <a:blip r:embed="rId8"/>
          <a:stretch>
            <a:fillRect/>
          </a:stretch>
        </p:blipFill>
        <p:spPr>
          <a:xfrm>
            <a:off x="251794" y="961889"/>
            <a:ext cx="7249537" cy="2686425"/>
          </a:xfrm>
          <a:prstGeom prst="rect">
            <a:avLst/>
          </a:prstGeom>
        </p:spPr>
      </p:pic>
      <p:pic>
        <p:nvPicPr>
          <p:cNvPr id="12" name="Picture 11">
            <a:extLst>
              <a:ext uri="{FF2B5EF4-FFF2-40B4-BE49-F238E27FC236}">
                <a16:creationId xmlns:a16="http://schemas.microsoft.com/office/drawing/2014/main" id="{71A1241A-667B-5308-6976-B0931252E05F}"/>
              </a:ext>
            </a:extLst>
          </p:cNvPr>
          <p:cNvPicPr>
            <a:picLocks noChangeAspect="1"/>
          </p:cNvPicPr>
          <p:nvPr/>
        </p:nvPicPr>
        <p:blipFill>
          <a:blip r:embed="rId9"/>
          <a:stretch>
            <a:fillRect/>
          </a:stretch>
        </p:blipFill>
        <p:spPr>
          <a:xfrm>
            <a:off x="120684" y="921960"/>
            <a:ext cx="7511758" cy="5936040"/>
          </a:xfrm>
          <a:prstGeom prst="rect">
            <a:avLst/>
          </a:prstGeom>
        </p:spPr>
      </p:pic>
      <p:pic>
        <p:nvPicPr>
          <p:cNvPr id="15" name="Picture 14">
            <a:extLst>
              <a:ext uri="{FF2B5EF4-FFF2-40B4-BE49-F238E27FC236}">
                <a16:creationId xmlns:a16="http://schemas.microsoft.com/office/drawing/2014/main" id="{E2EFD499-CDAF-28E6-B97C-93A8CF16BAEB}"/>
              </a:ext>
            </a:extLst>
          </p:cNvPr>
          <p:cNvPicPr>
            <a:picLocks noChangeAspect="1"/>
          </p:cNvPicPr>
          <p:nvPr/>
        </p:nvPicPr>
        <p:blipFill>
          <a:blip r:embed="rId10"/>
          <a:stretch>
            <a:fillRect/>
          </a:stretch>
        </p:blipFill>
        <p:spPr>
          <a:xfrm>
            <a:off x="76428" y="921959"/>
            <a:ext cx="7635117" cy="5936041"/>
          </a:xfrm>
          <a:prstGeom prst="rect">
            <a:avLst/>
          </a:prstGeom>
        </p:spPr>
      </p:pic>
    </p:spTree>
    <p:extLst>
      <p:ext uri="{BB962C8B-B14F-4D97-AF65-F5344CB8AC3E}">
        <p14:creationId xmlns:p14="http://schemas.microsoft.com/office/powerpoint/2010/main" val="93683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2714</TotalTime>
  <Words>2032</Words>
  <Application>Microsoft Office PowerPoint</Application>
  <PresentationFormat>Widescreen</PresentationFormat>
  <Paragraphs>381</Paragraphs>
  <Slides>44</Slides>
  <Notes>42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3" baseType="lpstr">
      <vt:lpstr>Arial</vt:lpstr>
      <vt:lpstr>Calibri</vt:lpstr>
      <vt:lpstr>Calibri Light</vt:lpstr>
      <vt:lpstr>Cambria Math</vt:lpstr>
      <vt:lpstr>Dreaming Outloud Script Pro</vt:lpstr>
      <vt:lpstr>Verdana</vt:lpstr>
      <vt:lpstr>Wingdings</vt:lpstr>
      <vt:lpstr>Office Theme</vt:lpstr>
      <vt:lpstr>Presentation</vt:lpstr>
      <vt:lpstr>LDO Regulator</vt:lpstr>
      <vt:lpstr>Abstract and Introduction</vt:lpstr>
      <vt:lpstr>LDO Operating Principle</vt:lpstr>
      <vt:lpstr>Engineering Motivation</vt:lpstr>
      <vt:lpstr>Engineering Motivation</vt:lpstr>
      <vt:lpstr> Target Specifications</vt:lpstr>
      <vt:lpstr>Design Approach – Meeting the Spec</vt:lpstr>
      <vt:lpstr>PowerPoint Presentation</vt:lpstr>
      <vt:lpstr>Full Project Requirements</vt:lpstr>
      <vt:lpstr>PowerPoint Presentation</vt:lpstr>
      <vt:lpstr>BGR – Operating Principle</vt:lpstr>
      <vt:lpstr>BGR – Operating Principle</vt:lpstr>
      <vt:lpstr>BGR Operating Principle</vt:lpstr>
      <vt:lpstr>The Role of the OTA in Our Design</vt:lpstr>
      <vt:lpstr>Two-Stage Miller OTA</vt:lpstr>
      <vt:lpstr>From Schematic to Layout</vt:lpstr>
      <vt:lpstr>Layout – It’s All About Matching </vt:lpstr>
      <vt:lpstr>For Example 1 </vt:lpstr>
      <vt:lpstr>For Example 2 </vt:lpstr>
      <vt:lpstr>Final OTA Layout</vt:lpstr>
      <vt:lpstr> A Bit About IR Drop</vt:lpstr>
      <vt:lpstr>Final Layout </vt:lpstr>
      <vt:lpstr>OTA - Schematic</vt:lpstr>
      <vt:lpstr>OTA – Frequency Response (Post Layout)</vt:lpstr>
      <vt:lpstr>PowerPoint Presentation</vt:lpstr>
      <vt:lpstr>PowerPoint Presentation</vt:lpstr>
      <vt:lpstr>BGR - Schematic</vt:lpstr>
      <vt:lpstr>BGR – Temperature Stability</vt:lpstr>
      <vt:lpstr>BGR – Line Regulation</vt:lpstr>
      <vt:lpstr>LDO - Schematic</vt:lpstr>
      <vt:lpstr>LDO – Temperature Stability</vt:lpstr>
      <vt:lpstr>LDO – Line Regulation</vt:lpstr>
      <vt:lpstr>LDO – Load Regulation</vt:lpstr>
      <vt:lpstr>LDO – Line Regulation across Corners</vt:lpstr>
      <vt:lpstr>LDO – Load Regulation across Corners</vt:lpstr>
      <vt:lpstr>LDO – Line Transient to 10ps Disturbance</vt:lpstr>
      <vt:lpstr>LDO – Load Transient to 10ps Disturbance</vt:lpstr>
      <vt:lpstr>LDO – Power Supply Rejection Ratio</vt:lpstr>
      <vt:lpstr>Full Post-Layout Results</vt:lpstr>
      <vt:lpstr>LDO – Disabled Mode</vt:lpstr>
      <vt:lpstr>LDO – Bypass Mode</vt:lpstr>
      <vt:lpstr>Conclusions</vt:lpstr>
      <vt:lpstr>Further Work</vt:lpstr>
      <vt:lpstr>Project Documentation</vt:lpstr>
    </vt:vector>
  </TitlesOfParts>
  <Company>TAU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Jacob Fainguelernt</dc:creator>
  <cp:lastModifiedBy>Arsen Arutyunov</cp:lastModifiedBy>
  <cp:revision>295</cp:revision>
  <dcterms:created xsi:type="dcterms:W3CDTF">2021-12-15T06:30:50Z</dcterms:created>
  <dcterms:modified xsi:type="dcterms:W3CDTF">2025-07-28T17:26:21Z</dcterms:modified>
</cp:coreProperties>
</file>